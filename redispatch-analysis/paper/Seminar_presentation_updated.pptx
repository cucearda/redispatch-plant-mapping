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comments/modernComment_107_0.xml" ContentType="application/vnd.ms-powerpoint.comments+xml"/>
  <Override PartName="/ppt/comments/modernComment_7FFFD71A_84A42A5F.xml" ContentType="application/vnd.ms-powerpoint.comments+xml"/>
  <Override PartName="/ppt/comments/modernComment_7FFFD71B_F6BC4B79.xml" ContentType="application/vnd.ms-powerpoint.comments+xml"/>
  <Override PartName="/ppt/comments/modernComment_7FFFD71C_0.xml" ContentType="application/vnd.ms-powerpoint.comments+xml"/>
  <Override PartName="/ppt/embeddings/oleObject1.bin" ContentType="application/vnd.openxmlformats-officedocument.oleObject"/>
  <Override PartName="/ppt/embeddings/oleObject2.bin" ContentType="application/vnd.openxmlformats-officedocument.oleObject"/>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147473177" r:id="rId2"/>
    <p:sldId id="257" r:id="rId3"/>
    <p:sldId id="258" r:id="rId4"/>
    <p:sldId id="2147473182" r:id="rId5"/>
    <p:sldId id="2147473178" r:id="rId6"/>
    <p:sldId id="2147473179" r:id="rId7"/>
    <p:sldId id="2147473180" r:id="rId8"/>
    <p:sldId id="2147473183" r:id="rId9"/>
    <p:sldId id="260" r:id="rId10"/>
    <p:sldId id="262" r:id="rId11"/>
    <p:sldId id="2147473184" r:id="rId12"/>
    <p:sldId id="261" r:id="rId13"/>
    <p:sldId id="263" r:id="rId14"/>
    <p:sldId id="264" r:id="rId15"/>
    <p:sldId id="265" r:id="rId16"/>
    <p:sldId id="2147473181" r:id="rId17"/>
    <p:sldId id="2147473185" r:id="rId18"/>
    <p:sldId id="266" r:id="rId19"/>
    <p:sldId id="267" r:id="rId20"/>
    <p:sldId id="268" r:id="rId21"/>
    <p:sldId id="269" r:id="rId22"/>
    <p:sldId id="270" r:id="rId23"/>
    <p:sldId id="271" r:id="rId24"/>
    <p:sldId id="2147473187" r:id="rId38"/>
    <p:sldId id="2147473186" r:id="rId26"/>
    <p:sldId id="273" r:id="rId27"/>
    <p:sldId id="274" r:id="rId28"/>
    <p:sldId id="275" r:id="rId2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5012D72-7DF8-318D-CD2E-629A052B48BA}" name="Thirza Laws" initials="TL" userId="S::thirza.laws@tum.de::00d4b0dc-f6e4-4b7e-8f4f-9d9682c0d119" providerId="AD"/>
  <p188:author id="{DE1EA8B5-016C-15F4-185D-CC642C1234EF}" name="Julian Wachsmuth" initials="JW" userId="S::julian.wachsmuth@tum.de::f9fb4039-8f69-4bf9-9797-ef439580131f"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F36955-2475-B046-B77B-1683A194320F}" v="95" dt="2026-07-12T19:58:29.515"/>
    <p1510:client id="{7584296E-D9BD-3702-ACD2-5E68BF51DEE7}" v="23" dt="2026-07-13T09:13:46.561"/>
    <p1510:client id="{BAF35EC0-8735-5B05-AB3D-137CB7A0BB46}" v="1" dt="2026-07-13T09:17:12.511"/>
    <p1510:client id="{CE176AD8-A996-4D7C-915C-005A8AFA535B}" v="6" dt="2026-07-13T14:15:26.2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408"/>
    <p:restoredTop sz="94404" autoAdjust="0"/>
  </p:normalViewPr>
  <p:slideViewPr>
    <p:cSldViewPr snapToGrid="0">
      <p:cViewPr varScale="1">
        <p:scale>
          <a:sx n="47" d="100"/>
          <a:sy n="47" d="100"/>
        </p:scale>
        <p:origin x="56" y="68"/>
      </p:cViewPr>
      <p:guideLst/>
    </p:cSldViewPr>
  </p:slideViewPr>
  <p:notesTextViewPr>
    <p:cViewPr>
      <p:scale>
        <a:sx n="70" d="100"/>
        <a:sy n="7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microsoft.com/office/2016/11/relationships/changesInfo" Target="changesInfos/changesInfo1.xml"/><Relationship Id="rId36" Type="http://schemas.microsoft.com/office/2015/10/relationships/revisionInfo" Target="revisionInfo.xml"/><Relationship Id="rId37" Type="http://schemas.microsoft.com/office/2018/10/relationships/authors" Target="authors.xml"/><Relationship Id="rId38"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an Wachsmuth" userId="f9fb4039-8f69-4bf9-9797-ef439580131f" providerId="ADAL" clId="{0BCCFEFE-418C-4FFD-8ADF-6D3A69A6AFE6}"/>
    <pc:docChg chg="custSel addSld modSld sldOrd">
      <pc:chgData name="Julian Wachsmuth" userId="f9fb4039-8f69-4bf9-9797-ef439580131f" providerId="ADAL" clId="{0BCCFEFE-418C-4FFD-8ADF-6D3A69A6AFE6}" dt="2026-07-13T14:15:29.594" v="171" actId="20577"/>
      <pc:docMkLst>
        <pc:docMk/>
      </pc:docMkLst>
      <pc:sldChg chg="modSp mod">
        <pc:chgData name="Julian Wachsmuth" userId="f9fb4039-8f69-4bf9-9797-ef439580131f" providerId="ADAL" clId="{0BCCFEFE-418C-4FFD-8ADF-6D3A69A6AFE6}" dt="2026-07-13T14:09:02.919" v="17" actId="20577"/>
        <pc:sldMkLst>
          <pc:docMk/>
          <pc:sldMk cId="0" sldId="258"/>
        </pc:sldMkLst>
        <pc:spChg chg="mod">
          <ac:chgData name="Julian Wachsmuth" userId="f9fb4039-8f69-4bf9-9797-ef439580131f" providerId="ADAL" clId="{0BCCFEFE-418C-4FFD-8ADF-6D3A69A6AFE6}" dt="2026-07-13T14:09:02.919" v="17" actId="20577"/>
          <ac:spMkLst>
            <pc:docMk/>
            <pc:sldMk cId="0" sldId="258"/>
            <ac:spMk id="11" creationId="{00000000-0000-0000-0000-000000000000}"/>
          </ac:spMkLst>
        </pc:spChg>
      </pc:sldChg>
      <pc:sldChg chg="modSp mod">
        <pc:chgData name="Julian Wachsmuth" userId="f9fb4039-8f69-4bf9-9797-ef439580131f" providerId="ADAL" clId="{0BCCFEFE-418C-4FFD-8ADF-6D3A69A6AFE6}" dt="2026-07-13T14:14:57.548" v="146" actId="27636"/>
        <pc:sldMkLst>
          <pc:docMk/>
          <pc:sldMk cId="0" sldId="260"/>
        </pc:sldMkLst>
        <pc:spChg chg="mod">
          <ac:chgData name="Julian Wachsmuth" userId="f9fb4039-8f69-4bf9-9797-ef439580131f" providerId="ADAL" clId="{0BCCFEFE-418C-4FFD-8ADF-6D3A69A6AFE6}" dt="2026-07-13T14:14:57.548" v="146" actId="27636"/>
          <ac:spMkLst>
            <pc:docMk/>
            <pc:sldMk cId="0" sldId="260"/>
            <ac:spMk id="2" creationId="{00000000-0000-0000-0000-000000000000}"/>
          </ac:spMkLst>
        </pc:spChg>
      </pc:sldChg>
      <pc:sldChg chg="modSp mod ord">
        <pc:chgData name="Julian Wachsmuth" userId="f9fb4039-8f69-4bf9-9797-ef439580131f" providerId="ADAL" clId="{0BCCFEFE-418C-4FFD-8ADF-6D3A69A6AFE6}" dt="2026-07-13T14:14:47.863" v="134" actId="20577"/>
        <pc:sldMkLst>
          <pc:docMk/>
          <pc:sldMk cId="0" sldId="262"/>
        </pc:sldMkLst>
        <pc:spChg chg="mod">
          <ac:chgData name="Julian Wachsmuth" userId="f9fb4039-8f69-4bf9-9797-ef439580131f" providerId="ADAL" clId="{0BCCFEFE-418C-4FFD-8ADF-6D3A69A6AFE6}" dt="2026-07-13T14:14:47.863" v="134" actId="20577"/>
          <ac:spMkLst>
            <pc:docMk/>
            <pc:sldMk cId="0" sldId="262"/>
            <ac:spMk id="2" creationId="{00000000-0000-0000-0000-000000000000}"/>
          </ac:spMkLst>
        </pc:spChg>
      </pc:sldChg>
      <pc:sldChg chg="addSp modSp mod">
        <pc:chgData name="Julian Wachsmuth" userId="f9fb4039-8f69-4bf9-9797-ef439580131f" providerId="ADAL" clId="{0BCCFEFE-418C-4FFD-8ADF-6D3A69A6AFE6}" dt="2026-07-13T14:15:29.594" v="171" actId="20577"/>
        <pc:sldMkLst>
          <pc:docMk/>
          <pc:sldMk cId="3565082820" sldId="2147473181"/>
        </pc:sldMkLst>
        <pc:spChg chg="add mod">
          <ac:chgData name="Julian Wachsmuth" userId="f9fb4039-8f69-4bf9-9797-ef439580131f" providerId="ADAL" clId="{0BCCFEFE-418C-4FFD-8ADF-6D3A69A6AFE6}" dt="2026-07-13T14:15:29.594" v="171" actId="20577"/>
          <ac:spMkLst>
            <pc:docMk/>
            <pc:sldMk cId="3565082820" sldId="2147473181"/>
            <ac:spMk id="29" creationId="{CFBC4B66-2E35-A6D6-3CA0-99D28B7A9021}"/>
          </ac:spMkLst>
        </pc:spChg>
      </pc:sldChg>
      <pc:sldChg chg="delSp modSp add mod">
        <pc:chgData name="Julian Wachsmuth" userId="f9fb4039-8f69-4bf9-9797-ef439580131f" providerId="ADAL" clId="{0BCCFEFE-418C-4FFD-8ADF-6D3A69A6AFE6}" dt="2026-07-13T14:09:33.979" v="58" actId="20577"/>
        <pc:sldMkLst>
          <pc:docMk/>
          <pc:sldMk cId="612717587" sldId="2147473182"/>
        </pc:sldMkLst>
        <pc:spChg chg="mod">
          <ac:chgData name="Julian Wachsmuth" userId="f9fb4039-8f69-4bf9-9797-ef439580131f" providerId="ADAL" clId="{0BCCFEFE-418C-4FFD-8ADF-6D3A69A6AFE6}" dt="2026-07-13T14:09:33.979" v="58" actId="20577"/>
          <ac:spMkLst>
            <pc:docMk/>
            <pc:sldMk cId="612717587" sldId="2147473182"/>
            <ac:spMk id="2" creationId="{AAC0679E-FDA2-E02E-CAE7-C839CCD3C941}"/>
          </ac:spMkLst>
        </pc:spChg>
        <pc:spChg chg="del">
          <ac:chgData name="Julian Wachsmuth" userId="f9fb4039-8f69-4bf9-9797-ef439580131f" providerId="ADAL" clId="{0BCCFEFE-418C-4FFD-8ADF-6D3A69A6AFE6}" dt="2026-07-13T14:09:26.071" v="19" actId="478"/>
          <ac:spMkLst>
            <pc:docMk/>
            <pc:sldMk cId="612717587" sldId="2147473182"/>
            <ac:spMk id="4" creationId="{06F2AA85-77B2-4F1A-79F5-5B2CD75710D8}"/>
          </ac:spMkLst>
        </pc:spChg>
      </pc:sldChg>
      <pc:sldChg chg="modSp add mod ord">
        <pc:chgData name="Julian Wachsmuth" userId="f9fb4039-8f69-4bf9-9797-ef439580131f" providerId="ADAL" clId="{0BCCFEFE-418C-4FFD-8ADF-6D3A69A6AFE6}" dt="2026-07-13T14:09:56.722" v="79" actId="20577"/>
        <pc:sldMkLst>
          <pc:docMk/>
          <pc:sldMk cId="3573191332" sldId="2147473183"/>
        </pc:sldMkLst>
        <pc:spChg chg="mod">
          <ac:chgData name="Julian Wachsmuth" userId="f9fb4039-8f69-4bf9-9797-ef439580131f" providerId="ADAL" clId="{0BCCFEFE-418C-4FFD-8ADF-6D3A69A6AFE6}" dt="2026-07-13T14:09:56.722" v="79" actId="20577"/>
          <ac:spMkLst>
            <pc:docMk/>
            <pc:sldMk cId="3573191332" sldId="2147473183"/>
            <ac:spMk id="2" creationId="{B8BD15F8-E5DF-2B52-1DE9-D0D02C460A65}"/>
          </ac:spMkLst>
        </pc:spChg>
      </pc:sldChg>
      <pc:sldChg chg="modSp add mod">
        <pc:chgData name="Julian Wachsmuth" userId="f9fb4039-8f69-4bf9-9797-ef439580131f" providerId="ADAL" clId="{0BCCFEFE-418C-4FFD-8ADF-6D3A69A6AFE6}" dt="2026-07-13T14:10:42.268" v="93" actId="20577"/>
        <pc:sldMkLst>
          <pc:docMk/>
          <pc:sldMk cId="1744759787" sldId="2147473184"/>
        </pc:sldMkLst>
        <pc:spChg chg="mod">
          <ac:chgData name="Julian Wachsmuth" userId="f9fb4039-8f69-4bf9-9797-ef439580131f" providerId="ADAL" clId="{0BCCFEFE-418C-4FFD-8ADF-6D3A69A6AFE6}" dt="2026-07-13T14:10:42.268" v="93" actId="20577"/>
          <ac:spMkLst>
            <pc:docMk/>
            <pc:sldMk cId="1744759787" sldId="2147473184"/>
            <ac:spMk id="2" creationId="{F27DBA46-41E1-12D7-5DFF-DB74213EF3CC}"/>
          </ac:spMkLst>
        </pc:spChg>
      </pc:sldChg>
      <pc:sldChg chg="modSp add mod">
        <pc:chgData name="Julian Wachsmuth" userId="f9fb4039-8f69-4bf9-9797-ef439580131f" providerId="ADAL" clId="{0BCCFEFE-418C-4FFD-8ADF-6D3A69A6AFE6}" dt="2026-07-13T14:10:59.545" v="103" actId="20577"/>
        <pc:sldMkLst>
          <pc:docMk/>
          <pc:sldMk cId="1387392277" sldId="2147473185"/>
        </pc:sldMkLst>
        <pc:spChg chg="mod">
          <ac:chgData name="Julian Wachsmuth" userId="f9fb4039-8f69-4bf9-9797-ef439580131f" providerId="ADAL" clId="{0BCCFEFE-418C-4FFD-8ADF-6D3A69A6AFE6}" dt="2026-07-13T14:10:59.545" v="103" actId="20577"/>
          <ac:spMkLst>
            <pc:docMk/>
            <pc:sldMk cId="1387392277" sldId="2147473185"/>
            <ac:spMk id="2" creationId="{6D48CE73-B274-A163-750C-E21ED661AA27}"/>
          </ac:spMkLst>
        </pc:spChg>
      </pc:sldChg>
      <pc:sldChg chg="modSp add mod">
        <pc:chgData name="Julian Wachsmuth" userId="f9fb4039-8f69-4bf9-9797-ef439580131f" providerId="ADAL" clId="{0BCCFEFE-418C-4FFD-8ADF-6D3A69A6AFE6}" dt="2026-07-13T14:11:15.086" v="116" actId="20577"/>
        <pc:sldMkLst>
          <pc:docMk/>
          <pc:sldMk cId="984419497" sldId="2147473186"/>
        </pc:sldMkLst>
        <pc:spChg chg="mod">
          <ac:chgData name="Julian Wachsmuth" userId="f9fb4039-8f69-4bf9-9797-ef439580131f" providerId="ADAL" clId="{0BCCFEFE-418C-4FFD-8ADF-6D3A69A6AFE6}" dt="2026-07-13T14:11:15.086" v="116" actId="20577"/>
          <ac:spMkLst>
            <pc:docMk/>
            <pc:sldMk cId="984419497" sldId="2147473186"/>
            <ac:spMk id="2" creationId="{2E05A3A1-174E-0969-CD10-A7FDBCD551F1}"/>
          </ac:spMkLst>
        </pc:spChg>
      </pc:sldChg>
    </pc:docChg>
  </pc:docChgLst>
</pc:chgInfo>
</file>

<file path=ppt/comments/modernComment_7FFFD71A_84A42A5F.xml><?xml version="1.0" encoding="utf-8"?>
<p188:cmLst xmlns:a="http://schemas.openxmlformats.org/drawingml/2006/main" xmlns:r="http://schemas.openxmlformats.org/officeDocument/2006/relationships" xmlns:p188="http://schemas.microsoft.com/office/powerpoint/2018/8/main">
  <p188:cm id="{595DCFB1-F566-4576-816B-834D3D303280}" authorId="{DE1EA8B5-016C-15F4-185D-CC642C1234EF}" created="2026-07-13T09:17:12.511">
    <pc:sldMkLst xmlns:pc="http://schemas.microsoft.com/office/powerpoint/2013/main/command">
      <pc:docMk/>
      <pc:sldMk cId="2225351263" sldId="2147473178"/>
    </pc:sldMkLst>
    <p188:txBody>
      <a:bodyPr/>
      <a:lstStyle/>
      <a:p>
        <a:r>
          <a:rPr lang="en-US"/>
          <a:t>idk if we even need this one still</a:t>
        </a:r>
      </a:p>
    </p188:txBody>
  </p188:cm>
</p188:cmLst>
</file>

<file path=ppt/comments/modernComment_7FFFD71B_F6BC4B79.xml><?xml version="1.0" encoding="utf-8"?>
<p188:cmLst xmlns:a="http://schemas.openxmlformats.org/drawingml/2006/main" xmlns:r="http://schemas.openxmlformats.org/officeDocument/2006/relationships" xmlns:p188="http://schemas.microsoft.com/office/powerpoint/2018/8/main">
  <p188:cm id="{36FBB470-3444-8E46-93FB-1DDD26FAB005}" authorId="{B5012D72-7DF8-318D-CD2E-629A052B48BA}" created="2026-07-11T21:04:38.705">
    <ac:txMkLst xmlns:ac="http://schemas.microsoft.com/office/drawing/2013/main/command">
      <pc:docMk xmlns:pc="http://schemas.microsoft.com/office/powerpoint/2013/main/command"/>
      <pc:sldMk xmlns:pc="http://schemas.microsoft.com/office/powerpoint/2013/main/command" cId="4139535225" sldId="2147473179"/>
      <ac:spMk id="8" creationId="{00000000-0000-0000-0000-000000000000}"/>
      <ac:txMk cp="0" len="34">
        <ac:context len="35" hash="1490882244"/>
      </ac:txMk>
    </ac:txMkLst>
    <p188:pos x="8364681" y="1004454"/>
    <p188:replyLst>
      <p188:reply id="{9B88AE1D-FF7A-47AB-8464-8881C08AC7D4}" authorId="{DE1EA8B5-016C-15F4-185D-CC642C1234EF}" created="2026-07-13T09:05:48.888">
        <p188:txBody>
          <a:bodyPr/>
          <a:lstStyle/>
          <a:p>
            <a:r>
              <a:rPr lang="en-US"/>
              <a:t>find ich super</a:t>
            </a:r>
          </a:p>
        </p188:txBody>
      </p188:reply>
    </p188:replyLst>
    <p188:txBody>
      <a:bodyPr/>
      <a:lstStyle/>
      <a:p>
        <a:r>
          <a:rPr lang="en-GB"/>
          <a:t>noch mal mehr hervorheben, warum standort bewertung aktueller speicher so relevant ist </a:t>
        </a:r>
      </a:p>
    </p188:txBody>
  </p188:cm>
</p188:cmLst>
</file>

<file path=ppt/comments/modernComment_7FFFD71C_0.xml><?xml version="1.0" encoding="utf-8"?>
<p188:cmLst xmlns:a="http://schemas.openxmlformats.org/drawingml/2006/main" xmlns:r="http://schemas.openxmlformats.org/officeDocument/2006/relationships" xmlns:p188="http://schemas.microsoft.com/office/powerpoint/2018/8/main">
  <p188:cm id="{F2FCADB7-1AED-C042-B581-8228BC10E015}" authorId="{B5012D72-7DF8-318D-CD2E-629A052B48BA}" created="2026-07-11T21:01:56.226">
    <ac:txMkLst xmlns:ac="http://schemas.microsoft.com/office/drawing/2013/main/command">
      <pc:docMk xmlns:pc="http://schemas.microsoft.com/office/powerpoint/2013/main/command"/>
      <pc:sldMk xmlns:pc="http://schemas.microsoft.com/office/powerpoint/2013/main/command" cId="0" sldId="2147473180"/>
      <ac:spMk id="4" creationId="{00000000-0000-0000-0000-000000000000}"/>
      <ac:txMk cp="54" len="18">
        <ac:context len="73" hash="39856204"/>
      </ac:txMk>
    </ac:txMkLst>
    <p188:pos x="15654184" y="1058811"/>
    <p188:txBody>
      <a:bodyPr/>
      <a:lstStyle/>
      <a:p>
        <a:r>
          <a:rPr lang="en-GB"/>
          <a:t>pypsa-eur applied!!</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70BDA60B-BC35-421E-B4D2-789149FB6543}" authorId="{DE1EA8B5-016C-15F4-185D-CC642C1234EF}" created="2026-07-13T09:07:13.250">
    <ac:deMkLst xmlns:ac="http://schemas.microsoft.com/office/drawing/2013/main/command">
      <pc:docMk xmlns:pc="http://schemas.microsoft.com/office/powerpoint/2013/main/command"/>
      <pc:sldMk xmlns:pc="http://schemas.microsoft.com/office/powerpoint/2013/main/command" cId="0" sldId="263"/>
      <ac:spMk id="21" creationId="{00000000-0000-0000-0000-000000000000}"/>
    </ac:deMkLst>
    <p188:txBody>
      <a:bodyPr/>
      <a:lstStyle/>
      <a:p>
        <a:r>
          <a:rPr lang="en-US"/>
          <a:t>i am not sure we actually do that
i ll check</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vl1pPr>
          </a:lstStyle>
          <a:p>
            <a:fld id="{6CB9F97A-585C-4214-9735-5C4E9F058BD7}" type="datetimeFigureOut">
              <a:t>7/13/2026</a:t>
            </a:fld>
            <a:endParaRPr lang="de-DE"/>
          </a:p>
        </p:txBody>
      </p:sp>
      <p:sp>
        <p:nvSpPr>
          <p:cNvPr id="4" name="Folienbildplatzhalter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vl1pPr>
          </a:lstStyle>
          <a:p>
            <a:fld id="{CDE95573-3D10-473D-BFE6-96A937076A2C}" type="slidenum">
              <a:t>‹#›</a:t>
            </a:fld>
            <a:endParaRPr lang="de-DE"/>
          </a:p>
        </p:txBody>
      </p:sp>
    </p:spTree>
    <p:extLst>
      <p:ext uri="{BB962C8B-B14F-4D97-AF65-F5344CB8AC3E}">
        <p14:creationId xmlns:p14="http://schemas.microsoft.com/office/powerpoint/2010/main" val="2982057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a:t>
            </a:fld>
            <a:endParaRPr lang="en-GB"/>
          </a:p>
        </p:txBody>
      </p:sp>
    </p:spTree>
    <p:extLst>
      <p:ext uri="{BB962C8B-B14F-4D97-AF65-F5344CB8AC3E}">
        <p14:creationId xmlns:p14="http://schemas.microsoft.com/office/powerpoint/2010/main" val="2375464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research questions, unchanged since the midterm. What changed is HOW we answer Q2: we moved from the network-KDE siting score to an arbitrage scoring against a redispatch-based local price proxy.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20 minutes: short recap of the problem, then data and the matching pipeline, the scoring methodology in detail, results, and discussion. Focus today is on methodology and results.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EA13C-9BED-ADB5-766B-EEFE2F68E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78466-4C83-193F-890F-7FAE666DB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3FF0E-14AE-3D1E-AEF3-89703696CC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C6B74C-4B98-00B7-9E6F-5B94E3616DB0}"/>
              </a:ext>
            </a:extLst>
          </p:cNvPr>
          <p:cNvSpPr>
            <a:spLocks noGrp="1"/>
          </p:cNvSpPr>
          <p:nvPr>
            <p:ph type="sldNum" sz="quarter" idx="5"/>
          </p:nvPr>
        </p:nvSpPr>
        <p:spPr/>
        <p:txBody>
          <a:bodyPr/>
          <a:lstStyle/>
          <a:p>
            <a:pPr>
              <a:defRPr/>
            </a:pPr>
            <a:fld id="{00AFC6D0-44D5-4EB7-828F-6F464F83D79A}" type="slidenum">
              <a:rPr lang="en-GB" smtClean="0"/>
              <a:pPr>
                <a:defRPr/>
              </a:pPr>
              <a:t>4</a:t>
            </a:fld>
            <a:endParaRPr lang="en-GB"/>
          </a:p>
        </p:txBody>
      </p:sp>
    </p:spTree>
    <p:extLst>
      <p:ext uri="{BB962C8B-B14F-4D97-AF65-F5344CB8AC3E}">
        <p14:creationId xmlns:p14="http://schemas.microsoft.com/office/powerpoint/2010/main" val="1958585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Germany's wind sits in the north, its demand in the south, but power is traded at one national price, as if the grid in between were infinite. When the north-south lines hit their limit, the TSO overrides the market: wind is curtailed in the north, gas ramped up in the south, and both sides are compensated. That is redispatch. It cost about 2.8 billion euros in 2024, roughly fifteen times more than a decade ago. Households pay for it through grid fees while industry is largely exempt, and TSOs expect 16.3 billion more through 2028.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https://</a:t>
            </a:r>
            <a:r>
              <a:rPr lang="en-US" dirty="0" err="1"/>
              <a:t>www.tennet.eu</a:t>
            </a:r>
            <a:r>
              <a:rPr lang="en-US" dirty="0"/>
              <a:t>/de/news/uebertragungsnetzbetreiber-fuehren-reifegradverfahren-fuer-netzanschlussantraege-von-speichern-und-grossverbrauchern-ein</a:t>
            </a:r>
          </a:p>
          <a:p>
            <a:endParaRPr lang="en-US" dirty="0"/>
          </a:p>
          <a:p>
            <a:endParaRPr lang="en-US" dirty="0"/>
          </a:p>
          <a:p>
            <a:r>
              <a:rPr lang="en-US" dirty="0"/>
              <a:t>Other criteria are progress of approval, company KPIs: https://</a:t>
            </a:r>
            <a:r>
              <a:rPr lang="en-US" dirty="0" err="1"/>
              <a:t>www.netztransparenz.de</a:t>
            </a:r>
            <a:r>
              <a:rPr lang="en-US" dirty="0"/>
              <a:t>/Portals/1/</a:t>
            </a:r>
            <a:r>
              <a:rPr lang="en-US" dirty="0" err="1"/>
              <a:t>Dokumente</a:t>
            </a:r>
            <a:r>
              <a:rPr lang="en-US" dirty="0"/>
              <a:t>/Presse/2026/2026-02-05_Vier_Uebertragungsnetzbetreiber_Reifegradverfahren_Dokumentation_V100.pdf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building blocks. The redispatch data is the core: 120k events, 148 TWh, 2013-2025, all four TSOs. We keep load-induced events only and drop countertrading/exchange because they identify no location. Battery fleet from </a:t>
            </a:r>
            <a:r>
              <a:rPr lang="en-US" dirty="0" err="1"/>
              <a:t>MaStR</a:t>
            </a:r>
            <a:r>
              <a:rPr lang="en-US" dirty="0"/>
              <a:t> — rated power only, capacity is not public. Prices from SMARD, grid from the </a:t>
            </a:r>
            <a:r>
              <a:rPr lang="en-US" dirty="0" err="1"/>
              <a:t>PyPSA</a:t>
            </a:r>
            <a:r>
              <a:rPr lang="en-US" dirty="0"/>
              <a:t> open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CA016-EE08-4008-03F7-B865323D4C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E5FD3D-3F2B-088F-B156-12CE6263E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8EF15-0966-3F2E-8EA4-E63C1FB6CA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726AE6-92D2-2EB6-77F6-69647FEB5129}"/>
              </a:ext>
            </a:extLst>
          </p:cNvPr>
          <p:cNvSpPr>
            <a:spLocks noGrp="1"/>
          </p:cNvSpPr>
          <p:nvPr>
            <p:ph type="sldNum" sz="quarter" idx="5"/>
          </p:nvPr>
        </p:nvSpPr>
        <p:spPr/>
        <p:txBody>
          <a:bodyPr/>
          <a:lstStyle/>
          <a:p>
            <a:pPr>
              <a:defRPr/>
            </a:pPr>
            <a:fld id="{00AFC6D0-44D5-4EB7-828F-6F464F83D79A}" type="slidenum">
              <a:rPr lang="en-GB" smtClean="0"/>
              <a:pPr>
                <a:defRPr/>
              </a:pPr>
              <a:t>8</a:t>
            </a:fld>
            <a:endParaRPr lang="en-GB"/>
          </a:p>
        </p:txBody>
      </p:sp>
    </p:spTree>
    <p:extLst>
      <p:ext uri="{BB962C8B-B14F-4D97-AF65-F5344CB8AC3E}">
        <p14:creationId xmlns:p14="http://schemas.microsoft.com/office/powerpoint/2010/main" val="4153024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building blocks. The redispatch data is the core: 120k events, 148 TWh, 2013-2025, all four TSOs. We keep load-induced events only and drop countertrading/exchange because they identify no location. Battery fleet from MaStR — rated power only, capacity is not public. Prices from SMARD, grid from the PyPSA open model.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idea: redispatch direction reveals the sign of the latent nodal-zonal price wedge. Downward redispatch = trapped surplus = local price below zonal. Upward = scarcity = above. We bend the zonal price accordingly at every battery location, in 15-minute steps.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2059A-16A3-4A5B-FDCC-71C30B9B7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CD9A11-A7E0-AFB6-B02E-AC4C1CC3B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6443C6-15B7-C03A-2F78-5993FFEA71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8BCCA9-1740-5F1E-17E7-D060DB04C54D}"/>
              </a:ext>
            </a:extLst>
          </p:cNvPr>
          <p:cNvSpPr>
            <a:spLocks noGrp="1"/>
          </p:cNvSpPr>
          <p:nvPr>
            <p:ph type="sldNum" sz="quarter" idx="5"/>
          </p:nvPr>
        </p:nvSpPr>
        <p:spPr/>
        <p:txBody>
          <a:bodyPr/>
          <a:lstStyle/>
          <a:p>
            <a:pPr>
              <a:defRPr/>
            </a:pPr>
            <a:fld id="{00AFC6D0-44D5-4EB7-828F-6F464F83D79A}" type="slidenum">
              <a:rPr lang="en-GB" smtClean="0"/>
              <a:pPr>
                <a:defRPr/>
              </a:pPr>
              <a:t>11</a:t>
            </a:fld>
            <a:endParaRPr lang="en-GB"/>
          </a:p>
        </p:txBody>
      </p:sp>
    </p:spTree>
    <p:extLst>
      <p:ext uri="{BB962C8B-B14F-4D97-AF65-F5344CB8AC3E}">
        <p14:creationId xmlns:p14="http://schemas.microsoft.com/office/powerpoint/2010/main" val="2238230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Redispatch records name plants in free text. The resolve() pipeline walks through seven stages; a registry hit above 0.85 short-circuits. Everything below 0.5 confidence is discarded to avoid mismatches — a wrong location is worse than a blank.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effective price is the zonal base price plus an additive wedge: kernel-weighted, sign- and volume-weighted sum of active redispatch events. Additive so the shift is symmetric across the day. Clipped at ±500. Alpha is calibrated so the mean absolute wedge equals 100 EUR/MWh — anchored to what congestion actually costs the system.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upgrade since the midterm: distance is electrical. We build a DC power-flow model in </a:t>
            </a:r>
            <a:r>
              <a:rPr lang="en-US" dirty="0" err="1"/>
              <a:t>PyPSA</a:t>
            </a:r>
            <a:r>
              <a:rPr lang="en-US" dirty="0"/>
              <a:t>, compute the PTDF matrix, and define distance as the L2 norm between PTDF columns. Two buses with identical columns are perfect substitutes. Gaussian decay, dimensionless bandwidth 0.5. The old graph-distance kernel stays as a robustness check.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Simple daily heuristic: charge the 16 cheapest quarter-hours, discharge the 16 most expensive — one lossless 4-hour cycle. Every site is scored with the same reference battery, 50 MW / 200 MWh, so nameplate doesn't enter. Delta V against the copperplate baseline isolates pure locational value; the fleet is ranked by Delta V per year.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8692D-CE6C-7779-BCCC-01B50FDCB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BBF524-D6E2-C2FD-CE9D-7A50B9B53D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8C82F5-4637-97FF-BE44-F9DCF9D8A2EB}"/>
              </a:ext>
            </a:extLst>
          </p:cNvPr>
          <p:cNvSpPr>
            <a:spLocks noGrp="1"/>
          </p:cNvSpPr>
          <p:nvPr>
            <p:ph type="body" idx="1"/>
          </p:nvPr>
        </p:nvSpPr>
        <p:spPr/>
        <p:txBody>
          <a:bodyPr/>
          <a:lstStyle/>
          <a:p>
            <a:r>
              <a:rPr lang="en-US"/>
              <a:t>Simple daily heuristic: charge the 16 cheapest quarter-hours, discharge the 16 most expensive — one lossless 4-hour cycle. Every site is scored with the same reference battery, 50 MW / 200 MWh, so nameplate doesn't enter. Delta V against the copperplate baseline isolates pure locational value; the fleet is ranked by Delta V per year.</a:t>
            </a:r>
          </a:p>
        </p:txBody>
      </p:sp>
      <p:sp>
        <p:nvSpPr>
          <p:cNvPr id="4" name="Slide Number Placeholder 3">
            <a:extLst>
              <a:ext uri="{FF2B5EF4-FFF2-40B4-BE49-F238E27FC236}">
                <a16:creationId xmlns:a16="http://schemas.microsoft.com/office/drawing/2014/main" id="{CD5BB92F-98AF-665A-0A24-5C7E1C0DB16D}"/>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514353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8E746-222A-FAF4-6BBC-3A6CDF12A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A6E56-89D5-7BE0-CDE7-5E751D9398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55A4C-4AB1-0A12-CDAA-9D084A4718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78DCAE-30A0-1A5C-4893-1AD177DE0FDD}"/>
              </a:ext>
            </a:extLst>
          </p:cNvPr>
          <p:cNvSpPr>
            <a:spLocks noGrp="1"/>
          </p:cNvSpPr>
          <p:nvPr>
            <p:ph type="sldNum" sz="quarter" idx="5"/>
          </p:nvPr>
        </p:nvSpPr>
        <p:spPr/>
        <p:txBody>
          <a:bodyPr/>
          <a:lstStyle/>
          <a:p>
            <a:pPr>
              <a:defRPr/>
            </a:pPr>
            <a:fld id="{00AFC6D0-44D5-4EB7-828F-6F464F83D79A}" type="slidenum">
              <a:rPr lang="en-GB" smtClean="0"/>
              <a:pPr>
                <a:defRPr/>
              </a:pPr>
              <a:t>17</a:t>
            </a:fld>
            <a:endParaRPr lang="en-GB"/>
          </a:p>
        </p:txBody>
      </p:sp>
    </p:spTree>
    <p:extLst>
      <p:ext uri="{BB962C8B-B14F-4D97-AF65-F5344CB8AC3E}">
        <p14:creationId xmlns:p14="http://schemas.microsoft.com/office/powerpoint/2010/main" val="4876511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Matching worked: 56k events in the top bucket, 20k in (0.8, 0.95] — three quarters above 0.8. The bulk comes from high-precision exact registry matches (opsd_exact 50,493), then Wikipedia and psa_exact.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36,801 events excluded. By count, low-confidence dominates; by energy, market-based measures are the biggest chunk — and those are structurally unmatchable, they identify no location by construction. The genuinely addressable gap is the low-confidence category.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Match quality is not uniform. Amprion and TransnetBW are strong on all three dimensions. TenneT looks weak but that's largely the countertrade artefact — real but irreducible. 50Hertz has almost no market volume, so its low plant match rate is a genuine coverage limitation: the north is systematically underrepresented in any plant-level analysis.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Sanity check passed: the geolocated data reproduces the textbook pattern. North dominated by downward redispatch — wind curtailment, about 40,000 GWh down. South is the mirror image, 36,000 GWh up, behind the north-south bottleneck. Gives us confidence the dataset is representative.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Energy rose until 2023 then declined; event counts rise steadily. Since Redispatch 2.0 in 2021, events multiply while mean duration and power fall — the split by direction shows it's the negative side: renewables now enter curtailment, many small short events.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Winter dominates in both counts and volume — high wind production in the north. Winter events are also bigger and longer, consistent with wind-driven congestion; PV-driven events are shorter and more distributed.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58FE6-6777-BAB1-B68B-AB00FFD1A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387C8-0C00-A0BC-FB0F-30FB8218E1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E3BBC-34BF-F20C-155A-8D5C1D601C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283309A-713D-F049-395D-BE142425C15F}"/>
              </a:ext>
            </a:extLst>
          </p:cNvPr>
          <p:cNvSpPr>
            <a:spLocks noGrp="1"/>
          </p:cNvSpPr>
          <p:nvPr>
            <p:ph type="sldNum" sz="quarter" idx="5"/>
          </p:nvPr>
        </p:nvSpPr>
        <p:spPr/>
        <p:txBody>
          <a:bodyPr/>
          <a:lstStyle/>
          <a:p>
            <a:pPr>
              <a:defRPr/>
            </a:pPr>
            <a:fld id="{00AFC6D0-44D5-4EB7-828F-6F464F83D79A}" type="slidenum">
              <a:rPr lang="en-GB" smtClean="0"/>
              <a:pPr>
                <a:defRPr/>
              </a:pPr>
              <a:t>25</a:t>
            </a:fld>
            <a:endParaRPr lang="en-GB"/>
          </a:p>
        </p:txBody>
      </p:sp>
    </p:spTree>
    <p:extLst>
      <p:ext uri="{BB962C8B-B14F-4D97-AF65-F5344CB8AC3E}">
        <p14:creationId xmlns:p14="http://schemas.microsoft.com/office/powerpoint/2010/main" val="16145774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Five limitations bound the ranking: signal anchored to the actuator plant, not the constraint; TSO-level only; 30% of volume unobserved and plausibly clustered — the north is underrepresented; co-located batteries under-ranked; and the scores reflect today's congestion on a grid that's being expanded. Read as a relative transmission-level ranking, not a node-level verdict.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Matching: solid, and to our knowledge the first geolocated TSO redispatch dataset — useful beyond this paper. Scoring discussion still open. Policy angle: under cost-based redispatch, even perfectly placed batteries have no reason to behave grid-friendly — connects to the BNetzA grid-fee reform debate.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the audience,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638181" y="1944000"/>
            <a:ext cx="17017998" cy="75247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6400"/>
              </a:lnSpc>
              <a:defRPr lang="de-DE" sz="5000" noProof="0" dirty="0">
                <a:solidFill>
                  <a:schemeClr val="tx1"/>
                </a:solidFill>
              </a:defRPr>
            </a:lvl1pPr>
          </a:lstStyle>
          <a:p>
            <a:pPr lvl="0"/>
            <a:r>
              <a:rPr lang="de-DE" noProof="0"/>
              <a:t>Titel der Präsentation durch Klicken bearbeiten</a:t>
            </a:r>
          </a:p>
        </p:txBody>
      </p:sp>
      <p:sp>
        <p:nvSpPr>
          <p:cNvPr id="16" name="Inhaltsplatzhalter 2"/>
          <p:cNvSpPr>
            <a:spLocks noGrp="1"/>
          </p:cNvSpPr>
          <p:nvPr>
            <p:ph idx="10" hasCustomPrompt="1"/>
          </p:nvPr>
        </p:nvSpPr>
        <p:spPr>
          <a:xfrm>
            <a:off x="638177" y="2968080"/>
            <a:ext cx="17017998" cy="191118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2800" baseline="0" noProof="0" dirty="0" smtClean="0">
                <a:solidFill>
                  <a:srgbClr val="000000"/>
                </a:solidFill>
              </a:defRPr>
            </a:lvl1pPr>
            <a:lvl2pPr>
              <a:defRPr lang="de-DE" noProof="0" dirty="0" smtClean="0"/>
            </a:lvl2pPr>
          </a:lstStyle>
          <a:p>
            <a:pPr lvl="0"/>
            <a:r>
              <a:rPr lang="de-DE" noProof="0"/>
              <a:t>Referent</a:t>
            </a:r>
            <a:br>
              <a:rPr lang="de-DE" noProof="0"/>
            </a:br>
            <a:r>
              <a:rPr lang="de-DE" noProof="0"/>
              <a:t>Ort, Datum (Schreibweise: 00. Januar 2015)</a:t>
            </a: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a:p>
        </p:txBody>
      </p:sp>
      <p:sp>
        <p:nvSpPr>
          <p:cNvPr id="2" name="Fußzeilenplatzhalter 3">
            <a:extLst>
              <a:ext uri="{FF2B5EF4-FFF2-40B4-BE49-F238E27FC236}">
                <a16:creationId xmlns:a16="http://schemas.microsoft.com/office/drawing/2014/main" id="{B87070FA-00DE-DF79-B504-E10B03233103}"/>
              </a:ext>
            </a:extLst>
          </p:cNvPr>
          <p:cNvSpPr>
            <a:spLocks noGrp="1"/>
          </p:cNvSpPr>
          <p:nvPr>
            <p:ph type="ftr" sz="quarter" idx="3"/>
          </p:nvPr>
        </p:nvSpPr>
        <p:spPr>
          <a:xfrm>
            <a:off x="622324" y="9709971"/>
            <a:ext cx="15659076" cy="577030"/>
          </a:xfrm>
          <a:prstGeom prst="rect">
            <a:avLst/>
          </a:prstGeom>
        </p:spPr>
        <p:txBody>
          <a:bodyPr vert="horz" lIns="0" tIns="45720" rIns="0" bIns="45720" rtlCol="0" anchor="ctr"/>
          <a:lstStyle>
            <a:lvl1pPr algn="l">
              <a:defRPr sz="1800">
                <a:solidFill>
                  <a:schemeClr val="tx1"/>
                </a:solidFill>
              </a:defRPr>
            </a:lvl1pPr>
          </a:lstStyle>
          <a:p>
            <a:r>
              <a:rPr lang="en-US"/>
              <a:t>Thirza Laws &amp; Julian Wachsmuth| Advanced Seminar Electricity Markets| Prof. dr. </a:t>
            </a:r>
            <a:r>
              <a:rPr lang="en-US" err="1"/>
              <a:t>Schwenen</a:t>
            </a:r>
            <a:endParaRPr lang="en-US" sz="1800"/>
          </a:p>
        </p:txBody>
      </p:sp>
    </p:spTree>
    <p:extLst>
      <p:ext uri="{BB962C8B-B14F-4D97-AF65-F5344CB8AC3E}">
        <p14:creationId xmlns:p14="http://schemas.microsoft.com/office/powerpoint/2010/main" val="2144765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tags" Target="../tags/tag1.xml"/><Relationship Id="rId5" Type="http://schemas.openxmlformats.org/officeDocument/2006/relationships/oleObject" Target="../embeddings/oleObject1.bin"/><Relationship Id="rId6"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BED2D75-3C64-DF27-5A25-48706E2F2A0D}"/>
              </a:ext>
            </a:extLst>
          </p:cNvPr>
          <p:cNvGraphicFramePr>
            <a:graphicFrameLocks noChangeAspect="1"/>
          </p:cNvGraphicFramePr>
          <p:nvPr userDrawn="1">
            <p:custDataLst>
              <p:tags r:id="rId4"/>
            </p:custDataLst>
            <p:extLst>
              <p:ext uri="{D42A27DB-BD31-4B8C-83A1-F6EECF244321}">
                <p14:modId xmlns:p14="http://schemas.microsoft.com/office/powerpoint/2010/main" val="23721157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2" name="think-cell data - do not delete" hidden="1">
                        <a:extLst>
                          <a:ext uri="{FF2B5EF4-FFF2-40B4-BE49-F238E27FC236}">
                            <a16:creationId xmlns:a16="http://schemas.microsoft.com/office/drawing/2014/main" id="{8BED2D75-3C64-DF27-5A25-48706E2F2A0D}"/>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1.xml"/><Relationship Id="rId4" Type="http://schemas.openxmlformats.org/officeDocument/2006/relationships/oleObject" Target="../embeddings/oleObject2.bin"/><Relationship Id="rId5" Type="http://schemas.openxmlformats.org/officeDocument/2006/relationships/image" Target="../media/image2.emf"/><Relationship Id="rId6" Type="http://schemas.openxmlformats.org/officeDocument/2006/relationships/image" Target="../media/image3.png"/><Relationship Id="rId7"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xml"/><Relationship Id="rId3" Type="http://schemas.openxmlformats.org/officeDocument/2006/relationships/notesSlide" Target="../notesSlides/notesSlide4.xml"/><Relationship Id="rId4" Type="http://schemas.openxmlformats.org/officeDocument/2006/relationships/oleObject" Target="../embeddings/oleObject2.bin"/><Relationship Id="rId5" Type="http://schemas.openxmlformats.org/officeDocument/2006/relationships/image" Target="../media/image2.emf"/><Relationship Id="rId6" Type="http://schemas.openxmlformats.org/officeDocument/2006/relationships/image" Target="../media/image3.png"/><Relationship Id="rId7"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microsoft.com/office/2018/10/relationships/comments" Target="../comments/modernComment_7FFFD71A_84A42A5F.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microsoft.com/office/2018/10/relationships/comments" Target="../comments/modernComment_7FFFD71B_F6BC4B7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microsoft.com/office/2018/10/relationships/comments" Target="../comments/modernComment_7FFFD71C_0.xml"/></Relationships>
</file>

<file path=ppt/slides/_rels/slide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xml"/><Relationship Id="rId3" Type="http://schemas.openxmlformats.org/officeDocument/2006/relationships/notesSlide" Target="../notesSlides/notesSlide8.xml"/><Relationship Id="rId4" Type="http://schemas.openxmlformats.org/officeDocument/2006/relationships/oleObject" Target="../embeddings/oleObject2.bin"/><Relationship Id="rId5" Type="http://schemas.openxmlformats.org/officeDocument/2006/relationships/image" Target="../media/image2.emf"/><Relationship Id="rId6" Type="http://schemas.openxmlformats.org/officeDocument/2006/relationships/image" Target="../media/image3.png"/><Relationship Id="rId7"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 Id="rId3" Type="http://schemas.openxmlformats.org/officeDocument/2006/relationships/notesSlide" Target="../notesSlides/notesSlide11.xml"/><Relationship Id="rId4" Type="http://schemas.openxmlformats.org/officeDocument/2006/relationships/oleObject" Target="../embeddings/oleObject2.bin"/><Relationship Id="rId5" Type="http://schemas.openxmlformats.org/officeDocument/2006/relationships/image" Target="../media/image2.emf"/><Relationship Id="rId6" Type="http://schemas.openxmlformats.org/officeDocument/2006/relationships/image" Target="../media/image3.png"/><Relationship Id="rId7"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microsoft.com/office/2018/10/relationships/comments" Target="../comments/modernComment_107_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2.xml"/><Relationship Id="rId3" Type="http://schemas.openxmlformats.org/officeDocument/2006/relationships/notesSlide" Target="../notesSlides/notesSlide17.xml"/><Relationship Id="rId4" Type="http://schemas.openxmlformats.org/officeDocument/2006/relationships/oleObject" Target="../embeddings/oleObject2.bin"/><Relationship Id="rId5" Type="http://schemas.openxmlformats.org/officeDocument/2006/relationships/image" Target="../media/image2.emf"/><Relationship Id="rId6" Type="http://schemas.openxmlformats.org/officeDocument/2006/relationships/image" Target="../media/image3.png"/><Relationship Id="rId7"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2.xml"/><Relationship Id="rId3" Type="http://schemas.openxmlformats.org/officeDocument/2006/relationships/notesSlide" Target="../notesSlides/notesSlide25.xml"/><Relationship Id="rId4" Type="http://schemas.openxmlformats.org/officeDocument/2006/relationships/oleObject" Target="../embeddings/oleObject2.bin"/><Relationship Id="rId5" Type="http://schemas.openxmlformats.org/officeDocument/2006/relationships/image" Target="../media/image2.emf"/><Relationship Id="rId6" Type="http://schemas.openxmlformats.org/officeDocument/2006/relationships/image" Target="../media/image3.png"/><Relationship Id="rId7"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F9EB2-1DCC-16D6-EDC3-2D7E4F7DA4B8}"/>
              </a:ext>
            </a:extLst>
          </p:cNvPr>
          <p:cNvSpPr/>
          <p:nvPr/>
        </p:nvSpPr>
        <p:spPr>
          <a:xfrm>
            <a:off x="-2" y="-2"/>
            <a:ext cx="18288000" cy="10287000"/>
          </a:xfrm>
          <a:prstGeom prst="rect">
            <a:avLst/>
          </a:prstGeom>
          <a:solidFill>
            <a:srgbClr val="005293">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gn="ctr">
              <a:lnSpc>
                <a:spcPct val="114000"/>
              </a:lnSpc>
            </a:pPr>
            <a:endParaRPr lang="en-US"/>
          </a:p>
        </p:txBody>
      </p:sp>
      <p:graphicFrame>
        <p:nvGraphicFramePr>
          <p:cNvPr id="6" name="think-cell data - do not delete" hidden="1">
            <a:extLst>
              <a:ext uri="{FF2B5EF4-FFF2-40B4-BE49-F238E27FC236}">
                <a16:creationId xmlns:a16="http://schemas.microsoft.com/office/drawing/2014/main" id="{DBB95358-40D2-40A7-E419-4E65BD4E62A7}"/>
              </a:ext>
            </a:extLst>
          </p:cNvPr>
          <p:cNvGraphicFramePr>
            <a:graphicFrameLocks/>
          </p:cNvGraphicFramePr>
          <p:nvPr>
            <p:custDataLst>
              <p:tags r:id="rId1"/>
            </p:custDataLst>
            <p:extLst>
              <p:ext uri="{D42A27DB-BD31-4B8C-83A1-F6EECF244321}">
                <p14:modId xmlns:p14="http://schemas.microsoft.com/office/powerpoint/2010/main" val="889773739"/>
              </p:ext>
            </p:ext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404" imgH="403" progId="TCLayout.ActiveDocument.1">
                  <p:embed/>
                </p:oleObj>
              </mc:Choice>
              <mc:Fallback>
                <p:oleObj name="think-cell Slide" r:id="rId4" imgW="404" imgH="403" progId="TCLayout.ActiveDocument.1">
                  <p:embed/>
                  <p:pic>
                    <p:nvPicPr>
                      <p:cNvPr id="6" name="think-cell data - do not delete" hidden="1">
                        <a:extLst>
                          <a:ext uri="{FF2B5EF4-FFF2-40B4-BE49-F238E27FC236}">
                            <a16:creationId xmlns:a16="http://schemas.microsoft.com/office/drawing/2014/main" id="{DBB95358-40D2-40A7-E419-4E65BD4E62A7}"/>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1026" name="Picture 2" descr="Offshore wind energy | RVO.nl">
            <a:extLst>
              <a:ext uri="{FF2B5EF4-FFF2-40B4-BE49-F238E27FC236}">
                <a16:creationId xmlns:a16="http://schemas.microsoft.com/office/drawing/2014/main" id="{31E522A9-C8A0-F74E-F640-A830C975DDE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26325" b="35318"/>
          <a:stretch>
            <a:fillRect/>
          </a:stretch>
        </p:blipFill>
        <p:spPr bwMode="auto">
          <a:xfrm>
            <a:off x="0" y="-1"/>
            <a:ext cx="18288000" cy="10287002"/>
          </a:xfrm>
          <a:prstGeom prst="rect">
            <a:avLst/>
          </a:prstGeom>
          <a:noFill/>
        </p:spPr>
      </p:pic>
      <p:pic>
        <p:nvPicPr>
          <p:cNvPr id="11" name="Picture 10">
            <a:extLst>
              <a:ext uri="{FF2B5EF4-FFF2-40B4-BE49-F238E27FC236}">
                <a16:creationId xmlns:a16="http://schemas.microsoft.com/office/drawing/2014/main" id="{5F8B5C79-5F20-221E-8B21-38F6D46DFB4E}"/>
              </a:ext>
            </a:extLst>
          </p:cNvPr>
          <p:cNvPicPr>
            <a:picLocks noChangeAspect="1"/>
          </p:cNvPicPr>
          <p:nvPr/>
        </p:nvPicPr>
        <p:blipFill>
          <a:blip r:embed="rId7"/>
          <a:stretch>
            <a:fillRect/>
          </a:stretch>
        </p:blipFill>
        <p:spPr>
          <a:xfrm>
            <a:off x="16623018" y="531203"/>
            <a:ext cx="1059148" cy="965774"/>
          </a:xfrm>
          <a:prstGeom prst="rect">
            <a:avLst/>
          </a:prstGeom>
        </p:spPr>
      </p:pic>
      <p:sp>
        <p:nvSpPr>
          <p:cNvPr id="2" name="Titel 4">
            <a:extLst>
              <a:ext uri="{FF2B5EF4-FFF2-40B4-BE49-F238E27FC236}">
                <a16:creationId xmlns:a16="http://schemas.microsoft.com/office/drawing/2014/main" id="{5015C9E2-3AD2-D919-4DB8-57C929634A93}"/>
              </a:ext>
            </a:extLst>
          </p:cNvPr>
          <p:cNvSpPr txBox="1">
            <a:spLocks/>
          </p:cNvSpPr>
          <p:nvPr/>
        </p:nvSpPr>
        <p:spPr>
          <a:xfrm>
            <a:off x="942981" y="2248798"/>
            <a:ext cx="17017998" cy="200840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14999"/>
              </a:lnSpc>
              <a:spcBef>
                <a:spcPts val="0"/>
              </a:spcBef>
              <a:spcAft>
                <a:spcPts val="0"/>
              </a:spcAft>
            </a:pPr>
            <a:r>
              <a:rPr lang="en-US" sz="6400" b="1">
                <a:solidFill>
                  <a:srgbClr val="0070C0"/>
                </a:solidFill>
                <a:latin typeface="Arial Nova"/>
                <a:cs typeface="Arial"/>
              </a:rPr>
              <a:t>Final Presentation</a:t>
            </a:r>
            <a:br>
              <a:rPr lang="en-US" sz="6400" b="1">
                <a:solidFill>
                  <a:srgbClr val="0070C0"/>
                </a:solidFill>
                <a:latin typeface="Arial Nova"/>
                <a:cs typeface="Arial"/>
              </a:rPr>
            </a:br>
            <a:r>
              <a:rPr lang="en-US" sz="6400" b="1">
                <a:solidFill>
                  <a:srgbClr val="0070C0"/>
                </a:solidFill>
                <a:latin typeface="Arial Nova"/>
                <a:cs typeface="Arial"/>
              </a:rPr>
              <a:t>Advanced Seminar in Electricity Markets</a:t>
            </a:r>
            <a:endParaRPr lang="en-US" sz="6400">
              <a:solidFill>
                <a:srgbClr val="0070C0"/>
              </a:solidFill>
              <a:latin typeface="Arial Nova"/>
            </a:endParaRPr>
          </a:p>
          <a:p>
            <a:pPr>
              <a:lnSpc>
                <a:spcPct val="100000"/>
              </a:lnSpc>
            </a:pPr>
            <a:endParaRPr lang="en-US" sz="7200" b="1">
              <a:latin typeface="Arial Nova" panose="020F0502020204030204" pitchFamily="34" charset="0"/>
            </a:endParaRPr>
          </a:p>
        </p:txBody>
      </p:sp>
      <p:sp>
        <p:nvSpPr>
          <p:cNvPr id="4" name="Inhaltsplatzhalter 2">
            <a:extLst>
              <a:ext uri="{FF2B5EF4-FFF2-40B4-BE49-F238E27FC236}">
                <a16:creationId xmlns:a16="http://schemas.microsoft.com/office/drawing/2014/main" id="{AB784CC5-777E-F098-01EB-C834A8C87344}"/>
              </a:ext>
            </a:extLst>
          </p:cNvPr>
          <p:cNvSpPr txBox="1">
            <a:spLocks/>
          </p:cNvSpPr>
          <p:nvPr/>
        </p:nvSpPr>
        <p:spPr>
          <a:xfrm>
            <a:off x="939800" y="5009029"/>
            <a:ext cx="11532016" cy="287644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de-DE">
                <a:solidFill>
                  <a:schemeClr val="bg1"/>
                </a:solidFill>
                <a:latin typeface="Arial Nova"/>
                <a:cs typeface="Arial"/>
              </a:rPr>
              <a:t>Chair for Economics of Energy </a:t>
            </a:r>
            <a:r>
              <a:rPr lang="de-DE" err="1">
                <a:solidFill>
                  <a:schemeClr val="bg1"/>
                </a:solidFill>
                <a:latin typeface="Arial Nova"/>
                <a:cs typeface="Arial"/>
              </a:rPr>
              <a:t>Markets</a:t>
            </a:r>
            <a:r>
              <a:rPr lang="de-DE">
                <a:solidFill>
                  <a:schemeClr val="bg1"/>
                </a:solidFill>
                <a:latin typeface="Arial Nova"/>
                <a:cs typeface="Arial"/>
              </a:rPr>
              <a:t> </a:t>
            </a:r>
          </a:p>
          <a:p>
            <a:r>
              <a:rPr lang="de-DE">
                <a:solidFill>
                  <a:schemeClr val="bg1"/>
                </a:solidFill>
                <a:latin typeface="Arial Nova"/>
                <a:cs typeface="Arial"/>
              </a:rPr>
              <a:t>Prof. Dr. Schwenen </a:t>
            </a:r>
          </a:p>
          <a:p>
            <a:r>
              <a:rPr lang="de-DE">
                <a:solidFill>
                  <a:schemeClr val="bg1"/>
                </a:solidFill>
                <a:latin typeface="Arial Nova"/>
                <a:cs typeface="Arial"/>
              </a:rPr>
              <a:t>Thirza Laws | Julian Wachsmuth</a:t>
            </a:r>
            <a:endParaRPr lang="de-DE">
              <a:solidFill>
                <a:schemeClr val="bg1"/>
              </a:solidFill>
            </a:endParaRPr>
          </a:p>
          <a:p>
            <a:r>
              <a:rPr lang="de-DE">
                <a:solidFill>
                  <a:schemeClr val="bg1"/>
                </a:solidFill>
                <a:latin typeface="Arial Nova" panose="020B0504020202020204" pitchFamily="34" charset="0"/>
              </a:rPr>
              <a:t>Munich, 18.06.2026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952649"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RECAP</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6764000" cy="563761"/>
          </a:xfrm>
          <a:prstGeom prst="rect">
            <a:avLst/>
          </a:prstGeom>
          <a:noFill/>
          <a:ln/>
        </p:spPr>
        <p:txBody>
          <a:bodyPr wrap="square" lIns="25400" tIns="25400" rIns="25400" bIns="25400" rtlCol="0" anchor="t">
            <a:normAutofit fontScale="92500" lnSpcReduction="10000"/>
          </a:bodyPr>
          <a:lstStyle/>
          <a:p>
            <a:pPr>
              <a:lnSpc>
                <a:spcPct val="120000"/>
              </a:lnSpc>
            </a:pPr>
            <a:r>
              <a:rPr lang="en-US" sz="3450" b="1">
                <a:solidFill>
                  <a:srgbClr val="1A1A2E"/>
                </a:solidFill>
                <a:latin typeface="Arial"/>
                <a:ea typeface="Arial" pitchFamily="34" charset="-122"/>
                <a:cs typeface="Arial"/>
              </a:rPr>
              <a:t>Our research question is unchanged — the method has matured</a:t>
            </a:r>
            <a:endParaRPr lang="en-US" sz="3450">
              <a:latin typeface="Arial"/>
              <a:cs typeface="Arial"/>
            </a:endParaRPr>
          </a:p>
        </p:txBody>
      </p:sp>
      <p:sp>
        <p:nvSpPr>
          <p:cNvPr id="16" name="Text 14"/>
          <p:cNvSpPr/>
          <p:nvPr/>
        </p:nvSpPr>
        <p:spPr>
          <a:xfrm>
            <a:off x="981074" y="2477392"/>
            <a:ext cx="14015085" cy="937290"/>
          </a:xfrm>
          <a:prstGeom prst="rect">
            <a:avLst/>
          </a:prstGeom>
          <a:noFill/>
          <a:ln/>
        </p:spPr>
        <p:txBody>
          <a:bodyPr wrap="square" lIns="25400" tIns="25400" rIns="25400" bIns="25400" rtlCol="0" anchor="t">
            <a:noAutofit/>
          </a:bodyPr>
          <a:lstStyle/>
          <a:p>
            <a:pPr>
              <a:lnSpc>
                <a:spcPct val="145000"/>
              </a:lnSpc>
            </a:pPr>
            <a:r>
              <a:rPr lang="de-DE" sz="3200" b="1" dirty="0">
                <a:latin typeface="Arial" panose="020B0604020202020204" pitchFamily="34" charset="0"/>
                <a:cs typeface="Arial" panose="020B0604020202020204" pitchFamily="34" charset="0"/>
              </a:rPr>
              <a:t>How </a:t>
            </a:r>
            <a:r>
              <a:rPr lang="de-DE" sz="3200" b="1" dirty="0" err="1">
                <a:latin typeface="Arial" panose="020B0604020202020204" pitchFamily="34" charset="0"/>
                <a:cs typeface="Arial" panose="020B0604020202020204" pitchFamily="34" charset="0"/>
              </a:rPr>
              <a:t>can</a:t>
            </a:r>
            <a:r>
              <a:rPr lang="de-DE" sz="3200" b="1" dirty="0">
                <a:latin typeface="Arial" panose="020B0604020202020204" pitchFamily="34" charset="0"/>
                <a:cs typeface="Arial" panose="020B0604020202020204" pitchFamily="34" charset="0"/>
              </a:rPr>
              <a:t> </a:t>
            </a:r>
            <a:r>
              <a:rPr lang="de-DE" sz="3200" b="1" dirty="0" err="1">
                <a:latin typeface="Arial" panose="020B0604020202020204" pitchFamily="34" charset="0"/>
                <a:cs typeface="Arial" panose="020B0604020202020204" pitchFamily="34" charset="0"/>
              </a:rPr>
              <a:t>grid-valuable</a:t>
            </a:r>
            <a:r>
              <a:rPr lang="de-DE" sz="3200" b="1" dirty="0">
                <a:latin typeface="Arial" panose="020B0604020202020204" pitchFamily="34" charset="0"/>
                <a:cs typeface="Arial" panose="020B0604020202020204" pitchFamily="34" charset="0"/>
              </a:rPr>
              <a:t> </a:t>
            </a:r>
            <a:r>
              <a:rPr lang="de-DE" sz="3200" b="1" dirty="0" err="1">
                <a:latin typeface="Arial" panose="020B0604020202020204" pitchFamily="34" charset="0"/>
                <a:cs typeface="Arial" panose="020B0604020202020204" pitchFamily="34" charset="0"/>
              </a:rPr>
              <a:t>battery</a:t>
            </a:r>
            <a:r>
              <a:rPr lang="de-DE" sz="3200" b="1" dirty="0">
                <a:latin typeface="Arial" panose="020B0604020202020204" pitchFamily="34" charset="0"/>
                <a:cs typeface="Arial" panose="020B0604020202020204" pitchFamily="34" charset="0"/>
              </a:rPr>
              <a:t> </a:t>
            </a:r>
            <a:r>
              <a:rPr lang="de-DE" sz="3200" b="1" dirty="0" err="1">
                <a:latin typeface="Arial" panose="020B0604020202020204" pitchFamily="34" charset="0"/>
                <a:cs typeface="Arial" panose="020B0604020202020204" pitchFamily="34" charset="0"/>
              </a:rPr>
              <a:t>storage</a:t>
            </a:r>
            <a:r>
              <a:rPr lang="de-DE" sz="3200" b="1" dirty="0">
                <a:latin typeface="Arial" panose="020B0604020202020204" pitchFamily="34" charset="0"/>
                <a:cs typeface="Arial" panose="020B0604020202020204" pitchFamily="34" charset="0"/>
              </a:rPr>
              <a:t> </a:t>
            </a:r>
            <a:r>
              <a:rPr lang="de-DE" sz="3200" b="1" dirty="0" err="1">
                <a:latin typeface="Arial" panose="020B0604020202020204" pitchFamily="34" charset="0"/>
                <a:cs typeface="Arial" panose="020B0604020202020204" pitchFamily="34" charset="0"/>
              </a:rPr>
              <a:t>sites</a:t>
            </a:r>
            <a:r>
              <a:rPr lang="de-DE" sz="3200" b="1" dirty="0">
                <a:latin typeface="Arial" panose="020B0604020202020204" pitchFamily="34" charset="0"/>
                <a:cs typeface="Arial" panose="020B0604020202020204" pitchFamily="34" charset="0"/>
              </a:rPr>
              <a:t> </a:t>
            </a:r>
            <a:r>
              <a:rPr lang="de-DE" sz="3200" b="1" dirty="0" err="1">
                <a:latin typeface="Arial" panose="020B0604020202020204" pitchFamily="34" charset="0"/>
                <a:cs typeface="Arial" panose="020B0604020202020204" pitchFamily="34" charset="0"/>
              </a:rPr>
              <a:t>be</a:t>
            </a:r>
            <a:r>
              <a:rPr lang="de-DE" sz="3200" b="1" dirty="0">
                <a:latin typeface="Arial" panose="020B0604020202020204" pitchFamily="34" charset="0"/>
                <a:cs typeface="Arial" panose="020B0604020202020204" pitchFamily="34" charset="0"/>
              </a:rPr>
              <a:t> </a:t>
            </a:r>
            <a:r>
              <a:rPr lang="de-DE" sz="3200" b="1" dirty="0" err="1">
                <a:latin typeface="Arial" panose="020B0604020202020204" pitchFamily="34" charset="0"/>
                <a:cs typeface="Arial" panose="020B0604020202020204" pitchFamily="34" charset="0"/>
              </a:rPr>
              <a:t>identified</a:t>
            </a:r>
            <a:r>
              <a:rPr lang="de-DE" sz="3200" b="1" dirty="0">
                <a:latin typeface="Arial" panose="020B0604020202020204" pitchFamily="34" charset="0"/>
                <a:cs typeface="Arial" panose="020B0604020202020204" pitchFamily="34" charset="0"/>
              </a:rPr>
              <a:t> </a:t>
            </a:r>
            <a:r>
              <a:rPr lang="de-DE" sz="3200" b="1" dirty="0" err="1">
                <a:latin typeface="Arial" panose="020B0604020202020204" pitchFamily="34" charset="0"/>
                <a:cs typeface="Arial" panose="020B0604020202020204" pitchFamily="34" charset="0"/>
              </a:rPr>
              <a:t>from</a:t>
            </a:r>
            <a:r>
              <a:rPr lang="de-DE" sz="3200" b="1" dirty="0">
                <a:latin typeface="Arial" panose="020B0604020202020204" pitchFamily="34" charset="0"/>
                <a:cs typeface="Arial" panose="020B0604020202020204" pitchFamily="34" charset="0"/>
              </a:rPr>
              <a:t> </a:t>
            </a:r>
            <a:r>
              <a:rPr lang="de-DE" sz="3200" b="1" dirty="0" err="1">
                <a:latin typeface="Arial" panose="020B0604020202020204" pitchFamily="34" charset="0"/>
                <a:cs typeface="Arial" panose="020B0604020202020204" pitchFamily="34" charset="0"/>
              </a:rPr>
              <a:t>observed</a:t>
            </a:r>
            <a:r>
              <a:rPr lang="de-DE" sz="3200" b="1" dirty="0">
                <a:latin typeface="Arial" panose="020B0604020202020204" pitchFamily="34" charset="0"/>
                <a:cs typeface="Arial" panose="020B0604020202020204" pitchFamily="34" charset="0"/>
              </a:rPr>
              <a:t> </a:t>
            </a:r>
            <a:r>
              <a:rPr lang="de-DE" sz="3200" b="1" dirty="0" err="1">
                <a:latin typeface="Arial" panose="020B0604020202020204" pitchFamily="34" charset="0"/>
                <a:cs typeface="Arial" panose="020B0604020202020204" pitchFamily="34" charset="0"/>
              </a:rPr>
              <a:t>redispatch</a:t>
            </a:r>
            <a:r>
              <a:rPr lang="de-DE" sz="3200" b="1" dirty="0">
                <a:latin typeface="Arial" panose="020B0604020202020204" pitchFamily="34" charset="0"/>
                <a:cs typeface="Arial" panose="020B0604020202020204" pitchFamily="34" charset="0"/>
              </a:rPr>
              <a:t> </a:t>
            </a:r>
            <a:r>
              <a:rPr lang="de-DE" sz="3200" b="1" dirty="0" err="1">
                <a:latin typeface="Arial" panose="020B0604020202020204" pitchFamily="34" charset="0"/>
                <a:cs typeface="Arial" panose="020B0604020202020204" pitchFamily="34" charset="0"/>
              </a:rPr>
              <a:t>data</a:t>
            </a:r>
            <a:r>
              <a:rPr lang="de-DE" sz="3200" b="1" dirty="0">
                <a:latin typeface="Arial" panose="020B0604020202020204" pitchFamily="34" charset="0"/>
                <a:cs typeface="Arial" panose="020B0604020202020204" pitchFamily="34" charset="0"/>
              </a:rPr>
              <a:t> in a uniform-</a:t>
            </a:r>
            <a:r>
              <a:rPr lang="de-DE" sz="3200" b="1" dirty="0" err="1">
                <a:latin typeface="Arial" panose="020B0604020202020204" pitchFamily="34" charset="0"/>
                <a:cs typeface="Arial" panose="020B0604020202020204" pitchFamily="34" charset="0"/>
              </a:rPr>
              <a:t>price</a:t>
            </a:r>
            <a:r>
              <a:rPr lang="de-DE" sz="3200" b="1" dirty="0">
                <a:latin typeface="Arial" panose="020B0604020202020204" pitchFamily="34" charset="0"/>
                <a:cs typeface="Arial" panose="020B0604020202020204" pitchFamily="34" charset="0"/>
              </a:rPr>
              <a:t> </a:t>
            </a:r>
            <a:r>
              <a:rPr lang="de-DE" sz="3200" b="1" dirty="0" err="1">
                <a:latin typeface="Arial" panose="020B0604020202020204" pitchFamily="34" charset="0"/>
                <a:cs typeface="Arial" panose="020B0604020202020204" pitchFamily="34" charset="0"/>
              </a:rPr>
              <a:t>market</a:t>
            </a:r>
            <a:r>
              <a:rPr lang="de-DE" sz="3200" b="1" dirty="0">
                <a:latin typeface="Arial" panose="020B0604020202020204" pitchFamily="34" charset="0"/>
                <a:cs typeface="Arial" panose="020B0604020202020204" pitchFamily="34" charset="0"/>
              </a:rPr>
              <a:t>? </a:t>
            </a:r>
          </a:p>
          <a:p>
            <a:pPr>
              <a:lnSpc>
                <a:spcPct val="145000"/>
              </a:lnSpc>
            </a:pPr>
            <a:r>
              <a:rPr lang="de-DE" sz="3200" dirty="0">
                <a:latin typeface="Arial" panose="020B0604020202020204" pitchFamily="34" charset="0"/>
                <a:cs typeface="Arial" panose="020B0604020202020204" pitchFamily="34" charset="0"/>
              </a:rPr>
              <a:t>A </a:t>
            </a:r>
            <a:r>
              <a:rPr lang="de-DE" sz="3200" dirty="0" err="1">
                <a:latin typeface="Arial" panose="020B0604020202020204" pitchFamily="34" charset="0"/>
                <a:cs typeface="Arial" panose="020B0604020202020204" pitchFamily="34" charset="0"/>
              </a:rPr>
              <a:t>methodological</a:t>
            </a:r>
            <a:r>
              <a:rPr lang="de-DE" sz="3200" dirty="0">
                <a:latin typeface="Arial" panose="020B0604020202020204" pitchFamily="34" charset="0"/>
                <a:cs typeface="Arial" panose="020B0604020202020204" pitchFamily="34" charset="0"/>
              </a:rPr>
              <a:t> </a:t>
            </a:r>
            <a:r>
              <a:rPr lang="de-DE" sz="3200" dirty="0" err="1">
                <a:latin typeface="Arial" panose="020B0604020202020204" pitchFamily="34" charset="0"/>
                <a:cs typeface="Arial" panose="020B0604020202020204" pitchFamily="34" charset="0"/>
              </a:rPr>
              <a:t>approach</a:t>
            </a:r>
            <a:r>
              <a:rPr lang="de-DE" sz="3200" dirty="0">
                <a:latin typeface="Arial" panose="020B0604020202020204" pitchFamily="34" charset="0"/>
                <a:cs typeface="Arial" panose="020B0604020202020204" pitchFamily="34" charset="0"/>
              </a:rPr>
              <a:t> </a:t>
            </a:r>
            <a:r>
              <a:rPr lang="de-DE" sz="3200" dirty="0" err="1">
                <a:latin typeface="Arial" panose="020B0604020202020204" pitchFamily="34" charset="0"/>
                <a:cs typeface="Arial" panose="020B0604020202020204" pitchFamily="34" charset="0"/>
              </a:rPr>
              <a:t>to</a:t>
            </a:r>
            <a:r>
              <a:rPr lang="de-DE" sz="3200" dirty="0">
                <a:latin typeface="Arial" panose="020B0604020202020204" pitchFamily="34" charset="0"/>
                <a:cs typeface="Arial" panose="020B0604020202020204" pitchFamily="34" charset="0"/>
              </a:rPr>
              <a:t> </a:t>
            </a:r>
            <a:r>
              <a:rPr lang="de-DE" sz="3200" dirty="0" err="1">
                <a:latin typeface="Arial" panose="020B0604020202020204" pitchFamily="34" charset="0"/>
                <a:cs typeface="Arial" panose="020B0604020202020204" pitchFamily="34" charset="0"/>
              </a:rPr>
              <a:t>valuing</a:t>
            </a:r>
            <a:r>
              <a:rPr lang="de-DE" sz="3200" dirty="0">
                <a:latin typeface="Arial" panose="020B0604020202020204" pitchFamily="34" charset="0"/>
                <a:cs typeface="Arial" panose="020B0604020202020204" pitchFamily="34" charset="0"/>
              </a:rPr>
              <a:t> </a:t>
            </a:r>
            <a:r>
              <a:rPr lang="de-DE" sz="3200" dirty="0" err="1">
                <a:latin typeface="Arial" panose="020B0604020202020204" pitchFamily="34" charset="0"/>
                <a:cs typeface="Arial" panose="020B0604020202020204" pitchFamily="34" charset="0"/>
              </a:rPr>
              <a:t>storage</a:t>
            </a:r>
            <a:r>
              <a:rPr lang="de-DE" sz="3200" dirty="0">
                <a:latin typeface="Arial" panose="020B0604020202020204" pitchFamily="34" charset="0"/>
                <a:cs typeface="Arial" panose="020B0604020202020204" pitchFamily="34" charset="0"/>
              </a:rPr>
              <a:t> </a:t>
            </a:r>
            <a:r>
              <a:rPr lang="de-DE" sz="3200" dirty="0" err="1">
                <a:latin typeface="Arial" panose="020B0604020202020204" pitchFamily="34" charset="0"/>
                <a:cs typeface="Arial" panose="020B0604020202020204" pitchFamily="34" charset="0"/>
              </a:rPr>
              <a:t>locations</a:t>
            </a:r>
            <a:r>
              <a:rPr lang="de-DE" sz="3200" dirty="0">
                <a:latin typeface="Arial" panose="020B0604020202020204" pitchFamily="34" charset="0"/>
                <a:cs typeface="Arial" panose="020B0604020202020204" pitchFamily="34" charset="0"/>
              </a:rPr>
              <a:t> </a:t>
            </a:r>
            <a:r>
              <a:rPr lang="de-DE" sz="3200" dirty="0" err="1">
                <a:latin typeface="Arial" panose="020B0604020202020204" pitchFamily="34" charset="0"/>
                <a:cs typeface="Arial" panose="020B0604020202020204" pitchFamily="34" charset="0"/>
              </a:rPr>
              <a:t>based</a:t>
            </a:r>
            <a:r>
              <a:rPr lang="de-DE" sz="3200" dirty="0">
                <a:latin typeface="Arial" panose="020B0604020202020204" pitchFamily="34" charset="0"/>
                <a:cs typeface="Arial" panose="020B0604020202020204" pitchFamily="34" charset="0"/>
              </a:rPr>
              <a:t> on </a:t>
            </a:r>
            <a:r>
              <a:rPr lang="de-DE" sz="3200" dirty="0" err="1">
                <a:latin typeface="Arial" panose="020B0604020202020204" pitchFamily="34" charset="0"/>
                <a:cs typeface="Arial" panose="020B0604020202020204" pitchFamily="34" charset="0"/>
              </a:rPr>
              <a:t>nodal</a:t>
            </a:r>
            <a:r>
              <a:rPr lang="de-DE" sz="3200" dirty="0">
                <a:latin typeface="Arial" panose="020B0604020202020204" pitchFamily="34" charset="0"/>
                <a:cs typeface="Arial" panose="020B0604020202020204" pitchFamily="34" charset="0"/>
              </a:rPr>
              <a:t>-pricing </a:t>
            </a:r>
            <a:r>
              <a:rPr lang="de-DE" sz="3200" dirty="0" err="1">
                <a:latin typeface="Arial" panose="020B0604020202020204" pitchFamily="34" charset="0"/>
                <a:cs typeface="Arial" panose="020B0604020202020204" pitchFamily="34" charset="0"/>
              </a:rPr>
              <a:t>logic</a:t>
            </a:r>
            <a:endParaRPr lang="de-DE" sz="3200" dirty="0">
              <a:latin typeface="Arial" panose="020B0604020202020204" pitchFamily="34" charset="0"/>
              <a:cs typeface="Arial" panose="020B0604020202020204" pitchFamily="34" charset="0"/>
            </a:endParaRPr>
          </a:p>
        </p:txBody>
      </p:sp>
      <p:sp>
        <p:nvSpPr>
          <p:cNvPr id="17" name="Shape 15"/>
          <p:cNvSpPr/>
          <p:nvPr/>
        </p:nvSpPr>
        <p:spPr>
          <a:xfrm>
            <a:off x="952500" y="6277005"/>
            <a:ext cx="16383000" cy="2105025"/>
          </a:xfrm>
          <a:prstGeom prst="rect">
            <a:avLst/>
          </a:prstGeom>
          <a:solidFill>
            <a:srgbClr val="F0F6FB"/>
          </a:solidFill>
          <a:ln/>
        </p:spPr>
        <p:txBody>
          <a:bodyPr/>
          <a:lstStyle/>
          <a:p>
            <a:endParaRPr lang="en-GB"/>
          </a:p>
        </p:txBody>
      </p:sp>
      <p:sp>
        <p:nvSpPr>
          <p:cNvPr id="18" name="Shape 16"/>
          <p:cNvSpPr/>
          <p:nvPr/>
        </p:nvSpPr>
        <p:spPr>
          <a:xfrm>
            <a:off x="952500" y="6277005"/>
            <a:ext cx="57150" cy="2105025"/>
          </a:xfrm>
          <a:prstGeom prst="rect">
            <a:avLst/>
          </a:prstGeom>
          <a:solidFill>
            <a:srgbClr val="0065BD"/>
          </a:solidFill>
          <a:ln/>
        </p:spPr>
        <p:txBody>
          <a:bodyPr/>
          <a:lstStyle/>
          <a:p>
            <a:endParaRPr lang="en-GB"/>
          </a:p>
        </p:txBody>
      </p:sp>
      <p:sp>
        <p:nvSpPr>
          <p:cNvPr id="19" name="Text 17"/>
          <p:cNvSpPr/>
          <p:nvPr/>
        </p:nvSpPr>
        <p:spPr>
          <a:xfrm>
            <a:off x="1409700" y="6581805"/>
            <a:ext cx="17078325"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150">
                <a:solidFill>
                  <a:srgbClr val="005293"/>
                </a:solidFill>
                <a:latin typeface="Arial" pitchFamily="34" charset="0"/>
                <a:ea typeface="Arial" pitchFamily="34" charset="-122"/>
                <a:cs typeface="Arial" pitchFamily="34" charset="-120"/>
              </a:rPr>
              <a:t>WHAT CHANGED SINCE THE MIDTERM</a:t>
            </a:r>
            <a:endParaRPr lang="en-US" sz="1650"/>
          </a:p>
        </p:txBody>
      </p:sp>
      <p:sp>
        <p:nvSpPr>
          <p:cNvPr id="20" name="Text 18"/>
          <p:cNvSpPr/>
          <p:nvPr/>
        </p:nvSpPr>
        <p:spPr>
          <a:xfrm>
            <a:off x="1409700" y="6962805"/>
            <a:ext cx="15991523" cy="1152525"/>
          </a:xfrm>
          <a:prstGeom prst="rect">
            <a:avLst/>
          </a:prstGeom>
          <a:noFill/>
          <a:ln/>
        </p:spPr>
        <p:txBody>
          <a:bodyPr wrap="square" lIns="25400" tIns="25400" rIns="25400" bIns="25400" rtlCol="0" anchor="t">
            <a:normAutofit/>
          </a:bodyPr>
          <a:lstStyle/>
          <a:p>
            <a:pPr marL="0" indent="0" algn="l">
              <a:lnSpc>
                <a:spcPct val="150000"/>
              </a:lnSpc>
              <a:buNone/>
            </a:pPr>
            <a:r>
              <a:rPr lang="en-US" sz="1950">
                <a:solidFill>
                  <a:srgbClr val="1A1A2E"/>
                </a:solidFill>
                <a:latin typeface="Arial" pitchFamily="34" charset="0"/>
                <a:ea typeface="Arial" pitchFamily="34" charset="-122"/>
                <a:cs typeface="Arial" pitchFamily="34" charset="-120"/>
              </a:rPr>
              <a:t>Network-KDE density mapping → </a:t>
            </a:r>
            <a:r>
              <a:rPr lang="en-US" sz="1950" b="1">
                <a:solidFill>
                  <a:srgbClr val="1A1A2E"/>
                </a:solidFill>
                <a:latin typeface="Arial" pitchFamily="34" charset="0"/>
                <a:ea typeface="Arial" pitchFamily="34" charset="-122"/>
                <a:cs typeface="Arial" pitchFamily="34" charset="-120"/>
              </a:rPr>
              <a:t>arbitrage scoring against a local effective price </a:t>
            </a:r>
            <a:r>
              <a:rPr lang="en-US" sz="1950">
                <a:solidFill>
                  <a:srgbClr val="1A1A2E"/>
                </a:solidFill>
                <a:latin typeface="Arial" pitchFamily="34" charset="0"/>
                <a:ea typeface="Arial" pitchFamily="34" charset="-122"/>
                <a:cs typeface="Arial" pitchFamily="34" charset="-120"/>
              </a:rPr>
              <a:t>: we recover the missing nodal price signal from observed redispatch and score every battery site by the locational profit it would earn with distance measured </a:t>
            </a:r>
            <a:r>
              <a:rPr lang="en-US" sz="1950" b="1">
                <a:solidFill>
                  <a:srgbClr val="1A1A2E"/>
                </a:solidFill>
                <a:latin typeface="Arial" pitchFamily="34" charset="0"/>
                <a:ea typeface="Arial" pitchFamily="34" charset="-122"/>
                <a:cs typeface="Arial" pitchFamily="34" charset="-120"/>
              </a:rPr>
              <a:t>electrically (PTDF) </a:t>
            </a:r>
            <a:r>
              <a:rPr lang="en-US" sz="1950">
                <a:solidFill>
                  <a:srgbClr val="1A1A2E"/>
                </a:solidFill>
                <a:latin typeface="Arial" pitchFamily="34" charset="0"/>
                <a:ea typeface="Arial" pitchFamily="34" charset="-122"/>
                <a:cs typeface="Arial" pitchFamily="34" charset="-120"/>
              </a:rPr>
              <a:t>, not geographically.</a:t>
            </a:r>
            <a:endParaRPr lang="en-US" sz="1950"/>
          </a:p>
        </p:txBody>
      </p:sp>
      <p:sp>
        <p:nvSpPr>
          <p:cNvPr id="21" name="Text 19"/>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2" name="Text 20"/>
          <p:cNvSpPr/>
          <p:nvPr/>
        </p:nvSpPr>
        <p:spPr>
          <a:xfrm>
            <a:off x="17245310" y="9715500"/>
            <a:ext cx="166390"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2</a:t>
            </a:r>
            <a:endParaRPr lang="en-US" sz="12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1155799"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AGENDA</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52450"/>
          </a:xfrm>
          <a:prstGeom prst="rect">
            <a:avLst/>
          </a:prstGeom>
          <a:noFill/>
          <a:ln/>
        </p:spPr>
        <p:txBody>
          <a:bodyPr wrap="square" lIns="25400" tIns="25400" rIns="25400" bIns="25400" rtlCol="0" anchor="t">
            <a:normAutofit lnSpcReduction="10000"/>
          </a:bodyPr>
          <a:lstStyle/>
          <a:p>
            <a:pPr marL="0" indent="0" algn="l">
              <a:buNone/>
            </a:pPr>
            <a:r>
              <a:rPr lang="en-US" sz="3450" b="1">
                <a:solidFill>
                  <a:srgbClr val="1A1A2E"/>
                </a:solidFill>
                <a:latin typeface="Arial" pitchFamily="34" charset="0"/>
                <a:ea typeface="Arial" pitchFamily="34" charset="-122"/>
                <a:cs typeface="Arial" pitchFamily="34" charset="-120"/>
              </a:rPr>
              <a:t>Agenda</a:t>
            </a:r>
            <a:endParaRPr lang="en-US" sz="3450"/>
          </a:p>
        </p:txBody>
      </p:sp>
      <p:sp>
        <p:nvSpPr>
          <p:cNvPr id="5" name="Shape 3"/>
          <p:cNvSpPr/>
          <p:nvPr/>
        </p:nvSpPr>
        <p:spPr>
          <a:xfrm>
            <a:off x="952500" y="3076575"/>
            <a:ext cx="16383000" cy="9525"/>
          </a:xfrm>
          <a:prstGeom prst="rect">
            <a:avLst/>
          </a:prstGeom>
          <a:solidFill>
            <a:srgbClr val="E2E8F0"/>
          </a:solidFill>
          <a:ln/>
        </p:spPr>
        <p:txBody>
          <a:bodyPr/>
          <a:lstStyle/>
          <a:p>
            <a:endParaRPr lang="en-GB"/>
          </a:p>
        </p:txBody>
      </p:sp>
      <p:sp>
        <p:nvSpPr>
          <p:cNvPr id="6" name="Text 4"/>
          <p:cNvSpPr/>
          <p:nvPr/>
        </p:nvSpPr>
        <p:spPr>
          <a:xfrm>
            <a:off x="1047750" y="2381250"/>
            <a:ext cx="933450" cy="447675"/>
          </a:xfrm>
          <a:prstGeom prst="rect">
            <a:avLst/>
          </a:prstGeom>
          <a:noFill/>
          <a:ln/>
        </p:spPr>
        <p:txBody>
          <a:bodyPr wrap="square" lIns="25400" tIns="25400" rIns="25400" bIns="25400" rtlCol="0" anchor="t">
            <a:normAutofit lnSpcReduction="10000"/>
          </a:bodyPr>
          <a:lstStyle/>
          <a:p>
            <a:pPr marL="0" indent="0" algn="l">
              <a:buNone/>
            </a:pPr>
            <a:r>
              <a:rPr lang="en-US" sz="2850" b="1">
                <a:solidFill>
                  <a:srgbClr val="98C6EA"/>
                </a:solidFill>
                <a:latin typeface="Arial" pitchFamily="34" charset="0"/>
                <a:ea typeface="Arial" pitchFamily="34" charset="-122"/>
                <a:cs typeface="Arial" pitchFamily="34" charset="-120"/>
              </a:rPr>
              <a:t>01.</a:t>
            </a:r>
            <a:endParaRPr lang="en-US" sz="2850"/>
          </a:p>
        </p:txBody>
      </p:sp>
      <p:sp>
        <p:nvSpPr>
          <p:cNvPr id="7" name="Text 5"/>
          <p:cNvSpPr/>
          <p:nvPr/>
        </p:nvSpPr>
        <p:spPr>
          <a:xfrm>
            <a:off x="2286000" y="2409825"/>
            <a:ext cx="4400550" cy="390525"/>
          </a:xfrm>
          <a:prstGeom prst="rect">
            <a:avLst/>
          </a:prstGeom>
          <a:noFill/>
          <a:ln/>
        </p:spPr>
        <p:txBody>
          <a:bodyPr wrap="square" lIns="25400" tIns="25400" rIns="25400" bIns="25400" rtlCol="0" anchor="t">
            <a:normAutofit lnSpcReduction="10000"/>
          </a:bodyPr>
          <a:lstStyle/>
          <a:p>
            <a:pPr marL="0" indent="0" algn="l">
              <a:buNone/>
            </a:pPr>
            <a:r>
              <a:rPr lang="en-US" sz="2400" b="1">
                <a:solidFill>
                  <a:srgbClr val="1A1A2E"/>
                </a:solidFill>
                <a:latin typeface="Arial" pitchFamily="34" charset="0"/>
                <a:ea typeface="Arial" pitchFamily="34" charset="-122"/>
                <a:cs typeface="Arial" pitchFamily="34" charset="-120"/>
              </a:rPr>
              <a:t>Background</a:t>
            </a:r>
            <a:endParaRPr lang="en-US" sz="2400"/>
          </a:p>
        </p:txBody>
      </p:sp>
      <p:sp>
        <p:nvSpPr>
          <p:cNvPr id="8" name="Text 6"/>
          <p:cNvSpPr/>
          <p:nvPr/>
        </p:nvSpPr>
        <p:spPr>
          <a:xfrm>
            <a:off x="6667500" y="2452688"/>
            <a:ext cx="5170974" cy="304800"/>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6B7280"/>
                </a:solidFill>
                <a:latin typeface="Arial" pitchFamily="34" charset="0"/>
                <a:ea typeface="Arial" pitchFamily="34" charset="-122"/>
                <a:cs typeface="Arial" pitchFamily="34" charset="-120"/>
              </a:rPr>
              <a:t>Why location matters for batteries — kept brief</a:t>
            </a:r>
            <a:endParaRPr lang="en-US" sz="1800"/>
          </a:p>
        </p:txBody>
      </p:sp>
      <p:sp>
        <p:nvSpPr>
          <p:cNvPr id="9" name="Shape 7"/>
          <p:cNvSpPr/>
          <p:nvPr/>
        </p:nvSpPr>
        <p:spPr>
          <a:xfrm>
            <a:off x="952500" y="4067175"/>
            <a:ext cx="16383000" cy="9525"/>
          </a:xfrm>
          <a:prstGeom prst="rect">
            <a:avLst/>
          </a:prstGeom>
          <a:solidFill>
            <a:srgbClr val="E2E8F0"/>
          </a:solidFill>
          <a:ln/>
        </p:spPr>
        <p:txBody>
          <a:bodyPr/>
          <a:lstStyle/>
          <a:p>
            <a:endParaRPr lang="en-GB"/>
          </a:p>
        </p:txBody>
      </p:sp>
      <p:sp>
        <p:nvSpPr>
          <p:cNvPr id="10" name="Text 8"/>
          <p:cNvSpPr/>
          <p:nvPr/>
        </p:nvSpPr>
        <p:spPr>
          <a:xfrm>
            <a:off x="1047750" y="3371850"/>
            <a:ext cx="933450" cy="447675"/>
          </a:xfrm>
          <a:prstGeom prst="rect">
            <a:avLst/>
          </a:prstGeom>
          <a:noFill/>
          <a:ln/>
        </p:spPr>
        <p:txBody>
          <a:bodyPr wrap="square" lIns="25400" tIns="25400" rIns="25400" bIns="25400" rtlCol="0" anchor="t">
            <a:normAutofit lnSpcReduction="10000"/>
          </a:bodyPr>
          <a:lstStyle/>
          <a:p>
            <a:pPr marL="0" indent="0" algn="l">
              <a:buNone/>
            </a:pPr>
            <a:r>
              <a:rPr lang="en-US" sz="2850" b="1">
                <a:solidFill>
                  <a:srgbClr val="98C6EA"/>
                </a:solidFill>
                <a:latin typeface="Arial" pitchFamily="34" charset="0"/>
                <a:ea typeface="Arial" pitchFamily="34" charset="-122"/>
                <a:cs typeface="Arial" pitchFamily="34" charset="-120"/>
              </a:rPr>
              <a:t>02.</a:t>
            </a:r>
            <a:endParaRPr lang="en-US" sz="2850"/>
          </a:p>
        </p:txBody>
      </p:sp>
      <p:sp>
        <p:nvSpPr>
          <p:cNvPr id="11" name="Text 9"/>
          <p:cNvSpPr/>
          <p:nvPr/>
        </p:nvSpPr>
        <p:spPr>
          <a:xfrm>
            <a:off x="2286000" y="3400425"/>
            <a:ext cx="440055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1A2E"/>
                </a:solidFill>
                <a:latin typeface="Arial" pitchFamily="34" charset="0"/>
                <a:ea typeface="Arial" pitchFamily="34" charset="-122"/>
                <a:cs typeface="Arial" pitchFamily="34" charset="-120"/>
              </a:rPr>
              <a:t>Theory</a:t>
            </a:r>
            <a:endParaRPr lang="en-US" sz="2400" dirty="0"/>
          </a:p>
        </p:txBody>
      </p:sp>
      <p:sp>
        <p:nvSpPr>
          <p:cNvPr id="12" name="Text 10"/>
          <p:cNvSpPr/>
          <p:nvPr/>
        </p:nvSpPr>
        <p:spPr>
          <a:xfrm>
            <a:off x="6667500" y="3443288"/>
            <a:ext cx="591258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6B7280"/>
                </a:solidFill>
                <a:latin typeface="Arial" pitchFamily="34" charset="0"/>
                <a:ea typeface="Arial" pitchFamily="34" charset="-122"/>
                <a:cs typeface="Arial" pitchFamily="34" charset="-120"/>
              </a:rPr>
              <a:t>Redispatch events, battery fleet, prices, grid topology</a:t>
            </a:r>
            <a:endParaRPr lang="en-US" sz="1800" dirty="0"/>
          </a:p>
        </p:txBody>
      </p:sp>
      <p:sp>
        <p:nvSpPr>
          <p:cNvPr id="13" name="Shape 11"/>
          <p:cNvSpPr/>
          <p:nvPr/>
        </p:nvSpPr>
        <p:spPr>
          <a:xfrm>
            <a:off x="952500" y="5057775"/>
            <a:ext cx="16383000" cy="9525"/>
          </a:xfrm>
          <a:prstGeom prst="rect">
            <a:avLst/>
          </a:prstGeom>
          <a:solidFill>
            <a:srgbClr val="E2E8F0"/>
          </a:solidFill>
          <a:ln/>
        </p:spPr>
        <p:txBody>
          <a:bodyPr/>
          <a:lstStyle/>
          <a:p>
            <a:endParaRPr lang="en-GB"/>
          </a:p>
        </p:txBody>
      </p:sp>
      <p:sp>
        <p:nvSpPr>
          <p:cNvPr id="14" name="Text 12"/>
          <p:cNvSpPr/>
          <p:nvPr/>
        </p:nvSpPr>
        <p:spPr>
          <a:xfrm>
            <a:off x="1047750" y="4362450"/>
            <a:ext cx="933450" cy="447675"/>
          </a:xfrm>
          <a:prstGeom prst="rect">
            <a:avLst/>
          </a:prstGeom>
          <a:noFill/>
          <a:ln/>
        </p:spPr>
        <p:txBody>
          <a:bodyPr wrap="square" lIns="25400" tIns="25400" rIns="25400" bIns="25400" rtlCol="0" anchor="t">
            <a:normAutofit lnSpcReduction="10000"/>
          </a:bodyPr>
          <a:lstStyle/>
          <a:p>
            <a:pPr marL="0" indent="0" algn="l">
              <a:buNone/>
            </a:pPr>
            <a:r>
              <a:rPr lang="en-US" sz="2850" b="1">
                <a:solidFill>
                  <a:srgbClr val="98C6EA"/>
                </a:solidFill>
                <a:latin typeface="Arial" pitchFamily="34" charset="0"/>
                <a:ea typeface="Arial" pitchFamily="34" charset="-122"/>
                <a:cs typeface="Arial" pitchFamily="34" charset="-120"/>
              </a:rPr>
              <a:t>03.</a:t>
            </a:r>
            <a:endParaRPr lang="en-US" sz="2850"/>
          </a:p>
        </p:txBody>
      </p:sp>
      <p:sp>
        <p:nvSpPr>
          <p:cNvPr id="15" name="Text 13"/>
          <p:cNvSpPr/>
          <p:nvPr/>
        </p:nvSpPr>
        <p:spPr>
          <a:xfrm>
            <a:off x="2286000" y="4391025"/>
            <a:ext cx="4400550" cy="390525"/>
          </a:xfrm>
          <a:prstGeom prst="rect">
            <a:avLst/>
          </a:prstGeom>
          <a:noFill/>
          <a:ln/>
        </p:spPr>
        <p:txBody>
          <a:bodyPr wrap="square" lIns="25400" tIns="25400" rIns="25400" bIns="25400" rtlCol="0" anchor="t">
            <a:normAutofit lnSpcReduction="10000"/>
          </a:bodyPr>
          <a:lstStyle/>
          <a:p>
            <a:pPr marL="0" indent="0" algn="l">
              <a:buNone/>
            </a:pPr>
            <a:r>
              <a:rPr lang="en-US" sz="2400" b="1">
                <a:solidFill>
                  <a:srgbClr val="1A1A2E"/>
                </a:solidFill>
                <a:latin typeface="Arial" pitchFamily="34" charset="0"/>
                <a:ea typeface="Arial" pitchFamily="34" charset="-122"/>
                <a:cs typeface="Arial" pitchFamily="34" charset="-120"/>
              </a:rPr>
              <a:t>Methodology</a:t>
            </a:r>
            <a:endParaRPr lang="en-US" sz="2400"/>
          </a:p>
        </p:txBody>
      </p:sp>
      <p:sp>
        <p:nvSpPr>
          <p:cNvPr id="16" name="Text 14"/>
          <p:cNvSpPr/>
          <p:nvPr/>
        </p:nvSpPr>
        <p:spPr>
          <a:xfrm>
            <a:off x="6667500" y="4433888"/>
            <a:ext cx="8255124" cy="304800"/>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6B7280"/>
                </a:solidFill>
                <a:latin typeface="Arial" pitchFamily="34" charset="0"/>
                <a:ea typeface="Arial" pitchFamily="34" charset="-122"/>
                <a:cs typeface="Arial" pitchFamily="34" charset="-120"/>
              </a:rPr>
              <a:t>Plant matching pipeline · effective local price · PTDF kernel · profit scoring</a:t>
            </a:r>
            <a:endParaRPr lang="en-US" sz="1800"/>
          </a:p>
        </p:txBody>
      </p:sp>
      <p:sp>
        <p:nvSpPr>
          <p:cNvPr id="17" name="Shape 15"/>
          <p:cNvSpPr/>
          <p:nvPr/>
        </p:nvSpPr>
        <p:spPr>
          <a:xfrm>
            <a:off x="952500" y="6048375"/>
            <a:ext cx="16383000" cy="9525"/>
          </a:xfrm>
          <a:prstGeom prst="rect">
            <a:avLst/>
          </a:prstGeom>
          <a:solidFill>
            <a:srgbClr val="E2E8F0"/>
          </a:solidFill>
          <a:ln/>
        </p:spPr>
        <p:txBody>
          <a:bodyPr/>
          <a:lstStyle/>
          <a:p>
            <a:endParaRPr lang="en-GB"/>
          </a:p>
        </p:txBody>
      </p:sp>
      <p:sp>
        <p:nvSpPr>
          <p:cNvPr id="18" name="Text 16"/>
          <p:cNvSpPr/>
          <p:nvPr/>
        </p:nvSpPr>
        <p:spPr>
          <a:xfrm>
            <a:off x="1047750" y="5353050"/>
            <a:ext cx="933450" cy="447675"/>
          </a:xfrm>
          <a:prstGeom prst="rect">
            <a:avLst/>
          </a:prstGeom>
          <a:noFill/>
          <a:ln/>
        </p:spPr>
        <p:txBody>
          <a:bodyPr wrap="square" lIns="25400" tIns="25400" rIns="25400" bIns="25400" rtlCol="0" anchor="t">
            <a:normAutofit lnSpcReduction="10000"/>
          </a:bodyPr>
          <a:lstStyle/>
          <a:p>
            <a:pPr marL="0" indent="0" algn="l">
              <a:buNone/>
            </a:pPr>
            <a:r>
              <a:rPr lang="en-US" sz="2850" b="1">
                <a:solidFill>
                  <a:srgbClr val="98C6EA"/>
                </a:solidFill>
                <a:latin typeface="Arial" pitchFamily="34" charset="0"/>
                <a:ea typeface="Arial" pitchFamily="34" charset="-122"/>
                <a:cs typeface="Arial" pitchFamily="34" charset="-120"/>
              </a:rPr>
              <a:t>04.</a:t>
            </a:r>
            <a:endParaRPr lang="en-US" sz="2850"/>
          </a:p>
        </p:txBody>
      </p:sp>
      <p:sp>
        <p:nvSpPr>
          <p:cNvPr id="19" name="Text 17"/>
          <p:cNvSpPr/>
          <p:nvPr/>
        </p:nvSpPr>
        <p:spPr>
          <a:xfrm>
            <a:off x="2286000" y="5381625"/>
            <a:ext cx="4400550" cy="390525"/>
          </a:xfrm>
          <a:prstGeom prst="rect">
            <a:avLst/>
          </a:prstGeom>
          <a:noFill/>
          <a:ln/>
        </p:spPr>
        <p:txBody>
          <a:bodyPr wrap="square" lIns="25400" tIns="25400" rIns="25400" bIns="25400" rtlCol="0" anchor="t">
            <a:normAutofit lnSpcReduction="10000"/>
          </a:bodyPr>
          <a:lstStyle/>
          <a:p>
            <a:pPr marL="0" indent="0" algn="l">
              <a:buNone/>
            </a:pPr>
            <a:r>
              <a:rPr lang="en-US" sz="2400" b="1">
                <a:solidFill>
                  <a:srgbClr val="1A1A2E"/>
                </a:solidFill>
                <a:latin typeface="Arial" pitchFamily="34" charset="0"/>
                <a:ea typeface="Arial" pitchFamily="34" charset="-122"/>
                <a:cs typeface="Arial" pitchFamily="34" charset="-120"/>
              </a:rPr>
              <a:t>Results</a:t>
            </a:r>
            <a:endParaRPr lang="en-US" sz="2400"/>
          </a:p>
        </p:txBody>
      </p:sp>
      <p:sp>
        <p:nvSpPr>
          <p:cNvPr id="20" name="Text 18"/>
          <p:cNvSpPr/>
          <p:nvPr/>
        </p:nvSpPr>
        <p:spPr>
          <a:xfrm>
            <a:off x="6667500" y="5424488"/>
            <a:ext cx="6736378" cy="304800"/>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6B7280"/>
                </a:solidFill>
                <a:latin typeface="Arial"/>
                <a:ea typeface="Arial" pitchFamily="34" charset="-122"/>
                <a:cs typeface="Arial"/>
              </a:rPr>
              <a:t>Matching quality · descriptive patterns · scoring </a:t>
            </a:r>
            <a:endParaRPr lang="en-US" sz="1800">
              <a:latin typeface="Arial"/>
              <a:cs typeface="Arial"/>
            </a:endParaRPr>
          </a:p>
        </p:txBody>
      </p:sp>
      <p:sp>
        <p:nvSpPr>
          <p:cNvPr id="21" name="Text 19"/>
          <p:cNvSpPr/>
          <p:nvPr/>
        </p:nvSpPr>
        <p:spPr>
          <a:xfrm>
            <a:off x="1047750" y="6343650"/>
            <a:ext cx="933450" cy="447675"/>
          </a:xfrm>
          <a:prstGeom prst="rect">
            <a:avLst/>
          </a:prstGeom>
          <a:noFill/>
          <a:ln/>
        </p:spPr>
        <p:txBody>
          <a:bodyPr wrap="square" lIns="25400" tIns="25400" rIns="25400" bIns="25400" rtlCol="0" anchor="t">
            <a:normAutofit lnSpcReduction="10000"/>
          </a:bodyPr>
          <a:lstStyle/>
          <a:p>
            <a:pPr marL="0" indent="0" algn="l">
              <a:buNone/>
            </a:pPr>
            <a:r>
              <a:rPr lang="en-US" sz="2850" b="1">
                <a:solidFill>
                  <a:srgbClr val="98C6EA"/>
                </a:solidFill>
                <a:latin typeface="Arial" pitchFamily="34" charset="0"/>
                <a:ea typeface="Arial" pitchFamily="34" charset="-122"/>
                <a:cs typeface="Arial" pitchFamily="34" charset="-120"/>
              </a:rPr>
              <a:t>05.</a:t>
            </a:r>
            <a:endParaRPr lang="en-US" sz="2850"/>
          </a:p>
        </p:txBody>
      </p:sp>
      <p:sp>
        <p:nvSpPr>
          <p:cNvPr id="22" name="Text 20"/>
          <p:cNvSpPr/>
          <p:nvPr/>
        </p:nvSpPr>
        <p:spPr>
          <a:xfrm>
            <a:off x="2286000" y="6372225"/>
            <a:ext cx="4400550" cy="390525"/>
          </a:xfrm>
          <a:prstGeom prst="rect">
            <a:avLst/>
          </a:prstGeom>
          <a:noFill/>
          <a:ln/>
        </p:spPr>
        <p:txBody>
          <a:bodyPr wrap="square" lIns="25400" tIns="25400" rIns="25400" bIns="25400" rtlCol="0" anchor="t">
            <a:normAutofit lnSpcReduction="10000"/>
          </a:bodyPr>
          <a:lstStyle/>
          <a:p>
            <a:pPr marL="0" indent="0" algn="l">
              <a:buNone/>
            </a:pPr>
            <a:r>
              <a:rPr lang="en-US" sz="2400" b="1">
                <a:solidFill>
                  <a:srgbClr val="1A1A2E"/>
                </a:solidFill>
                <a:latin typeface="Arial" pitchFamily="34" charset="0"/>
                <a:ea typeface="Arial" pitchFamily="34" charset="-122"/>
                <a:cs typeface="Arial" pitchFamily="34" charset="-120"/>
              </a:rPr>
              <a:t>Discussion</a:t>
            </a:r>
            <a:endParaRPr lang="en-US" sz="2400"/>
          </a:p>
        </p:txBody>
      </p:sp>
      <p:sp>
        <p:nvSpPr>
          <p:cNvPr id="23" name="Text 21"/>
          <p:cNvSpPr/>
          <p:nvPr/>
        </p:nvSpPr>
        <p:spPr>
          <a:xfrm>
            <a:off x="6667500" y="6415088"/>
            <a:ext cx="3451845" cy="304800"/>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6B7280"/>
                </a:solidFill>
                <a:latin typeface="Arial" pitchFamily="34" charset="0"/>
                <a:ea typeface="Arial" pitchFamily="34" charset="-122"/>
                <a:cs typeface="Arial" pitchFamily="34" charset="-120"/>
              </a:rPr>
              <a:t>Limitations · policy implications</a:t>
            </a:r>
            <a:endParaRPr lang="en-US" sz="1800"/>
          </a:p>
        </p:txBody>
      </p:sp>
      <p:sp>
        <p:nvSpPr>
          <p:cNvPr id="24" name="Text 22"/>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5" name="Text 23"/>
          <p:cNvSpPr/>
          <p:nvPr/>
        </p:nvSpPr>
        <p:spPr>
          <a:xfrm>
            <a:off x="17245310" y="9715500"/>
            <a:ext cx="166390"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3</a:t>
            </a:r>
            <a:endParaRPr lang="en-US" sz="12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89421-61EE-27FF-6B7A-5E6E4A61BEE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FEA759C9-3775-156F-BD80-A9D8E7488B35}"/>
              </a:ext>
            </a:extLst>
          </p:cNvPr>
          <p:cNvSpPr/>
          <p:nvPr/>
        </p:nvSpPr>
        <p:spPr>
          <a:xfrm>
            <a:off x="-2" y="-2"/>
            <a:ext cx="18288000" cy="10287000"/>
          </a:xfrm>
          <a:prstGeom prst="rect">
            <a:avLst/>
          </a:prstGeom>
          <a:solidFill>
            <a:srgbClr val="005293">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gn="ctr">
              <a:lnSpc>
                <a:spcPct val="114000"/>
              </a:lnSpc>
            </a:pPr>
            <a:endParaRPr lang="en-US"/>
          </a:p>
        </p:txBody>
      </p:sp>
      <p:graphicFrame>
        <p:nvGraphicFramePr>
          <p:cNvPr id="6" name="think-cell data - do not delete" hidden="1">
            <a:extLst>
              <a:ext uri="{FF2B5EF4-FFF2-40B4-BE49-F238E27FC236}">
                <a16:creationId xmlns:a16="http://schemas.microsoft.com/office/drawing/2014/main" id="{6289CFE7-B66E-8B0A-E157-A7D42CA15B1A}"/>
              </a:ext>
            </a:extLst>
          </p:cNvPr>
          <p:cNvGraphicFramePr>
            <a:graphicFrameLocks/>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404" imgH="403" progId="TCLayout.ActiveDocument.1">
                  <p:embed/>
                </p:oleObj>
              </mc:Choice>
              <mc:Fallback>
                <p:oleObj name="think-cell Slide" r:id="rId4" imgW="404" imgH="403" progId="TCLayout.ActiveDocument.1">
                  <p:embed/>
                  <p:pic>
                    <p:nvPicPr>
                      <p:cNvPr id="6" name="think-cell data - do not delete" hidden="1">
                        <a:extLst>
                          <a:ext uri="{FF2B5EF4-FFF2-40B4-BE49-F238E27FC236}">
                            <a16:creationId xmlns:a16="http://schemas.microsoft.com/office/drawing/2014/main" id="{6289CFE7-B66E-8B0A-E157-A7D42CA15B1A}"/>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1026" name="Picture 2" descr="Offshore wind energy | RVO.nl">
            <a:extLst>
              <a:ext uri="{FF2B5EF4-FFF2-40B4-BE49-F238E27FC236}">
                <a16:creationId xmlns:a16="http://schemas.microsoft.com/office/drawing/2014/main" id="{D735441D-DD55-D2C5-4572-78CC9284F9A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26325" b="35318"/>
          <a:stretch>
            <a:fillRect/>
          </a:stretch>
        </p:blipFill>
        <p:spPr bwMode="auto">
          <a:xfrm>
            <a:off x="0" y="-1"/>
            <a:ext cx="18288000" cy="10287002"/>
          </a:xfrm>
          <a:prstGeom prst="rect">
            <a:avLst/>
          </a:prstGeom>
          <a:noFill/>
        </p:spPr>
      </p:pic>
      <p:pic>
        <p:nvPicPr>
          <p:cNvPr id="11" name="Picture 10">
            <a:extLst>
              <a:ext uri="{FF2B5EF4-FFF2-40B4-BE49-F238E27FC236}">
                <a16:creationId xmlns:a16="http://schemas.microsoft.com/office/drawing/2014/main" id="{48BACB4F-5DB1-1B61-6DCF-18C9FA53EC1E}"/>
              </a:ext>
            </a:extLst>
          </p:cNvPr>
          <p:cNvPicPr>
            <a:picLocks noChangeAspect="1"/>
          </p:cNvPicPr>
          <p:nvPr/>
        </p:nvPicPr>
        <p:blipFill>
          <a:blip r:embed="rId7"/>
          <a:stretch>
            <a:fillRect/>
          </a:stretch>
        </p:blipFill>
        <p:spPr>
          <a:xfrm>
            <a:off x="16623018" y="531203"/>
            <a:ext cx="1059148" cy="965774"/>
          </a:xfrm>
          <a:prstGeom prst="rect">
            <a:avLst/>
          </a:prstGeom>
        </p:spPr>
      </p:pic>
      <p:sp>
        <p:nvSpPr>
          <p:cNvPr id="2" name="Titel 4">
            <a:extLst>
              <a:ext uri="{FF2B5EF4-FFF2-40B4-BE49-F238E27FC236}">
                <a16:creationId xmlns:a16="http://schemas.microsoft.com/office/drawing/2014/main" id="{AAC0679E-FDA2-E02E-CAE7-C839CCD3C941}"/>
              </a:ext>
            </a:extLst>
          </p:cNvPr>
          <p:cNvSpPr txBox="1">
            <a:spLocks/>
          </p:cNvSpPr>
          <p:nvPr/>
        </p:nvSpPr>
        <p:spPr>
          <a:xfrm>
            <a:off x="942981" y="2248798"/>
            <a:ext cx="17017998" cy="200840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14999"/>
              </a:lnSpc>
              <a:spcBef>
                <a:spcPts val="0"/>
              </a:spcBef>
              <a:spcAft>
                <a:spcPts val="0"/>
              </a:spcAft>
            </a:pPr>
            <a:r>
              <a:rPr lang="en-US" sz="6400" b="1" dirty="0">
                <a:solidFill>
                  <a:srgbClr val="0070C0"/>
                </a:solidFill>
                <a:latin typeface="Arial Nova"/>
                <a:cs typeface="Arial"/>
              </a:rPr>
              <a:t>Chapter 1:</a:t>
            </a:r>
          </a:p>
          <a:p>
            <a:pPr>
              <a:lnSpc>
                <a:spcPct val="114999"/>
              </a:lnSpc>
              <a:spcBef>
                <a:spcPts val="0"/>
              </a:spcBef>
              <a:spcAft>
                <a:spcPts val="0"/>
              </a:spcAft>
            </a:pPr>
            <a:r>
              <a:rPr lang="en-US" sz="6400" b="1" dirty="0">
                <a:solidFill>
                  <a:srgbClr val="0070C0"/>
                </a:solidFill>
                <a:latin typeface="Arial Nova"/>
                <a:cs typeface="Arial"/>
              </a:rPr>
              <a:t>Background</a:t>
            </a:r>
            <a:endParaRPr lang="en-US" sz="7200" b="1" dirty="0">
              <a:latin typeface="Arial Nova" panose="020F0502020204030204" pitchFamily="34" charset="0"/>
            </a:endParaRPr>
          </a:p>
        </p:txBody>
      </p:sp>
    </p:spTree>
    <p:extLst>
      <p:ext uri="{BB962C8B-B14F-4D97-AF65-F5344CB8AC3E}">
        <p14:creationId xmlns:p14="http://schemas.microsoft.com/office/powerpoint/2010/main" val="612717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048500" cy="10287000"/>
          </a:xfrm>
          <a:prstGeom prst="rect">
            <a:avLst/>
          </a:prstGeom>
          <a:solidFill>
            <a:srgbClr val="12395F"/>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3" name="Text 1"/>
          <p:cNvSpPr/>
          <p:nvPr/>
        </p:nvSpPr>
        <p:spPr>
          <a:xfrm>
            <a:off x="533401" y="571500"/>
            <a:ext cx="6747510" cy="304800"/>
          </a:xfrm>
          <a:prstGeom prst="rect">
            <a:avLst/>
          </a:prstGeom>
          <a:noFill/>
          <a:ln/>
        </p:spPr>
        <p:txBody>
          <a:bodyPr wrap="square" lIns="25400" tIns="25400" rIns="25400" bIns="25400" rtlCol="0" anchor="t">
            <a:normAutofit lnSpcReduction="1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1800" b="1" kern="0" spc="226">
                <a:solidFill>
                  <a:srgbClr val="8FB4DC"/>
                </a:solidFill>
                <a:latin typeface="Arial" pitchFamily="34" charset="0"/>
                <a:ea typeface="Arial" pitchFamily="34" charset="-122"/>
                <a:cs typeface="Arial" pitchFamily="34" charset="-120"/>
              </a:rPr>
              <a:t>WHAT IS REDISPATCH?</a:t>
            </a:r>
            <a:endParaRPr lang="en-US" sz="1800"/>
          </a:p>
        </p:txBody>
      </p:sp>
      <p:pic>
        <p:nvPicPr>
          <p:cNvPr id="4"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3400" y="914400"/>
            <a:ext cx="6134100" cy="7091760"/>
          </a:xfrm>
          <a:prstGeom prst="rect">
            <a:avLst/>
          </a:prstGeom>
        </p:spPr>
      </p:pic>
      <p:sp>
        <p:nvSpPr>
          <p:cNvPr id="5" name="Shape 2"/>
          <p:cNvSpPr/>
          <p:nvPr/>
        </p:nvSpPr>
        <p:spPr>
          <a:xfrm>
            <a:off x="533400" y="8158561"/>
            <a:ext cx="6134100" cy="9526"/>
          </a:xfrm>
          <a:prstGeom prst="rect">
            <a:avLst/>
          </a:prstGeom>
          <a:solidFill>
            <a:srgbClr val="FFFFFF">
              <a:alpha val="25000"/>
            </a:srgbClr>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6" name="Text 3"/>
          <p:cNvSpPr/>
          <p:nvPr/>
        </p:nvSpPr>
        <p:spPr>
          <a:xfrm>
            <a:off x="533400" y="8393510"/>
            <a:ext cx="6318124" cy="1474392"/>
          </a:xfrm>
          <a:prstGeom prst="rect">
            <a:avLst/>
          </a:prstGeom>
          <a:noFill/>
          <a:ln/>
        </p:spPr>
        <p:txBody>
          <a:bodyPr wrap="square" lIns="25400" tIns="25400" rIns="25400" bIns="25400" rtlCol="0" anchor="t">
            <a:normAutofit fontScale="92500" lnSpcReduction="2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45000"/>
              </a:lnSpc>
            </a:pPr>
            <a:r>
              <a:rPr lang="en-US" sz="1950">
                <a:solidFill>
                  <a:srgbClr val="FFFFFF"/>
                </a:solidFill>
                <a:latin typeface="Arial" pitchFamily="34" charset="0"/>
                <a:ea typeface="Arial" pitchFamily="34" charset="-122"/>
                <a:cs typeface="Arial" pitchFamily="34" charset="-120"/>
              </a:rPr>
              <a:t>One national power price, but the grid can’t always deliver what the market trades. </a:t>
            </a:r>
            <a:r>
              <a:rPr lang="en-US" sz="1950" b="1">
                <a:solidFill>
                  <a:srgbClr val="FFFFFF"/>
                </a:solidFill>
                <a:latin typeface="Arial" pitchFamily="34" charset="0"/>
                <a:ea typeface="Arial" pitchFamily="34" charset="-122"/>
                <a:cs typeface="Arial" pitchFamily="34" charset="-120"/>
              </a:rPr>
              <a:t>Redispatch </a:t>
            </a:r>
            <a:r>
              <a:rPr lang="en-US" sz="1950">
                <a:solidFill>
                  <a:srgbClr val="FFFFFF"/>
                </a:solidFill>
                <a:latin typeface="Arial" pitchFamily="34" charset="0"/>
                <a:ea typeface="Arial" pitchFamily="34" charset="-122"/>
                <a:cs typeface="Arial" pitchFamily="34" charset="-120"/>
              </a:rPr>
              <a:t>is the grid operator overriding the market to keep lines within limits, compensating both sides.</a:t>
            </a:r>
            <a:endParaRPr lang="en-US" sz="1950"/>
          </a:p>
        </p:txBody>
      </p:sp>
      <p:sp>
        <p:nvSpPr>
          <p:cNvPr id="7" name="Text 4"/>
          <p:cNvSpPr/>
          <p:nvPr/>
        </p:nvSpPr>
        <p:spPr>
          <a:xfrm>
            <a:off x="7734301" y="533401"/>
            <a:ext cx="7069258" cy="273050"/>
          </a:xfrm>
          <a:prstGeom prst="rect">
            <a:avLst/>
          </a:prstGeom>
          <a:noFill/>
          <a:ln/>
        </p:spPr>
        <p:txBody>
          <a:bodyPr wrap="square" lIns="25400" tIns="25400" rIns="25400" bIns="25400" rtlCol="0" anchor="t">
            <a:normAutofit lnSpcReduction="1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sz="1550" b="1">
              <a:solidFill>
                <a:srgbClr val="1F5FA9"/>
              </a:solidFill>
            </a:endParaRPr>
          </a:p>
        </p:txBody>
      </p:sp>
      <p:sp>
        <p:nvSpPr>
          <p:cNvPr id="8" name="Text 5"/>
          <p:cNvSpPr/>
          <p:nvPr/>
        </p:nvSpPr>
        <p:spPr>
          <a:xfrm>
            <a:off x="7734301" y="1295401"/>
            <a:ext cx="10163938" cy="1211462"/>
          </a:xfrm>
          <a:prstGeom prst="rect">
            <a:avLst/>
          </a:prstGeom>
          <a:noFill/>
          <a:ln/>
        </p:spPr>
        <p:txBody>
          <a:bodyPr wrap="square" lIns="25400" tIns="25400" rIns="25400" bIns="25400" rtlCol="0" anchor="t">
            <a:normAutofit fontScale="92500" lnSpcReduction="2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10000"/>
              </a:lnSpc>
            </a:pPr>
            <a:r>
              <a:rPr lang="en-US" sz="4200" b="1" kern="0" spc="-38">
                <a:solidFill>
                  <a:srgbClr val="1A1A1A"/>
                </a:solidFill>
                <a:latin typeface="Arial" pitchFamily="34" charset="0"/>
                <a:ea typeface="Arial" pitchFamily="34" charset="-122"/>
                <a:cs typeface="Arial" pitchFamily="34" charset="-120"/>
              </a:rPr>
              <a:t>Fixing the market’s blind spot costs billions</a:t>
            </a:r>
            <a:endParaRPr lang="en-US" sz="4200"/>
          </a:p>
        </p:txBody>
      </p:sp>
      <p:sp>
        <p:nvSpPr>
          <p:cNvPr id="9" name="Shape 6"/>
          <p:cNvSpPr/>
          <p:nvPr/>
        </p:nvSpPr>
        <p:spPr>
          <a:xfrm>
            <a:off x="7734300" y="3309343"/>
            <a:ext cx="9867900" cy="1658542"/>
          </a:xfrm>
          <a:prstGeom prst="rect">
            <a:avLst/>
          </a:prstGeom>
          <a:solidFill>
            <a:srgbClr val="F2F5F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10" name="Shape 7"/>
          <p:cNvSpPr/>
          <p:nvPr/>
        </p:nvSpPr>
        <p:spPr>
          <a:xfrm>
            <a:off x="7734300" y="3309343"/>
            <a:ext cx="76200" cy="1658542"/>
          </a:xfrm>
          <a:prstGeom prst="rect">
            <a:avLst/>
          </a:prstGeom>
          <a:solidFill>
            <a:srgbClr val="1F5FA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11" name="Text 8"/>
          <p:cNvSpPr/>
          <p:nvPr/>
        </p:nvSpPr>
        <p:spPr>
          <a:xfrm>
            <a:off x="8153400" y="3500439"/>
            <a:ext cx="3771900" cy="1276350"/>
          </a:xfrm>
          <a:prstGeom prst="rect">
            <a:avLst/>
          </a:prstGeom>
          <a:noFill/>
          <a:ln/>
        </p:spPr>
        <p:txBody>
          <a:bodyPr wrap="none" lIns="25400" tIns="25400" rIns="25400" bIns="25400" rtlCol="0" anchor="ctr">
            <a:norm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4000" b="1" dirty="0">
                <a:solidFill>
                  <a:srgbClr val="1F5FA9"/>
                </a:solidFill>
                <a:latin typeface="Arial" pitchFamily="34" charset="0"/>
                <a:ea typeface="Arial" pitchFamily="34" charset="-122"/>
                <a:cs typeface="Arial" pitchFamily="34" charset="-120"/>
              </a:rPr>
              <a:t>€2.8 bn</a:t>
            </a:r>
            <a:r>
              <a:rPr lang="en-US" sz="4000" b="1" baseline="30000" dirty="0">
                <a:solidFill>
                  <a:srgbClr val="8AA5C4"/>
                </a:solidFill>
                <a:latin typeface="Arial" pitchFamily="34" charset="0"/>
                <a:ea typeface="Arial" pitchFamily="34" charset="-122"/>
                <a:cs typeface="Arial" pitchFamily="34" charset="-120"/>
              </a:rPr>
              <a:t> 1</a:t>
            </a:r>
            <a:endParaRPr lang="en-US" sz="4000" baseline="30000" dirty="0"/>
          </a:p>
        </p:txBody>
      </p:sp>
      <p:sp>
        <p:nvSpPr>
          <p:cNvPr id="12" name="Text 9"/>
          <p:cNvSpPr/>
          <p:nvPr/>
        </p:nvSpPr>
        <p:spPr>
          <a:xfrm>
            <a:off x="11925300" y="3772893"/>
            <a:ext cx="5494020" cy="731442"/>
          </a:xfrm>
          <a:prstGeom prst="rect">
            <a:avLst/>
          </a:prstGeom>
          <a:noFill/>
          <a:ln/>
        </p:spPr>
        <p:txBody>
          <a:bodyPr wrap="square" lIns="25400" tIns="25400" rIns="25400" bIns="25400" rtlCol="0" anchor="t">
            <a:normAutofit fontScale="92500" lnSpcReduction="1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40000"/>
              </a:lnSpc>
            </a:pPr>
            <a:r>
              <a:rPr lang="en-US" sz="1950">
                <a:solidFill>
                  <a:srgbClr val="333333"/>
                </a:solidFill>
                <a:latin typeface="Arial" pitchFamily="34" charset="0"/>
                <a:ea typeface="Arial" pitchFamily="34" charset="-122"/>
                <a:cs typeface="Arial" pitchFamily="34" charset="-120"/>
              </a:rPr>
              <a:t>spent on redispatch in 2024, </a:t>
            </a:r>
            <a:r>
              <a:rPr lang="en-US" sz="1950" b="1">
                <a:solidFill>
                  <a:srgbClr val="333333"/>
                </a:solidFill>
                <a:latin typeface="Arial" pitchFamily="34" charset="0"/>
                <a:ea typeface="Arial" pitchFamily="34" charset="-122"/>
                <a:cs typeface="Arial" pitchFamily="34" charset="-120"/>
              </a:rPr>
              <a:t>15× more than a decade ago</a:t>
            </a:r>
            <a:endParaRPr lang="en-US" sz="1950"/>
          </a:p>
        </p:txBody>
      </p:sp>
      <p:sp>
        <p:nvSpPr>
          <p:cNvPr id="13" name="Shape 10"/>
          <p:cNvSpPr/>
          <p:nvPr/>
        </p:nvSpPr>
        <p:spPr>
          <a:xfrm>
            <a:off x="7734300" y="5234585"/>
            <a:ext cx="9867900" cy="1658542"/>
          </a:xfrm>
          <a:prstGeom prst="rect">
            <a:avLst/>
          </a:prstGeom>
          <a:solidFill>
            <a:srgbClr val="F2F5F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14" name="Shape 11"/>
          <p:cNvSpPr/>
          <p:nvPr/>
        </p:nvSpPr>
        <p:spPr>
          <a:xfrm>
            <a:off x="7734300" y="5234585"/>
            <a:ext cx="76200" cy="1658542"/>
          </a:xfrm>
          <a:prstGeom prst="rect">
            <a:avLst/>
          </a:prstGeom>
          <a:solidFill>
            <a:srgbClr val="1F5FA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15" name="Text 12"/>
          <p:cNvSpPr/>
          <p:nvPr/>
        </p:nvSpPr>
        <p:spPr>
          <a:xfrm>
            <a:off x="8153401" y="5682854"/>
            <a:ext cx="4138722" cy="762000"/>
          </a:xfrm>
          <a:prstGeom prst="rect">
            <a:avLst/>
          </a:prstGeom>
          <a:noFill/>
          <a:ln/>
        </p:spPr>
        <p:txBody>
          <a:bodyPr wrap="none" lIns="25400" tIns="25400" rIns="25400" bIns="25400" rtlCol="0" anchor="ctr">
            <a:norm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4000" b="1" dirty="0">
                <a:solidFill>
                  <a:srgbClr val="1F5FA9"/>
                </a:solidFill>
                <a:latin typeface="Arial" pitchFamily="34" charset="0"/>
                <a:ea typeface="Arial" pitchFamily="34" charset="-122"/>
                <a:cs typeface="Arial" pitchFamily="34" charset="-120"/>
              </a:rPr>
              <a:t>€0.18 /kWh</a:t>
            </a:r>
            <a:r>
              <a:rPr lang="en-US" sz="4000" b="1" baseline="30000" dirty="0">
                <a:solidFill>
                  <a:srgbClr val="8AA5C4"/>
                </a:solidFill>
                <a:latin typeface="Arial" pitchFamily="34" charset="0"/>
                <a:ea typeface="Arial" pitchFamily="34" charset="-122"/>
                <a:cs typeface="Arial" pitchFamily="34" charset="-120"/>
              </a:rPr>
              <a:t> 2</a:t>
            </a:r>
            <a:endParaRPr lang="en-US" sz="4000" dirty="0"/>
          </a:p>
        </p:txBody>
      </p:sp>
      <p:sp>
        <p:nvSpPr>
          <p:cNvPr id="16" name="Text 13"/>
          <p:cNvSpPr/>
          <p:nvPr/>
        </p:nvSpPr>
        <p:spPr>
          <a:xfrm>
            <a:off x="11925301" y="5698135"/>
            <a:ext cx="5150542" cy="731442"/>
          </a:xfrm>
          <a:prstGeom prst="rect">
            <a:avLst/>
          </a:prstGeom>
          <a:noFill/>
          <a:ln/>
        </p:spPr>
        <p:txBody>
          <a:bodyPr wrap="square" lIns="25400" tIns="25400" rIns="25400" bIns="25400" rtlCol="0" anchor="ctr">
            <a:normAutofit fontScale="92500" lnSpcReduction="1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40000"/>
              </a:lnSpc>
            </a:pPr>
            <a:r>
              <a:rPr lang="en-US" sz="1950">
                <a:solidFill>
                  <a:srgbClr val="333333"/>
                </a:solidFill>
                <a:latin typeface="Arial" pitchFamily="34" charset="0"/>
                <a:ea typeface="Arial" pitchFamily="34" charset="-122"/>
                <a:cs typeface="Arial" pitchFamily="34" charset="-120"/>
              </a:rPr>
              <a:t>Forecasted increase in household grid fees until 2045 </a:t>
            </a:r>
            <a:endParaRPr lang="en-US" sz="1950"/>
          </a:p>
        </p:txBody>
      </p:sp>
      <p:sp>
        <p:nvSpPr>
          <p:cNvPr id="17" name="Shape 14"/>
          <p:cNvSpPr/>
          <p:nvPr/>
        </p:nvSpPr>
        <p:spPr>
          <a:xfrm>
            <a:off x="7734300" y="7159825"/>
            <a:ext cx="9867900" cy="1311870"/>
          </a:xfrm>
          <a:prstGeom prst="rect">
            <a:avLst/>
          </a:prstGeom>
          <a:solidFill>
            <a:srgbClr val="F2F5F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18" name="Shape 15"/>
          <p:cNvSpPr/>
          <p:nvPr/>
        </p:nvSpPr>
        <p:spPr>
          <a:xfrm>
            <a:off x="7734300" y="7159825"/>
            <a:ext cx="76200" cy="1311870"/>
          </a:xfrm>
          <a:prstGeom prst="rect">
            <a:avLst/>
          </a:prstGeom>
          <a:solidFill>
            <a:srgbClr val="1F5FA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19" name="Text 16"/>
          <p:cNvSpPr/>
          <p:nvPr/>
        </p:nvSpPr>
        <p:spPr>
          <a:xfrm>
            <a:off x="8153401" y="7434758"/>
            <a:ext cx="4157930" cy="762000"/>
          </a:xfrm>
          <a:prstGeom prst="rect">
            <a:avLst/>
          </a:prstGeom>
          <a:noFill/>
          <a:ln/>
        </p:spPr>
        <p:txBody>
          <a:bodyPr wrap="none" lIns="25400" tIns="25400" rIns="25400" bIns="25400" rtlCol="0" anchor="ctr">
            <a:norm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4000" b="1" dirty="0">
                <a:solidFill>
                  <a:srgbClr val="1F5FA9"/>
                </a:solidFill>
                <a:latin typeface="Arial" pitchFamily="34" charset="0"/>
                <a:ea typeface="Arial" pitchFamily="34" charset="-122"/>
                <a:cs typeface="Arial" pitchFamily="34" charset="-120"/>
              </a:rPr>
              <a:t>€16.3 bn </a:t>
            </a:r>
            <a:r>
              <a:rPr lang="en-US" sz="4000" b="1" baseline="30000" dirty="0">
                <a:solidFill>
                  <a:srgbClr val="8AA5C4"/>
                </a:solidFill>
                <a:latin typeface="Arial" pitchFamily="34" charset="0"/>
                <a:ea typeface="Arial" pitchFamily="34" charset="-122"/>
                <a:cs typeface="Arial" pitchFamily="34" charset="-120"/>
              </a:rPr>
              <a:t>3</a:t>
            </a:r>
            <a:endParaRPr lang="en-US" sz="4000" dirty="0"/>
          </a:p>
        </p:txBody>
      </p:sp>
      <p:sp>
        <p:nvSpPr>
          <p:cNvPr id="20" name="Text 17"/>
          <p:cNvSpPr/>
          <p:nvPr/>
        </p:nvSpPr>
        <p:spPr>
          <a:xfrm>
            <a:off x="11925301" y="7623375"/>
            <a:ext cx="5435422" cy="384770"/>
          </a:xfrm>
          <a:prstGeom prst="rect">
            <a:avLst/>
          </a:prstGeom>
          <a:noFill/>
          <a:ln/>
        </p:spPr>
        <p:txBody>
          <a:bodyPr wrap="square" lIns="25400" tIns="25400" rIns="25400" bIns="25400" rtlCol="0" anchor="ctr">
            <a:normAutofit fontScale="92500" lnSpcReduction="1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40000"/>
              </a:lnSpc>
            </a:pPr>
            <a:r>
              <a:rPr lang="en-US" sz="1950">
                <a:solidFill>
                  <a:srgbClr val="333333"/>
                </a:solidFill>
                <a:latin typeface="Arial" pitchFamily="34" charset="0"/>
                <a:ea typeface="Arial" pitchFamily="34" charset="-122"/>
                <a:cs typeface="Arial" pitchFamily="34" charset="-120"/>
              </a:rPr>
              <a:t>more forecasted for 2025-2028, </a:t>
            </a:r>
            <a:r>
              <a:rPr lang="en-US" sz="1950" b="1">
                <a:solidFill>
                  <a:srgbClr val="333333"/>
                </a:solidFill>
                <a:latin typeface="Arial" pitchFamily="34" charset="0"/>
                <a:ea typeface="Arial" pitchFamily="34" charset="-122"/>
                <a:cs typeface="Arial" pitchFamily="34" charset="-120"/>
              </a:rPr>
              <a:t>and still rising</a:t>
            </a:r>
            <a:endParaRPr lang="en-US" sz="1950"/>
          </a:p>
        </p:txBody>
      </p:sp>
      <p:sp>
        <p:nvSpPr>
          <p:cNvPr id="21" name="Text 18"/>
          <p:cNvSpPr/>
          <p:nvPr/>
        </p:nvSpPr>
        <p:spPr>
          <a:xfrm>
            <a:off x="7734301" y="9197977"/>
            <a:ext cx="10854690" cy="288926"/>
          </a:xfrm>
          <a:prstGeom prst="rect">
            <a:avLst/>
          </a:prstGeom>
          <a:noFill/>
          <a:ln/>
        </p:spPr>
        <p:txBody>
          <a:bodyPr wrap="square" lIns="25400" tIns="25400" rIns="25400" bIns="25400" rtlCol="0" anchor="t">
            <a:normAutofit lnSpcReduction="1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1188" i="1" baseline="30000">
                <a:solidFill>
                  <a:srgbClr val="999999"/>
                </a:solidFill>
                <a:latin typeface="Arial" pitchFamily="34" charset="0"/>
                <a:ea typeface="Arial" pitchFamily="34" charset="-122"/>
                <a:cs typeface="Arial" pitchFamily="34" charset="-120"/>
              </a:rPr>
              <a:t>1 </a:t>
            </a:r>
            <a:r>
              <a:rPr lang="en-US" sz="1426" i="1">
                <a:solidFill>
                  <a:srgbClr val="999999"/>
                </a:solidFill>
                <a:latin typeface="Arial" pitchFamily="34" charset="0"/>
                <a:ea typeface="Arial" pitchFamily="34" charset="-122"/>
                <a:cs typeface="Arial" pitchFamily="34" charset="-120"/>
              </a:rPr>
              <a:t>SMARD / </a:t>
            </a:r>
            <a:r>
              <a:rPr lang="en-US" sz="1400" i="1" baseline="30000">
                <a:solidFill>
                  <a:srgbClr val="999999"/>
                </a:solidFill>
                <a:latin typeface="Arial" pitchFamily="34" charset="0"/>
                <a:ea typeface="Arial" pitchFamily="34" charset="-122"/>
                <a:cs typeface="Arial" pitchFamily="34" charset="-120"/>
              </a:rPr>
              <a:t>2 </a:t>
            </a:r>
            <a:r>
              <a:rPr lang="en-US" sz="1600">
                <a:solidFill>
                  <a:srgbClr val="999999"/>
                </a:solidFill>
                <a:latin typeface="Arial Nova" panose="020B0504020202020204" pitchFamily="34" charset="0"/>
                <a:cs typeface="Arial" panose="020B0604020202020204" pitchFamily="34" charset="0"/>
              </a:rPr>
              <a:t>EWI Köln </a:t>
            </a:r>
            <a:r>
              <a:rPr lang="en-US" sz="1426" i="1">
                <a:solidFill>
                  <a:srgbClr val="999999"/>
                </a:solidFill>
                <a:latin typeface="Arial" pitchFamily="34" charset="0"/>
                <a:ea typeface="Arial" pitchFamily="34" charset="-122"/>
                <a:cs typeface="Arial" pitchFamily="34" charset="-120"/>
              </a:rPr>
              <a:t>/ </a:t>
            </a:r>
            <a:r>
              <a:rPr lang="en-US" sz="1188" i="1" baseline="30000">
                <a:solidFill>
                  <a:srgbClr val="999999"/>
                </a:solidFill>
                <a:latin typeface="Arial" pitchFamily="34" charset="0"/>
                <a:ea typeface="Arial" pitchFamily="34" charset="-122"/>
                <a:cs typeface="Arial" pitchFamily="34" charset="-120"/>
              </a:rPr>
              <a:t> 3 </a:t>
            </a:r>
            <a:r>
              <a:rPr lang="en-US" sz="1426" i="1" err="1">
                <a:solidFill>
                  <a:srgbClr val="999999"/>
                </a:solidFill>
                <a:latin typeface="Arial" pitchFamily="34" charset="0"/>
                <a:ea typeface="Arial" pitchFamily="34" charset="-122"/>
                <a:cs typeface="Arial" pitchFamily="34" charset="-120"/>
              </a:rPr>
              <a:t>BNetzA</a:t>
            </a:r>
            <a:r>
              <a:rPr lang="en-US" sz="1426" i="1">
                <a:solidFill>
                  <a:srgbClr val="999999"/>
                </a:solidFill>
                <a:latin typeface="Arial" pitchFamily="34" charset="0"/>
                <a:ea typeface="Arial" pitchFamily="34" charset="-122"/>
                <a:cs typeface="Arial" pitchFamily="34" charset="-120"/>
              </a:rPr>
              <a:t> TSO (ÜNB) forecast</a:t>
            </a:r>
            <a:endParaRPr lang="en-US" sz="1426"/>
          </a:p>
        </p:txBody>
      </p:sp>
      <p:sp>
        <p:nvSpPr>
          <p:cNvPr id="23" name="Text 20"/>
          <p:cNvSpPr/>
          <p:nvPr/>
        </p:nvSpPr>
        <p:spPr>
          <a:xfrm>
            <a:off x="17475003" y="9639300"/>
            <a:ext cx="203398" cy="304800"/>
          </a:xfrm>
          <a:prstGeom prst="rect">
            <a:avLst/>
          </a:prstGeom>
          <a:noFill/>
          <a:ln/>
        </p:spPr>
        <p:txBody>
          <a:bodyPr wrap="square" lIns="25400" tIns="25400" rIns="25400" bIns="25400" rtlCol="0" anchor="t">
            <a:normAutofit lnSpcReduction="1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1800">
                <a:solidFill>
                  <a:srgbClr val="1A1A1A"/>
                </a:solidFill>
                <a:latin typeface="Arial" pitchFamily="34" charset="0"/>
                <a:ea typeface="Arial" pitchFamily="34" charset="-122"/>
                <a:cs typeface="Arial" pitchFamily="34" charset="-120"/>
              </a:rPr>
              <a:t>6</a:t>
            </a:r>
            <a:endParaRPr lang="en-US" sz="1800"/>
          </a:p>
        </p:txBody>
      </p:sp>
      <p:sp>
        <p:nvSpPr>
          <p:cNvPr id="25" name="Text 22">
            <a:extLst>
              <a:ext uri="{FF2B5EF4-FFF2-40B4-BE49-F238E27FC236}">
                <a16:creationId xmlns:a16="http://schemas.microsoft.com/office/drawing/2014/main" id="{5B54FFD2-1CB1-FB8E-6A24-971FCB20F6E2}"/>
              </a:ext>
            </a:extLst>
          </p:cNvPr>
          <p:cNvSpPr/>
          <p:nvPr/>
        </p:nvSpPr>
        <p:spPr>
          <a:xfrm>
            <a:off x="7734300" y="9628415"/>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Tree>
    <p:extLst>
      <p:ext uri="{BB962C8B-B14F-4D97-AF65-F5344CB8AC3E}">
        <p14:creationId xmlns:p14="http://schemas.microsoft.com/office/powerpoint/2010/main" val="2225351263"/>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048500" cy="10287000"/>
          </a:xfrm>
          <a:prstGeom prst="rect">
            <a:avLst/>
          </a:prstGeom>
          <a:solidFill>
            <a:srgbClr val="12395F"/>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3" name="Text 1"/>
          <p:cNvSpPr/>
          <p:nvPr/>
        </p:nvSpPr>
        <p:spPr>
          <a:xfrm>
            <a:off x="533401" y="571500"/>
            <a:ext cx="6747510" cy="304800"/>
          </a:xfrm>
          <a:prstGeom prst="rect">
            <a:avLst/>
          </a:prstGeom>
          <a:noFill/>
          <a:ln/>
        </p:spPr>
        <p:txBody>
          <a:bodyPr wrap="square" lIns="25400" tIns="25400" rIns="25400" bIns="25400" rtlCol="0" anchor="t">
            <a:normAutofit lnSpcReduction="1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1800" b="1" kern="0" spc="226">
                <a:solidFill>
                  <a:srgbClr val="8FB4DC"/>
                </a:solidFill>
                <a:latin typeface="Arial" pitchFamily="34" charset="0"/>
                <a:ea typeface="Arial" pitchFamily="34" charset="-122"/>
                <a:cs typeface="Arial" pitchFamily="34" charset="-120"/>
              </a:rPr>
              <a:t>WHY THIS PAPER, WHY NOW</a:t>
            </a:r>
            <a:endParaRPr lang="en-US" sz="1800"/>
          </a:p>
        </p:txBody>
      </p:sp>
      <p:sp>
        <p:nvSpPr>
          <p:cNvPr id="5" name="Shape 2"/>
          <p:cNvSpPr/>
          <p:nvPr/>
        </p:nvSpPr>
        <p:spPr>
          <a:xfrm>
            <a:off x="533400" y="8158561"/>
            <a:ext cx="6134100" cy="9526"/>
          </a:xfrm>
          <a:prstGeom prst="rect">
            <a:avLst/>
          </a:prstGeom>
          <a:solidFill>
            <a:srgbClr val="FFFFFF">
              <a:alpha val="25000"/>
            </a:srgbClr>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6" name="Text 3"/>
          <p:cNvSpPr/>
          <p:nvPr/>
        </p:nvSpPr>
        <p:spPr>
          <a:xfrm>
            <a:off x="533400" y="8393510"/>
            <a:ext cx="6318124" cy="1474392"/>
          </a:xfrm>
          <a:prstGeom prst="rect">
            <a:avLst/>
          </a:prstGeom>
          <a:noFill/>
          <a:ln/>
        </p:spPr>
        <p:txBody>
          <a:bodyPr wrap="square" lIns="25400" tIns="25400" rIns="25400" bIns="25400" rtlCol="0" anchor="t">
            <a:normAutofit fontScale="92500" lnSpcReduction="2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45000"/>
              </a:lnSpc>
            </a:pPr>
            <a:r>
              <a:rPr lang="en-US" sz="1950">
                <a:solidFill>
                  <a:srgbClr val="FFFFFF"/>
                </a:solidFill>
                <a:latin typeface="Arial" pitchFamily="34" charset="0"/>
                <a:ea typeface="Arial" pitchFamily="34" charset="-122"/>
                <a:cs typeface="Arial" pitchFamily="34" charset="-120"/>
              </a:rPr>
              <a:t>Batteries could bridge the congestion gap, but their grid value depends on location. </a:t>
            </a:r>
            <a:r>
              <a:rPr lang="en-US" sz="1950" b="1">
                <a:solidFill>
                  <a:srgbClr val="FFFFFF"/>
                </a:solidFill>
                <a:latin typeface="Arial" pitchFamily="34" charset="0"/>
                <a:ea typeface="Arial" pitchFamily="34" charset="-122"/>
                <a:cs typeface="Arial" pitchFamily="34" charset="-120"/>
              </a:rPr>
              <a:t>The uniform price carries no locational signal</a:t>
            </a:r>
            <a:r>
              <a:rPr lang="en-US" sz="1950">
                <a:solidFill>
                  <a:srgbClr val="FFFFFF"/>
                </a:solidFill>
                <a:latin typeface="Arial" pitchFamily="34" charset="0"/>
                <a:ea typeface="Arial" pitchFamily="34" charset="-122"/>
                <a:cs typeface="Arial" pitchFamily="34" charset="-120"/>
              </a:rPr>
              <a:t>, so siting follows land, permits and grid-connection queues, not congestion.</a:t>
            </a:r>
            <a:endParaRPr lang="en-US" sz="1950"/>
          </a:p>
        </p:txBody>
      </p:sp>
      <p:sp>
        <p:nvSpPr>
          <p:cNvPr id="7" name="Text 4"/>
          <p:cNvSpPr/>
          <p:nvPr/>
        </p:nvSpPr>
        <p:spPr>
          <a:xfrm>
            <a:off x="7734301" y="533401"/>
            <a:ext cx="7069258" cy="273050"/>
          </a:xfrm>
          <a:prstGeom prst="rect">
            <a:avLst/>
          </a:prstGeom>
          <a:noFill/>
          <a:ln/>
        </p:spPr>
        <p:txBody>
          <a:bodyPr wrap="square" lIns="25400" tIns="25400" rIns="25400" bIns="25400" rtlCol="0" anchor="t">
            <a:normAutofit lnSpcReduction="1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sz="1550" b="1">
              <a:solidFill>
                <a:srgbClr val="1F5FA9"/>
              </a:solidFill>
            </a:endParaRPr>
          </a:p>
        </p:txBody>
      </p:sp>
      <p:sp>
        <p:nvSpPr>
          <p:cNvPr id="8" name="Text 5"/>
          <p:cNvSpPr/>
          <p:nvPr/>
        </p:nvSpPr>
        <p:spPr>
          <a:xfrm>
            <a:off x="7734301" y="1295401"/>
            <a:ext cx="10163938" cy="1211462"/>
          </a:xfrm>
          <a:prstGeom prst="rect">
            <a:avLst/>
          </a:prstGeom>
          <a:noFill/>
          <a:ln/>
        </p:spPr>
        <p:txBody>
          <a:bodyPr wrap="square" lIns="25400" tIns="25400" rIns="25400" bIns="25400" rtlCol="0" anchor="t">
            <a:norm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10000"/>
              </a:lnSpc>
            </a:pPr>
            <a:r>
              <a:rPr lang="en-US" sz="4200" b="1" kern="0" spc="-38">
                <a:solidFill>
                  <a:srgbClr val="1A1A1A"/>
                </a:solidFill>
                <a:latin typeface="Arial" pitchFamily="34" charset="0"/>
                <a:ea typeface="Arial" pitchFamily="34" charset="-122"/>
                <a:cs typeface="Arial" pitchFamily="34" charset="-120"/>
              </a:rPr>
              <a:t>Locating a battery is irreversible</a:t>
            </a:r>
            <a:endParaRPr lang="en-US" sz="4200"/>
          </a:p>
        </p:txBody>
      </p:sp>
      <p:sp>
        <p:nvSpPr>
          <p:cNvPr id="9" name="Shape 6"/>
          <p:cNvSpPr/>
          <p:nvPr/>
        </p:nvSpPr>
        <p:spPr>
          <a:xfrm>
            <a:off x="7734300" y="3309343"/>
            <a:ext cx="9867900" cy="1658542"/>
          </a:xfrm>
          <a:prstGeom prst="rect">
            <a:avLst/>
          </a:prstGeom>
          <a:solidFill>
            <a:srgbClr val="F2F5F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10" name="Shape 7"/>
          <p:cNvSpPr/>
          <p:nvPr/>
        </p:nvSpPr>
        <p:spPr>
          <a:xfrm>
            <a:off x="7734300" y="3309343"/>
            <a:ext cx="76200" cy="1658542"/>
          </a:xfrm>
          <a:prstGeom prst="rect">
            <a:avLst/>
          </a:prstGeom>
          <a:solidFill>
            <a:srgbClr val="1F5FA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11" name="Text 8"/>
          <p:cNvSpPr/>
          <p:nvPr/>
        </p:nvSpPr>
        <p:spPr>
          <a:xfrm>
            <a:off x="8153400" y="3500439"/>
            <a:ext cx="3771900" cy="1276350"/>
          </a:xfrm>
          <a:prstGeom prst="rect">
            <a:avLst/>
          </a:prstGeom>
          <a:noFill/>
          <a:ln/>
        </p:spPr>
        <p:txBody>
          <a:bodyPr wrap="none" lIns="25400" tIns="25400" rIns="25400" bIns="25400" rtlCol="0" anchor="ctr">
            <a:norm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4000" b="1" dirty="0">
                <a:solidFill>
                  <a:srgbClr val="1F5FA9"/>
                </a:solidFill>
                <a:latin typeface="Arial" pitchFamily="34" charset="0"/>
                <a:ea typeface="Arial" pitchFamily="34" charset="-122"/>
                <a:cs typeface="Arial" pitchFamily="34" charset="-120"/>
              </a:rPr>
              <a:t>15–20 yrs</a:t>
            </a:r>
            <a:endParaRPr lang="en-US" sz="4000" baseline="30000" dirty="0"/>
          </a:p>
        </p:txBody>
      </p:sp>
      <p:sp>
        <p:nvSpPr>
          <p:cNvPr id="12" name="Text 9"/>
          <p:cNvSpPr/>
          <p:nvPr/>
        </p:nvSpPr>
        <p:spPr>
          <a:xfrm>
            <a:off x="11925300" y="3494685"/>
            <a:ext cx="5494020" cy="1276350"/>
          </a:xfrm>
          <a:prstGeom prst="rect">
            <a:avLst/>
          </a:prstGeom>
          <a:noFill/>
          <a:ln/>
        </p:spPr>
        <p:txBody>
          <a:bodyPr wrap="square" lIns="25400" tIns="25400" rIns="25400" bIns="25400" rtlCol="0" anchor="ctr">
            <a:norm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40000"/>
              </a:lnSpc>
            </a:pPr>
            <a:r>
              <a:rPr lang="en-US" dirty="0">
                <a:solidFill>
                  <a:srgbClr val="333333"/>
                </a:solidFill>
                <a:latin typeface="Arial" pitchFamily="34" charset="0"/>
                <a:ea typeface="Arial" pitchFamily="34" charset="-122"/>
                <a:cs typeface="Arial" pitchFamily="34" charset="-120"/>
              </a:rPr>
              <a:t>a battery site is fixed once built. Network-friendly behavior can be changed later via policy, but the location cannot.</a:t>
            </a:r>
            <a:endParaRPr lang="en-US" dirty="0"/>
          </a:p>
        </p:txBody>
      </p:sp>
      <p:sp>
        <p:nvSpPr>
          <p:cNvPr id="13" name="Shape 10"/>
          <p:cNvSpPr/>
          <p:nvPr/>
        </p:nvSpPr>
        <p:spPr>
          <a:xfrm>
            <a:off x="7734300" y="5234585"/>
            <a:ext cx="9867900" cy="1658542"/>
          </a:xfrm>
          <a:prstGeom prst="rect">
            <a:avLst/>
          </a:prstGeom>
          <a:solidFill>
            <a:srgbClr val="F2F5F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dirty="0"/>
          </a:p>
        </p:txBody>
      </p:sp>
      <p:sp>
        <p:nvSpPr>
          <p:cNvPr id="14" name="Shape 11"/>
          <p:cNvSpPr/>
          <p:nvPr/>
        </p:nvSpPr>
        <p:spPr>
          <a:xfrm>
            <a:off x="7734300" y="5234585"/>
            <a:ext cx="76200" cy="1658542"/>
          </a:xfrm>
          <a:prstGeom prst="rect">
            <a:avLst/>
          </a:prstGeom>
          <a:solidFill>
            <a:srgbClr val="1F5FA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15" name="Text 12"/>
          <p:cNvSpPr/>
          <p:nvPr/>
        </p:nvSpPr>
        <p:spPr>
          <a:xfrm>
            <a:off x="8153401" y="5682854"/>
            <a:ext cx="4138722" cy="762000"/>
          </a:xfrm>
          <a:prstGeom prst="rect">
            <a:avLst/>
          </a:prstGeom>
          <a:noFill/>
          <a:ln/>
        </p:spPr>
        <p:txBody>
          <a:bodyPr wrap="none" lIns="25400" tIns="25400" rIns="25400" bIns="25400" rtlCol="0" anchor="ctr">
            <a:norm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4000" b="1" dirty="0">
                <a:solidFill>
                  <a:srgbClr val="1F5FA9"/>
                </a:solidFill>
                <a:latin typeface="Arial" pitchFamily="34" charset="0"/>
                <a:ea typeface="Arial" pitchFamily="34" charset="-122"/>
                <a:cs typeface="Arial" pitchFamily="34" charset="-120"/>
              </a:rPr>
              <a:t>545 </a:t>
            </a:r>
            <a:r>
              <a:rPr lang="de-DE" sz="4000" dirty="0"/>
              <a:t> </a:t>
            </a:r>
            <a:endParaRPr lang="en-US" sz="4000" dirty="0"/>
          </a:p>
        </p:txBody>
      </p:sp>
      <p:sp>
        <p:nvSpPr>
          <p:cNvPr id="16" name="Text 13"/>
          <p:cNvSpPr/>
          <p:nvPr/>
        </p:nvSpPr>
        <p:spPr>
          <a:xfrm>
            <a:off x="11925301" y="5698135"/>
            <a:ext cx="5150542" cy="731442"/>
          </a:xfrm>
          <a:prstGeom prst="rect">
            <a:avLst/>
          </a:prstGeom>
          <a:noFill/>
          <a:ln/>
        </p:spPr>
        <p:txBody>
          <a:bodyPr wrap="square" lIns="25400" tIns="25400" rIns="25400" bIns="25400" rtlCol="0" anchor="ctr">
            <a:no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40000"/>
              </a:lnSpc>
            </a:pPr>
            <a:r>
              <a:rPr lang="de-DE" dirty="0" err="1"/>
              <a:t>requests</a:t>
            </a:r>
            <a:r>
              <a:rPr lang="de-DE" dirty="0"/>
              <a:t> </a:t>
            </a:r>
            <a:r>
              <a:rPr lang="de-DE" dirty="0" err="1"/>
              <a:t>for</a:t>
            </a:r>
            <a:r>
              <a:rPr lang="de-DE" dirty="0"/>
              <a:t> </a:t>
            </a:r>
            <a:r>
              <a:rPr lang="de-DE" dirty="0" err="1"/>
              <a:t>transmission-grid</a:t>
            </a:r>
            <a:r>
              <a:rPr lang="de-DE" dirty="0"/>
              <a:t> </a:t>
            </a:r>
            <a:r>
              <a:rPr lang="de-DE" dirty="0" err="1"/>
              <a:t>connections</a:t>
            </a:r>
            <a:r>
              <a:rPr lang="de-DE" dirty="0"/>
              <a:t> </a:t>
            </a:r>
            <a:r>
              <a:rPr lang="de-DE" dirty="0" err="1"/>
              <a:t>for</a:t>
            </a:r>
            <a:r>
              <a:rPr lang="de-DE" dirty="0"/>
              <a:t> </a:t>
            </a:r>
            <a:r>
              <a:rPr lang="de-DE" dirty="0" err="1"/>
              <a:t>larbe</a:t>
            </a:r>
            <a:r>
              <a:rPr lang="de-DE" dirty="0"/>
              <a:t> </a:t>
            </a:r>
            <a:r>
              <a:rPr lang="de-DE" dirty="0" err="1"/>
              <a:t>scale</a:t>
            </a:r>
            <a:r>
              <a:rPr lang="de-DE" dirty="0"/>
              <a:t> </a:t>
            </a:r>
            <a:r>
              <a:rPr lang="de-DE" dirty="0" err="1"/>
              <a:t>batteries</a:t>
            </a:r>
            <a:r>
              <a:rPr lang="de-DE" dirty="0"/>
              <a:t> </a:t>
            </a:r>
            <a:r>
              <a:rPr lang="de-DE" dirty="0" err="1"/>
              <a:t>have</a:t>
            </a:r>
            <a:r>
              <a:rPr lang="de-DE" dirty="0"/>
              <a:t> </a:t>
            </a:r>
            <a:r>
              <a:rPr lang="de-DE" dirty="0" err="1"/>
              <a:t>been</a:t>
            </a:r>
            <a:r>
              <a:rPr lang="de-DE" dirty="0"/>
              <a:t> </a:t>
            </a:r>
            <a:r>
              <a:rPr lang="de-DE" dirty="0" err="1"/>
              <a:t>filed</a:t>
            </a:r>
            <a:r>
              <a:rPr lang="de-DE" dirty="0"/>
              <a:t> in </a:t>
            </a:r>
            <a:r>
              <a:rPr lang="de-DE" dirty="0" err="1"/>
              <a:t>until</a:t>
            </a:r>
            <a:r>
              <a:rPr lang="de-DE" dirty="0"/>
              <a:t> Q3 2025 (211 GW).  </a:t>
            </a:r>
          </a:p>
        </p:txBody>
      </p:sp>
      <p:sp>
        <p:nvSpPr>
          <p:cNvPr id="17" name="Shape 14"/>
          <p:cNvSpPr/>
          <p:nvPr/>
        </p:nvSpPr>
        <p:spPr>
          <a:xfrm>
            <a:off x="7734300" y="7159825"/>
            <a:ext cx="9867900" cy="1311870"/>
          </a:xfrm>
          <a:prstGeom prst="rect">
            <a:avLst/>
          </a:prstGeom>
          <a:solidFill>
            <a:srgbClr val="F2F5F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18" name="Shape 15"/>
          <p:cNvSpPr/>
          <p:nvPr/>
        </p:nvSpPr>
        <p:spPr>
          <a:xfrm>
            <a:off x="7734300" y="7159825"/>
            <a:ext cx="76200" cy="1311870"/>
          </a:xfrm>
          <a:prstGeom prst="rect">
            <a:avLst/>
          </a:prstGeom>
          <a:solidFill>
            <a:srgbClr val="1F5FA9"/>
          </a:solidFill>
          <a:ln/>
        </p:spPr>
        <p:txBody>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endParaRPr lang="en-US"/>
          </a:p>
        </p:txBody>
      </p:sp>
      <p:sp>
        <p:nvSpPr>
          <p:cNvPr id="19" name="Text 16"/>
          <p:cNvSpPr/>
          <p:nvPr/>
        </p:nvSpPr>
        <p:spPr>
          <a:xfrm>
            <a:off x="8153401" y="7434758"/>
            <a:ext cx="4157930" cy="762000"/>
          </a:xfrm>
          <a:prstGeom prst="rect">
            <a:avLst/>
          </a:prstGeom>
          <a:noFill/>
          <a:ln/>
        </p:spPr>
        <p:txBody>
          <a:bodyPr wrap="none" lIns="25400" tIns="25400" rIns="25400" bIns="25400" rtlCol="0" anchor="ctr">
            <a:norm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4000" b="1" dirty="0">
                <a:solidFill>
                  <a:srgbClr val="1F5FA9"/>
                </a:solidFill>
                <a:latin typeface="Arial" pitchFamily="34" charset="0"/>
                <a:ea typeface="Arial" pitchFamily="34" charset="-122"/>
                <a:cs typeface="Arial" pitchFamily="34" charset="-120"/>
              </a:rPr>
              <a:t>25%</a:t>
            </a:r>
            <a:endParaRPr lang="en-US" sz="4000" dirty="0"/>
          </a:p>
        </p:txBody>
      </p:sp>
      <p:sp>
        <p:nvSpPr>
          <p:cNvPr id="20" name="Text 17"/>
          <p:cNvSpPr/>
          <p:nvPr/>
        </p:nvSpPr>
        <p:spPr>
          <a:xfrm>
            <a:off x="11925300" y="7404894"/>
            <a:ext cx="5435422" cy="762000"/>
          </a:xfrm>
          <a:prstGeom prst="rect">
            <a:avLst/>
          </a:prstGeom>
          <a:noFill/>
          <a:ln/>
        </p:spPr>
        <p:txBody>
          <a:bodyPr wrap="square" lIns="25400" tIns="25400" rIns="25400" bIns="25400" rtlCol="0" anchor="ctr">
            <a:no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40000"/>
              </a:lnSpc>
            </a:pPr>
            <a:r>
              <a:rPr lang="de-DE" dirty="0" err="1"/>
              <a:t>is</a:t>
            </a:r>
            <a:r>
              <a:rPr lang="de-DE" dirty="0"/>
              <a:t> all </a:t>
            </a:r>
            <a:r>
              <a:rPr lang="de-DE" dirty="0" err="1"/>
              <a:t>the</a:t>
            </a:r>
            <a:r>
              <a:rPr lang="de-DE" dirty="0"/>
              <a:t> </a:t>
            </a:r>
            <a:r>
              <a:rPr lang="de-DE" dirty="0" err="1"/>
              <a:t>grid-serving</a:t>
            </a:r>
            <a:r>
              <a:rPr lang="de-DE" dirty="0"/>
              <a:t> </a:t>
            </a:r>
            <a:r>
              <a:rPr lang="de-DE" dirty="0" err="1"/>
              <a:t>benefit</a:t>
            </a:r>
            <a:r>
              <a:rPr lang="de-DE" dirty="0"/>
              <a:t> </a:t>
            </a:r>
            <a:r>
              <a:rPr lang="de-DE" dirty="0" err="1"/>
              <a:t>currently</a:t>
            </a:r>
            <a:r>
              <a:rPr lang="de-DE" dirty="0"/>
              <a:t> </a:t>
            </a:r>
            <a:r>
              <a:rPr lang="de-DE" dirty="0" err="1"/>
              <a:t>counts</a:t>
            </a:r>
            <a:r>
              <a:rPr lang="de-DE" dirty="0"/>
              <a:t> </a:t>
            </a:r>
            <a:r>
              <a:rPr lang="de-DE" dirty="0" err="1"/>
              <a:t>for</a:t>
            </a:r>
            <a:r>
              <a:rPr lang="de-DE" dirty="0"/>
              <a:t> in </a:t>
            </a:r>
            <a:r>
              <a:rPr lang="de-DE" dirty="0" err="1"/>
              <a:t>the</a:t>
            </a:r>
            <a:r>
              <a:rPr lang="de-DE" dirty="0"/>
              <a:t> </a:t>
            </a:r>
            <a:r>
              <a:rPr lang="de-DE" dirty="0" err="1"/>
              <a:t>new</a:t>
            </a:r>
            <a:r>
              <a:rPr lang="de-DE" dirty="0"/>
              <a:t> </a:t>
            </a:r>
            <a:r>
              <a:rPr lang="de-DE" dirty="0" err="1"/>
              <a:t>maturity-based</a:t>
            </a:r>
            <a:r>
              <a:rPr lang="de-DE" dirty="0"/>
              <a:t> </a:t>
            </a:r>
            <a:r>
              <a:rPr lang="de-DE" dirty="0" err="1"/>
              <a:t>procedure</a:t>
            </a:r>
            <a:r>
              <a:rPr lang="de-DE" dirty="0"/>
              <a:t> </a:t>
            </a:r>
            <a:r>
              <a:rPr lang="de-DE" dirty="0" err="1"/>
              <a:t>for</a:t>
            </a:r>
            <a:r>
              <a:rPr lang="de-DE" dirty="0"/>
              <a:t> </a:t>
            </a:r>
            <a:r>
              <a:rPr lang="de-DE" dirty="0" err="1"/>
              <a:t>allocating</a:t>
            </a:r>
            <a:r>
              <a:rPr lang="de-DE" dirty="0"/>
              <a:t> </a:t>
            </a:r>
            <a:r>
              <a:rPr lang="de-DE" dirty="0" err="1"/>
              <a:t>grid</a:t>
            </a:r>
            <a:r>
              <a:rPr lang="de-DE" dirty="0"/>
              <a:t> </a:t>
            </a:r>
            <a:r>
              <a:rPr lang="de-DE" dirty="0" err="1"/>
              <a:t>connections</a:t>
            </a:r>
            <a:r>
              <a:rPr lang="de-DE" dirty="0"/>
              <a:t>.</a:t>
            </a:r>
            <a:endParaRPr lang="en-US" dirty="0"/>
          </a:p>
        </p:txBody>
      </p:sp>
      <p:sp>
        <p:nvSpPr>
          <p:cNvPr id="21" name="Text 18"/>
          <p:cNvSpPr/>
          <p:nvPr/>
        </p:nvSpPr>
        <p:spPr>
          <a:xfrm>
            <a:off x="7734301" y="9197977"/>
            <a:ext cx="10854690" cy="288926"/>
          </a:xfrm>
          <a:prstGeom prst="rect">
            <a:avLst/>
          </a:prstGeom>
          <a:noFill/>
          <a:ln/>
        </p:spPr>
        <p:txBody>
          <a:bodyPr wrap="square" lIns="25400" tIns="25400" rIns="25400" bIns="25400" rtlCol="0" anchor="t">
            <a:norm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1188" i="1" baseline="30000" dirty="0">
                <a:solidFill>
                  <a:srgbClr val="999999"/>
                </a:solidFill>
                <a:latin typeface="Arial" pitchFamily="34" charset="0"/>
                <a:ea typeface="Arial" pitchFamily="34" charset="-122"/>
                <a:cs typeface="Arial" pitchFamily="34" charset="-120"/>
              </a:rPr>
              <a:t>Dvorkin et al. (2017); Figgener et al. (2024); </a:t>
            </a:r>
            <a:r>
              <a:rPr lang="en-US" sz="1188" i="1" baseline="30000" dirty="0" err="1">
                <a:solidFill>
                  <a:srgbClr val="999999"/>
                </a:solidFill>
                <a:latin typeface="Arial" pitchFamily="34" charset="0"/>
                <a:ea typeface="Arial" pitchFamily="34" charset="-122"/>
                <a:cs typeface="Arial" pitchFamily="34" charset="-120"/>
              </a:rPr>
              <a:t>Bundesnetzagentur</a:t>
            </a:r>
            <a:r>
              <a:rPr lang="en-US" sz="1188" i="1" baseline="30000" dirty="0">
                <a:solidFill>
                  <a:srgbClr val="999999"/>
                </a:solidFill>
                <a:latin typeface="Arial" pitchFamily="34" charset="0"/>
                <a:ea typeface="Arial" pitchFamily="34" charset="-122"/>
                <a:cs typeface="Arial" pitchFamily="34" charset="-120"/>
              </a:rPr>
              <a:t> (2024); </a:t>
            </a:r>
            <a:r>
              <a:rPr lang="en-US" sz="1188" i="1" baseline="30000" dirty="0" err="1">
                <a:solidFill>
                  <a:srgbClr val="999999"/>
                </a:solidFill>
                <a:latin typeface="Arial" pitchFamily="34" charset="0"/>
                <a:ea typeface="Arial" pitchFamily="34" charset="-122"/>
                <a:cs typeface="Arial" pitchFamily="34" charset="-120"/>
              </a:rPr>
              <a:t>Tennet</a:t>
            </a:r>
            <a:r>
              <a:rPr lang="en-US" sz="1188" i="1" baseline="30000" dirty="0">
                <a:solidFill>
                  <a:srgbClr val="999999"/>
                </a:solidFill>
                <a:latin typeface="Arial" pitchFamily="34" charset="0"/>
                <a:ea typeface="Arial" pitchFamily="34" charset="-122"/>
                <a:cs typeface="Arial" pitchFamily="34" charset="-120"/>
              </a:rPr>
              <a:t> (2026)</a:t>
            </a:r>
            <a:endParaRPr lang="en-US" sz="1426" dirty="0"/>
          </a:p>
        </p:txBody>
      </p:sp>
      <p:sp>
        <p:nvSpPr>
          <p:cNvPr id="23" name="Text 20"/>
          <p:cNvSpPr/>
          <p:nvPr/>
        </p:nvSpPr>
        <p:spPr>
          <a:xfrm>
            <a:off x="17475003" y="9639300"/>
            <a:ext cx="203398" cy="304800"/>
          </a:xfrm>
          <a:prstGeom prst="rect">
            <a:avLst/>
          </a:prstGeom>
          <a:noFill/>
          <a:ln/>
        </p:spPr>
        <p:txBody>
          <a:bodyPr wrap="square" lIns="25400" tIns="25400" rIns="25400" bIns="25400" rtlCol="0" anchor="t">
            <a:normAutofit lnSpcReduction="10000"/>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r>
              <a:rPr lang="en-US" sz="1800">
                <a:solidFill>
                  <a:srgbClr val="1A1A1A"/>
                </a:solidFill>
                <a:latin typeface="Arial" pitchFamily="34" charset="0"/>
                <a:ea typeface="Arial" pitchFamily="34" charset="-122"/>
                <a:cs typeface="Arial" pitchFamily="34" charset="-120"/>
              </a:rPr>
              <a:t>6</a:t>
            </a:r>
            <a:endParaRPr lang="en-US" sz="1800"/>
          </a:p>
        </p:txBody>
      </p:sp>
      <p:sp>
        <p:nvSpPr>
          <p:cNvPr id="25" name="Text 22">
            <a:extLst>
              <a:ext uri="{FF2B5EF4-FFF2-40B4-BE49-F238E27FC236}">
                <a16:creationId xmlns:a16="http://schemas.microsoft.com/office/drawing/2014/main" id="{5B54FFD2-1CB1-FB8E-6A24-971FCB20F6E2}"/>
              </a:ext>
            </a:extLst>
          </p:cNvPr>
          <p:cNvSpPr/>
          <p:nvPr/>
        </p:nvSpPr>
        <p:spPr>
          <a:xfrm>
            <a:off x="7734300" y="9628415"/>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900" name="PanelStatement"/>
          <p:cNvSpPr txBox="1"/>
          <p:nvPr/>
        </p:nvSpPr>
        <p:spPr>
          <a:xfrm>
            <a:off x="533400" y="3900000"/>
            <a:ext cx="6134100" cy="2600000"/>
          </a:xfrm>
          <a:prstGeom prst="rect">
            <a:avLst/>
          </a:prstGeom>
          <a:noFill/>
        </p:spPr>
        <p:txBody>
          <a:bodyPr wrap="square" lIns="0" tIns="0" rIns="0" bIns="0">
            <a:normAutofit/>
          </a:bodyPr>
          <a:lstStyle/>
          <a:p>
            <a:pPr>
              <a:spcAft>
                <a:spcPts val="0"/>
              </a:spcAft>
              <a:buNone/>
            </a:pPr>
            <a:r>
              <a:rPr lang="en-GB" sz="3200" b="1" kern="0">
                <a:solidFill>
                  <a:srgbClr val="FFFFFF"/>
                </a:solidFill>
                <a:latin typeface="Arial" panose="020B0604020202020204" pitchFamily="34" charset="0"/>
                <a:cs typeface="Arial" panose="020B0604020202020204" pitchFamily="34" charset="0"/>
              </a:rPr>
              <a:t>A misplaced fleet is a </a:t>
            </a:r>
            <a:r>
              <a:rPr lang="en-GB" sz="3200" b="1" kern="0">
                <a:solidFill>
                  <a:srgbClr val="98C6EA"/>
                </a:solidFill>
                <a:latin typeface="Arial" panose="020B0604020202020204" pitchFamily="34" charset="0"/>
                <a:cs typeface="Arial" panose="020B0604020202020204" pitchFamily="34" charset="0"/>
              </a:rPr>
              <a:t>two-decade lock-in</a:t>
            </a:r>
            <a:r>
              <a:rPr lang="en-GB" sz="3200" b="1" kern="0">
                <a:solidFill>
                  <a:srgbClr val="FFFFFF"/>
                </a:solidFill>
                <a:latin typeface="Arial" panose="020B0604020202020204" pitchFamily="34" charset="0"/>
                <a:cs typeface="Arial" panose="020B0604020202020204" pitchFamily="34" charset="0"/>
              </a:rPr>
              <a:t> that no later price reform can undo.</a:t>
            </a:r>
          </a:p>
        </p:txBody>
      </p:sp>
    </p:spTree>
    <p:extLst>
      <p:ext uri="{BB962C8B-B14F-4D97-AF65-F5344CB8AC3E}">
        <p14:creationId xmlns:p14="http://schemas.microsoft.com/office/powerpoint/2010/main" val="4139535225"/>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52450"/>
          </a:xfrm>
          <a:prstGeom prst="rect">
            <a:avLst/>
          </a:prstGeom>
          <a:noFill/>
          <a:ln/>
        </p:spPr>
        <p:txBody>
          <a:bodyPr wrap="square" lIns="25400" tIns="25400" rIns="25400" bIns="25400" rtlCol="0" anchor="t">
            <a:normAutofit lnSpcReduction="10000"/>
          </a:bodyPr>
          <a:lstStyle/>
          <a:p>
            <a:pPr marL="0" indent="0" algn="l">
              <a:buNone/>
            </a:pPr>
            <a:r>
              <a:rPr lang="en-US" sz="3450" b="1">
                <a:solidFill>
                  <a:srgbClr val="1A1A2E"/>
                </a:solidFill>
                <a:latin typeface="Arial" pitchFamily="34" charset="0"/>
                <a:ea typeface="Arial" pitchFamily="34" charset="-122"/>
                <a:cs typeface="Arial" pitchFamily="34" charset="-120"/>
              </a:rPr>
              <a:t>Existing approaches need grid models or nodal prices, ours needs neither</a:t>
            </a:r>
            <a:endParaRPr lang="en-US" sz="3450"/>
          </a:p>
        </p:txBody>
      </p:sp>
      <p:sp>
        <p:nvSpPr>
          <p:cNvPr id="5" name="Shape 3"/>
          <p:cNvSpPr/>
          <p:nvPr/>
        </p:nvSpPr>
        <p:spPr>
          <a:xfrm>
            <a:off x="952500" y="4776490"/>
            <a:ext cx="8039100" cy="19050"/>
          </a:xfrm>
          <a:prstGeom prst="rect">
            <a:avLst/>
          </a:prstGeom>
          <a:solidFill>
            <a:srgbClr val="E2E8F0"/>
          </a:solidFill>
          <a:ln/>
        </p:spPr>
        <p:txBody>
          <a:bodyPr/>
          <a:lstStyle/>
          <a:p>
            <a:endParaRPr lang="en-GB"/>
          </a:p>
        </p:txBody>
      </p:sp>
      <p:sp>
        <p:nvSpPr>
          <p:cNvPr id="6" name="Shape 4"/>
          <p:cNvSpPr/>
          <p:nvPr/>
        </p:nvSpPr>
        <p:spPr>
          <a:xfrm>
            <a:off x="952500" y="2057400"/>
            <a:ext cx="8039100" cy="57150"/>
          </a:xfrm>
          <a:prstGeom prst="rect">
            <a:avLst/>
          </a:prstGeom>
          <a:solidFill>
            <a:srgbClr val="005293"/>
          </a:solidFill>
          <a:ln/>
        </p:spPr>
        <p:txBody>
          <a:bodyPr/>
          <a:lstStyle/>
          <a:p>
            <a:endParaRPr lang="en-GB"/>
          </a:p>
        </p:txBody>
      </p:sp>
      <p:sp>
        <p:nvSpPr>
          <p:cNvPr id="7" name="Shape 5"/>
          <p:cNvSpPr/>
          <p:nvPr/>
        </p:nvSpPr>
        <p:spPr>
          <a:xfrm>
            <a:off x="952500" y="2057400"/>
            <a:ext cx="19050" cy="2738140"/>
          </a:xfrm>
          <a:prstGeom prst="rect">
            <a:avLst/>
          </a:prstGeom>
          <a:solidFill>
            <a:srgbClr val="E2E8F0"/>
          </a:solidFill>
          <a:ln/>
        </p:spPr>
        <p:txBody>
          <a:bodyPr/>
          <a:lstStyle/>
          <a:p>
            <a:endParaRPr lang="en-GB"/>
          </a:p>
        </p:txBody>
      </p:sp>
      <p:sp>
        <p:nvSpPr>
          <p:cNvPr id="8" name="Shape 6"/>
          <p:cNvSpPr/>
          <p:nvPr/>
        </p:nvSpPr>
        <p:spPr>
          <a:xfrm>
            <a:off x="8972550" y="2057400"/>
            <a:ext cx="19050" cy="2738140"/>
          </a:xfrm>
          <a:prstGeom prst="rect">
            <a:avLst/>
          </a:prstGeom>
          <a:solidFill>
            <a:srgbClr val="E2E8F0"/>
          </a:solidFill>
          <a:ln/>
        </p:spPr>
        <p:txBody>
          <a:bodyPr/>
          <a:lstStyle/>
          <a:p>
            <a:endParaRPr lang="en-GB"/>
          </a:p>
        </p:txBody>
      </p:sp>
      <p:sp>
        <p:nvSpPr>
          <p:cNvPr id="9" name="Text 7"/>
          <p:cNvSpPr/>
          <p:nvPr/>
        </p:nvSpPr>
        <p:spPr>
          <a:xfrm>
            <a:off x="1333500" y="2419350"/>
            <a:ext cx="8004810" cy="333375"/>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1A1A2E"/>
                </a:solidFill>
                <a:latin typeface="Arial" pitchFamily="34" charset="0"/>
                <a:ea typeface="Arial" pitchFamily="34" charset="-122"/>
                <a:cs typeface="Arial" pitchFamily="34" charset="-120"/>
              </a:rPr>
              <a:t>Normative siting models</a:t>
            </a:r>
            <a:endParaRPr lang="en-US" sz="1950"/>
          </a:p>
        </p:txBody>
      </p:sp>
      <p:sp>
        <p:nvSpPr>
          <p:cNvPr id="10" name="Text 8"/>
          <p:cNvSpPr/>
          <p:nvPr/>
        </p:nvSpPr>
        <p:spPr>
          <a:xfrm>
            <a:off x="1333500" y="2828925"/>
            <a:ext cx="8004810" cy="257175"/>
          </a:xfrm>
          <a:prstGeom prst="rect">
            <a:avLst/>
          </a:prstGeom>
          <a:noFill/>
          <a:ln/>
        </p:spPr>
        <p:txBody>
          <a:bodyPr wrap="square" lIns="25400" tIns="25400" rIns="25400" bIns="25400" rtlCol="0" anchor="t">
            <a:normAutofit lnSpcReduction="10000"/>
          </a:bodyPr>
          <a:lstStyle/>
          <a:p>
            <a:pPr marL="0" indent="0" algn="l">
              <a:buNone/>
            </a:pPr>
            <a:r>
              <a:rPr lang="en-US" sz="1500" b="1">
                <a:solidFill>
                  <a:srgbClr val="005293"/>
                </a:solidFill>
                <a:latin typeface="Arial" pitchFamily="34" charset="0"/>
                <a:ea typeface="Arial" pitchFamily="34" charset="-122"/>
                <a:cs typeface="Arial" pitchFamily="34" charset="-120"/>
              </a:rPr>
              <a:t>Pandžić et al. 2015 · Fernández-Blanco et al. 2017 · Czock, Sitzmann &amp; Zinke 2025</a:t>
            </a:r>
            <a:endParaRPr lang="en-US" sz="1500"/>
          </a:p>
        </p:txBody>
      </p:sp>
      <p:sp>
        <p:nvSpPr>
          <p:cNvPr id="11" name="Text 9"/>
          <p:cNvSpPr/>
          <p:nvPr/>
        </p:nvSpPr>
        <p:spPr>
          <a:xfrm>
            <a:off x="1333500" y="3162300"/>
            <a:ext cx="7495413" cy="673298"/>
          </a:xfrm>
          <a:prstGeom prst="rect">
            <a:avLst/>
          </a:prstGeom>
          <a:noFill/>
          <a:ln/>
        </p:spPr>
        <p:txBody>
          <a:bodyPr wrap="square" lIns="25400" tIns="25400" rIns="25400" bIns="25400" rtlCol="0" anchor="t">
            <a:normAutofit fontScale="77500" lnSpcReduction="20000"/>
          </a:bodyPr>
          <a:lstStyle/>
          <a:p>
            <a:pPr marL="0" indent="0" algn="l">
              <a:lnSpc>
                <a:spcPct val="145000"/>
              </a:lnSpc>
              <a:buNone/>
            </a:pPr>
            <a:r>
              <a:rPr lang="en-US" sz="1725">
                <a:solidFill>
                  <a:srgbClr val="4A4A6A"/>
                </a:solidFill>
                <a:latin typeface="Arial" pitchFamily="34" charset="0"/>
                <a:ea typeface="Arial" pitchFamily="34" charset="-122"/>
                <a:cs typeface="Arial" pitchFamily="34" charset="-120"/>
              </a:rPr>
              <a:t>Optimisation models compute welfare-optimal storage locations from full network models. For Germany: </a:t>
            </a:r>
            <a:r>
              <a:rPr lang="en-US" sz="1725" b="1">
                <a:solidFill>
                  <a:srgbClr val="4A4A6A"/>
                </a:solidFill>
                <a:latin typeface="Arial" pitchFamily="34" charset="0"/>
                <a:ea typeface="Arial" pitchFamily="34" charset="-122"/>
                <a:cs typeface="Arial" pitchFamily="34" charset="-120"/>
              </a:rPr>
              <a:t>batteries belong behind the north–south bottleneck</a:t>
            </a:r>
            <a:r>
              <a:rPr lang="en-US" sz="1725">
                <a:solidFill>
                  <a:srgbClr val="4A4A6A"/>
                </a:solidFill>
                <a:latin typeface="Arial" pitchFamily="34" charset="0"/>
                <a:ea typeface="Arial" pitchFamily="34" charset="-122"/>
                <a:cs typeface="Arial" pitchFamily="34" charset="-120"/>
              </a:rPr>
              <a:t>, close to solar (Czock et al.).</a:t>
            </a:r>
            <a:endParaRPr lang="en-US" sz="1725"/>
          </a:p>
        </p:txBody>
      </p:sp>
      <p:sp>
        <p:nvSpPr>
          <p:cNvPr id="12" name="Text 10"/>
          <p:cNvSpPr/>
          <p:nvPr/>
        </p:nvSpPr>
        <p:spPr>
          <a:xfrm>
            <a:off x="1333500" y="3911798"/>
            <a:ext cx="7495413" cy="59799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75">
                <a:solidFill>
                  <a:srgbClr val="6B7280"/>
                </a:solidFill>
                <a:latin typeface="Arial" pitchFamily="34" charset="0"/>
                <a:ea typeface="Arial" pitchFamily="34" charset="-122"/>
                <a:cs typeface="Arial" pitchFamily="34" charset="-120"/>
              </a:rPr>
              <a:t>Require a complete grid, cost and dispatch model – answer where storage should go, not where it stands.</a:t>
            </a:r>
            <a:endParaRPr lang="en-US" sz="1575"/>
          </a:p>
        </p:txBody>
      </p:sp>
      <p:sp>
        <p:nvSpPr>
          <p:cNvPr id="13" name="Shape 11"/>
          <p:cNvSpPr/>
          <p:nvPr/>
        </p:nvSpPr>
        <p:spPr>
          <a:xfrm>
            <a:off x="9296400" y="4776490"/>
            <a:ext cx="8039100" cy="19050"/>
          </a:xfrm>
          <a:prstGeom prst="rect">
            <a:avLst/>
          </a:prstGeom>
          <a:solidFill>
            <a:srgbClr val="E2E8F0"/>
          </a:solidFill>
          <a:ln/>
        </p:spPr>
        <p:txBody>
          <a:bodyPr/>
          <a:lstStyle/>
          <a:p>
            <a:endParaRPr lang="en-GB"/>
          </a:p>
        </p:txBody>
      </p:sp>
      <p:sp>
        <p:nvSpPr>
          <p:cNvPr id="14" name="Shape 12"/>
          <p:cNvSpPr/>
          <p:nvPr/>
        </p:nvSpPr>
        <p:spPr>
          <a:xfrm>
            <a:off x="9296400" y="2057400"/>
            <a:ext cx="8039100" cy="57150"/>
          </a:xfrm>
          <a:prstGeom prst="rect">
            <a:avLst/>
          </a:prstGeom>
          <a:solidFill>
            <a:srgbClr val="A2AD00"/>
          </a:solidFill>
          <a:ln/>
        </p:spPr>
        <p:txBody>
          <a:bodyPr/>
          <a:lstStyle/>
          <a:p>
            <a:endParaRPr lang="en-GB"/>
          </a:p>
        </p:txBody>
      </p:sp>
      <p:sp>
        <p:nvSpPr>
          <p:cNvPr id="15" name="Shape 13"/>
          <p:cNvSpPr/>
          <p:nvPr/>
        </p:nvSpPr>
        <p:spPr>
          <a:xfrm>
            <a:off x="9296400" y="2057400"/>
            <a:ext cx="19050" cy="2738140"/>
          </a:xfrm>
          <a:prstGeom prst="rect">
            <a:avLst/>
          </a:prstGeom>
          <a:solidFill>
            <a:srgbClr val="E2E8F0"/>
          </a:solidFill>
          <a:ln/>
        </p:spPr>
        <p:txBody>
          <a:bodyPr/>
          <a:lstStyle/>
          <a:p>
            <a:endParaRPr lang="en-GB"/>
          </a:p>
        </p:txBody>
      </p:sp>
      <p:sp>
        <p:nvSpPr>
          <p:cNvPr id="16" name="Shape 14"/>
          <p:cNvSpPr/>
          <p:nvPr/>
        </p:nvSpPr>
        <p:spPr>
          <a:xfrm>
            <a:off x="17316450" y="2057400"/>
            <a:ext cx="19050" cy="2738140"/>
          </a:xfrm>
          <a:prstGeom prst="rect">
            <a:avLst/>
          </a:prstGeom>
          <a:solidFill>
            <a:srgbClr val="E2E8F0"/>
          </a:solidFill>
          <a:ln/>
        </p:spPr>
        <p:txBody>
          <a:bodyPr/>
          <a:lstStyle/>
          <a:p>
            <a:endParaRPr lang="en-GB"/>
          </a:p>
        </p:txBody>
      </p:sp>
      <p:sp>
        <p:nvSpPr>
          <p:cNvPr id="17" name="Text 15"/>
          <p:cNvSpPr/>
          <p:nvPr/>
        </p:nvSpPr>
        <p:spPr>
          <a:xfrm>
            <a:off x="9677400" y="2419350"/>
            <a:ext cx="8004810" cy="333375"/>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1A1A2E"/>
                </a:solidFill>
                <a:latin typeface="Arial" pitchFamily="34" charset="0"/>
                <a:ea typeface="Arial" pitchFamily="34" charset="-122"/>
                <a:cs typeface="Arial" pitchFamily="34" charset="-120"/>
              </a:rPr>
              <a:t>Empirical scoring on nodal prices</a:t>
            </a:r>
            <a:endParaRPr lang="en-US" sz="1950"/>
          </a:p>
        </p:txBody>
      </p:sp>
      <p:sp>
        <p:nvSpPr>
          <p:cNvPr id="18" name="Text 16"/>
          <p:cNvSpPr/>
          <p:nvPr/>
        </p:nvSpPr>
        <p:spPr>
          <a:xfrm>
            <a:off x="9677400" y="2828925"/>
            <a:ext cx="8004810" cy="257175"/>
          </a:xfrm>
          <a:prstGeom prst="rect">
            <a:avLst/>
          </a:prstGeom>
          <a:noFill/>
          <a:ln/>
        </p:spPr>
        <p:txBody>
          <a:bodyPr wrap="square" lIns="25400" tIns="25400" rIns="25400" bIns="25400" rtlCol="0" anchor="t">
            <a:normAutofit lnSpcReduction="10000"/>
          </a:bodyPr>
          <a:lstStyle/>
          <a:p>
            <a:pPr marL="0" indent="0" algn="l">
              <a:buNone/>
            </a:pPr>
            <a:r>
              <a:rPr lang="en-US" sz="1500" b="1">
                <a:solidFill>
                  <a:srgbClr val="005293"/>
                </a:solidFill>
                <a:latin typeface="Arial" pitchFamily="34" charset="0"/>
                <a:ea typeface="Arial" pitchFamily="34" charset="-122"/>
                <a:cs typeface="Arial" pitchFamily="34" charset="-120"/>
              </a:rPr>
              <a:t>Sioshansi et al. 2009 · Salles et al. 2017 · Butler 2021</a:t>
            </a:r>
            <a:endParaRPr lang="en-US" sz="1500"/>
          </a:p>
        </p:txBody>
      </p:sp>
      <p:sp>
        <p:nvSpPr>
          <p:cNvPr id="19" name="Text 17"/>
          <p:cNvSpPr/>
          <p:nvPr/>
        </p:nvSpPr>
        <p:spPr>
          <a:xfrm>
            <a:off x="9677400" y="3162300"/>
            <a:ext cx="7495413" cy="67329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725">
                <a:solidFill>
                  <a:srgbClr val="4A4A6A"/>
                </a:solidFill>
                <a:latin typeface="Arial" pitchFamily="34" charset="0"/>
                <a:ea typeface="Arial" pitchFamily="34" charset="-122"/>
                <a:cs typeface="Arial" pitchFamily="34" charset="-120"/>
              </a:rPr>
              <a:t>Where nodal prices exist, sites can be scored directly: arbitrage value of a generic battery at </a:t>
            </a:r>
            <a:r>
              <a:rPr lang="en-US" sz="1725" b="1">
                <a:solidFill>
                  <a:srgbClr val="4A4A6A"/>
                </a:solidFill>
                <a:latin typeface="Arial" pitchFamily="34" charset="0"/>
                <a:ea typeface="Arial" pitchFamily="34" charset="-122"/>
                <a:cs typeface="Arial" pitchFamily="34" charset="-120"/>
              </a:rPr>
              <a:t>7,395 PJM nodes</a:t>
            </a:r>
            <a:r>
              <a:rPr lang="en-US" sz="1725">
                <a:solidFill>
                  <a:srgbClr val="4A4A6A"/>
                </a:solidFill>
                <a:latin typeface="Arial" pitchFamily="34" charset="0"/>
                <a:ea typeface="Arial" pitchFamily="34" charset="-122"/>
                <a:cs typeface="Arial" pitchFamily="34" charset="-120"/>
              </a:rPr>
              <a:t>; congestion adds a site-specific premium.</a:t>
            </a:r>
            <a:endParaRPr lang="en-US" sz="1725"/>
          </a:p>
        </p:txBody>
      </p:sp>
      <p:sp>
        <p:nvSpPr>
          <p:cNvPr id="20" name="Text 18"/>
          <p:cNvSpPr/>
          <p:nvPr/>
        </p:nvSpPr>
        <p:spPr>
          <a:xfrm>
            <a:off x="9677400" y="3911798"/>
            <a:ext cx="8004810" cy="318046"/>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75">
                <a:solidFill>
                  <a:srgbClr val="6B7280"/>
                </a:solidFill>
                <a:latin typeface="Arial" pitchFamily="34" charset="0"/>
                <a:ea typeface="Arial" pitchFamily="34" charset="-122"/>
                <a:cs typeface="Arial" pitchFamily="34" charset="-120"/>
              </a:rPr>
              <a:t>Requires observable nodal prices – which Europe’s zonal markets do not produce.</a:t>
            </a:r>
            <a:endParaRPr lang="en-US" sz="1575"/>
          </a:p>
        </p:txBody>
      </p:sp>
      <p:sp>
        <p:nvSpPr>
          <p:cNvPr id="21" name="Shape 19"/>
          <p:cNvSpPr/>
          <p:nvPr/>
        </p:nvSpPr>
        <p:spPr>
          <a:xfrm>
            <a:off x="952500" y="7539484"/>
            <a:ext cx="8039100" cy="19050"/>
          </a:xfrm>
          <a:prstGeom prst="rect">
            <a:avLst/>
          </a:prstGeom>
          <a:solidFill>
            <a:srgbClr val="E2E8F0"/>
          </a:solidFill>
          <a:ln/>
        </p:spPr>
        <p:txBody>
          <a:bodyPr/>
          <a:lstStyle/>
          <a:p>
            <a:endParaRPr lang="en-GB"/>
          </a:p>
        </p:txBody>
      </p:sp>
      <p:sp>
        <p:nvSpPr>
          <p:cNvPr id="22" name="Shape 20"/>
          <p:cNvSpPr/>
          <p:nvPr/>
        </p:nvSpPr>
        <p:spPr>
          <a:xfrm>
            <a:off x="952500" y="5100340"/>
            <a:ext cx="8039100" cy="57150"/>
          </a:xfrm>
          <a:prstGeom prst="rect">
            <a:avLst/>
          </a:prstGeom>
          <a:solidFill>
            <a:srgbClr val="64A0C8"/>
          </a:solidFill>
          <a:ln/>
        </p:spPr>
        <p:txBody>
          <a:bodyPr/>
          <a:lstStyle/>
          <a:p>
            <a:endParaRPr lang="en-GB"/>
          </a:p>
        </p:txBody>
      </p:sp>
      <p:sp>
        <p:nvSpPr>
          <p:cNvPr id="23" name="Shape 21"/>
          <p:cNvSpPr/>
          <p:nvPr/>
        </p:nvSpPr>
        <p:spPr>
          <a:xfrm>
            <a:off x="952500" y="5100340"/>
            <a:ext cx="19050" cy="2458194"/>
          </a:xfrm>
          <a:prstGeom prst="rect">
            <a:avLst/>
          </a:prstGeom>
          <a:solidFill>
            <a:srgbClr val="E2E8F0"/>
          </a:solidFill>
          <a:ln/>
        </p:spPr>
        <p:txBody>
          <a:bodyPr/>
          <a:lstStyle/>
          <a:p>
            <a:endParaRPr lang="en-GB"/>
          </a:p>
        </p:txBody>
      </p:sp>
      <p:sp>
        <p:nvSpPr>
          <p:cNvPr id="24" name="Shape 22"/>
          <p:cNvSpPr/>
          <p:nvPr/>
        </p:nvSpPr>
        <p:spPr>
          <a:xfrm>
            <a:off x="8972550" y="5100340"/>
            <a:ext cx="19050" cy="2458194"/>
          </a:xfrm>
          <a:prstGeom prst="rect">
            <a:avLst/>
          </a:prstGeom>
          <a:solidFill>
            <a:srgbClr val="E2E8F0"/>
          </a:solidFill>
          <a:ln/>
        </p:spPr>
        <p:txBody>
          <a:bodyPr/>
          <a:lstStyle/>
          <a:p>
            <a:endParaRPr lang="en-GB"/>
          </a:p>
        </p:txBody>
      </p:sp>
      <p:sp>
        <p:nvSpPr>
          <p:cNvPr id="25" name="Text 23"/>
          <p:cNvSpPr/>
          <p:nvPr/>
        </p:nvSpPr>
        <p:spPr>
          <a:xfrm>
            <a:off x="1333500" y="5462290"/>
            <a:ext cx="8004810" cy="333375"/>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1A1A2E"/>
                </a:solidFill>
                <a:latin typeface="Arial" pitchFamily="34" charset="0"/>
                <a:ea typeface="Arial" pitchFamily="34" charset="-122"/>
                <a:cs typeface="Arial" pitchFamily="34" charset="-120"/>
              </a:rPr>
              <a:t>Market design: the suppressed signal</a:t>
            </a:r>
            <a:endParaRPr lang="en-US" sz="1950"/>
          </a:p>
        </p:txBody>
      </p:sp>
      <p:sp>
        <p:nvSpPr>
          <p:cNvPr id="26" name="Text 24"/>
          <p:cNvSpPr/>
          <p:nvPr/>
        </p:nvSpPr>
        <p:spPr>
          <a:xfrm>
            <a:off x="1333500" y="5871865"/>
            <a:ext cx="8004810" cy="257175"/>
          </a:xfrm>
          <a:prstGeom prst="rect">
            <a:avLst/>
          </a:prstGeom>
          <a:noFill/>
          <a:ln/>
        </p:spPr>
        <p:txBody>
          <a:bodyPr wrap="square" lIns="25400" tIns="25400" rIns="25400" bIns="25400" rtlCol="0" anchor="t">
            <a:normAutofit lnSpcReduction="10000"/>
          </a:bodyPr>
          <a:lstStyle/>
          <a:p>
            <a:pPr marL="0" indent="0" algn="l">
              <a:buNone/>
            </a:pPr>
            <a:r>
              <a:rPr lang="en-US" sz="1500" b="1">
                <a:solidFill>
                  <a:srgbClr val="005293"/>
                </a:solidFill>
                <a:latin typeface="Arial" pitchFamily="34" charset="0"/>
                <a:ea typeface="Arial" pitchFamily="34" charset="-122"/>
                <a:cs typeface="Arial" pitchFamily="34" charset="-120"/>
              </a:rPr>
              <a:t>Schweppe et al. 1988 · Kunz 2013 · Schmidt &amp; Zinke 2023 · Bichler et al. 2025</a:t>
            </a:r>
            <a:endParaRPr lang="en-US" sz="1500"/>
          </a:p>
        </p:txBody>
      </p:sp>
      <p:sp>
        <p:nvSpPr>
          <p:cNvPr id="27" name="Text 25"/>
          <p:cNvSpPr/>
          <p:nvPr/>
        </p:nvSpPr>
        <p:spPr>
          <a:xfrm>
            <a:off x="1333500" y="6205240"/>
            <a:ext cx="7495413" cy="67329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725">
                <a:solidFill>
                  <a:srgbClr val="4A4A6A"/>
                </a:solidFill>
                <a:latin typeface="Arial" pitchFamily="34" charset="0"/>
                <a:ea typeface="Arial" pitchFamily="34" charset="-122"/>
                <a:cs typeface="Arial" pitchFamily="34" charset="-120"/>
              </a:rPr>
              <a:t>Uniform pricing removes the locational signal by design; siting incentives for wind, hydrogen and storage are distorted.</a:t>
            </a:r>
            <a:endParaRPr lang="en-US" sz="1725"/>
          </a:p>
        </p:txBody>
      </p:sp>
      <p:sp>
        <p:nvSpPr>
          <p:cNvPr id="28" name="Text 26"/>
          <p:cNvSpPr/>
          <p:nvPr/>
        </p:nvSpPr>
        <p:spPr>
          <a:xfrm>
            <a:off x="1333500" y="6954738"/>
            <a:ext cx="8004810" cy="318046"/>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75">
                <a:solidFill>
                  <a:srgbClr val="6B7280"/>
                </a:solidFill>
                <a:latin typeface="Arial" pitchFamily="34" charset="0"/>
                <a:ea typeface="Arial" pitchFamily="34" charset="-122"/>
                <a:cs typeface="Arial" pitchFamily="34" charset="-120"/>
              </a:rPr>
              <a:t>The signal exists physically and is valuable – it is just not priced.</a:t>
            </a:r>
            <a:endParaRPr lang="en-US" sz="1575"/>
          </a:p>
        </p:txBody>
      </p:sp>
      <p:sp>
        <p:nvSpPr>
          <p:cNvPr id="29" name="Shape 27"/>
          <p:cNvSpPr/>
          <p:nvPr/>
        </p:nvSpPr>
        <p:spPr>
          <a:xfrm>
            <a:off x="9296400" y="7539484"/>
            <a:ext cx="8039100" cy="19050"/>
          </a:xfrm>
          <a:prstGeom prst="rect">
            <a:avLst/>
          </a:prstGeom>
          <a:solidFill>
            <a:srgbClr val="E2E8F0"/>
          </a:solidFill>
          <a:ln/>
        </p:spPr>
        <p:txBody>
          <a:bodyPr/>
          <a:lstStyle/>
          <a:p>
            <a:endParaRPr lang="en-GB"/>
          </a:p>
        </p:txBody>
      </p:sp>
      <p:sp>
        <p:nvSpPr>
          <p:cNvPr id="30" name="Shape 28"/>
          <p:cNvSpPr/>
          <p:nvPr/>
        </p:nvSpPr>
        <p:spPr>
          <a:xfrm>
            <a:off x="9296400" y="5100340"/>
            <a:ext cx="8039100" cy="57150"/>
          </a:xfrm>
          <a:prstGeom prst="rect">
            <a:avLst/>
          </a:prstGeom>
          <a:solidFill>
            <a:srgbClr val="E37222"/>
          </a:solidFill>
          <a:ln/>
        </p:spPr>
        <p:txBody>
          <a:bodyPr/>
          <a:lstStyle/>
          <a:p>
            <a:endParaRPr lang="en-GB"/>
          </a:p>
        </p:txBody>
      </p:sp>
      <p:sp>
        <p:nvSpPr>
          <p:cNvPr id="31" name="Shape 29"/>
          <p:cNvSpPr/>
          <p:nvPr/>
        </p:nvSpPr>
        <p:spPr>
          <a:xfrm>
            <a:off x="9296400" y="5100340"/>
            <a:ext cx="19050" cy="2458194"/>
          </a:xfrm>
          <a:prstGeom prst="rect">
            <a:avLst/>
          </a:prstGeom>
          <a:solidFill>
            <a:srgbClr val="E2E8F0"/>
          </a:solidFill>
          <a:ln/>
        </p:spPr>
        <p:txBody>
          <a:bodyPr/>
          <a:lstStyle/>
          <a:p>
            <a:endParaRPr lang="en-GB"/>
          </a:p>
        </p:txBody>
      </p:sp>
      <p:sp>
        <p:nvSpPr>
          <p:cNvPr id="32" name="Shape 30"/>
          <p:cNvSpPr/>
          <p:nvPr/>
        </p:nvSpPr>
        <p:spPr>
          <a:xfrm>
            <a:off x="17316450" y="5100340"/>
            <a:ext cx="19050" cy="2458194"/>
          </a:xfrm>
          <a:prstGeom prst="rect">
            <a:avLst/>
          </a:prstGeom>
          <a:solidFill>
            <a:srgbClr val="E2E8F0"/>
          </a:solidFill>
          <a:ln/>
        </p:spPr>
        <p:txBody>
          <a:bodyPr/>
          <a:lstStyle/>
          <a:p>
            <a:endParaRPr lang="en-GB"/>
          </a:p>
        </p:txBody>
      </p:sp>
      <p:sp>
        <p:nvSpPr>
          <p:cNvPr id="33" name="Text 31"/>
          <p:cNvSpPr/>
          <p:nvPr/>
        </p:nvSpPr>
        <p:spPr>
          <a:xfrm>
            <a:off x="9677400" y="5462290"/>
            <a:ext cx="8004810" cy="333375"/>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1A1A2E"/>
                </a:solidFill>
                <a:latin typeface="Arial" pitchFamily="34" charset="0"/>
                <a:ea typeface="Arial" pitchFamily="34" charset="-122"/>
                <a:cs typeface="Arial" pitchFamily="34" charset="-120"/>
              </a:rPr>
              <a:t>The gap we address</a:t>
            </a:r>
            <a:endParaRPr lang="en-US" sz="1950"/>
          </a:p>
        </p:txBody>
      </p:sp>
      <p:sp>
        <p:nvSpPr>
          <p:cNvPr id="34" name="Text 32"/>
          <p:cNvSpPr/>
          <p:nvPr/>
        </p:nvSpPr>
        <p:spPr>
          <a:xfrm>
            <a:off x="9677400" y="5871865"/>
            <a:ext cx="8004810" cy="257175"/>
          </a:xfrm>
          <a:prstGeom prst="rect">
            <a:avLst/>
          </a:prstGeom>
          <a:noFill/>
          <a:ln/>
        </p:spPr>
        <p:txBody>
          <a:bodyPr wrap="square" lIns="25400" tIns="25400" rIns="25400" bIns="25400" rtlCol="0" anchor="t">
            <a:normAutofit lnSpcReduction="10000"/>
          </a:bodyPr>
          <a:lstStyle/>
          <a:p>
            <a:pPr marL="0" indent="0" algn="l">
              <a:buNone/>
            </a:pPr>
            <a:r>
              <a:rPr lang="en-US" sz="1500" b="1">
                <a:solidFill>
                  <a:srgbClr val="005293"/>
                </a:solidFill>
                <a:latin typeface="Arial" pitchFamily="34" charset="0"/>
                <a:ea typeface="Arial" pitchFamily="34" charset="-122"/>
                <a:cs typeface="Arial" pitchFamily="34" charset="-120"/>
              </a:rPr>
              <a:t>Closest antecedent: Hirth et al. / Neon 2025 (€3-6 per kW·yr redispatch relief)</a:t>
            </a:r>
            <a:endParaRPr lang="en-US" sz="1500"/>
          </a:p>
        </p:txBody>
      </p:sp>
      <p:sp>
        <p:nvSpPr>
          <p:cNvPr id="35" name="Text 33"/>
          <p:cNvSpPr/>
          <p:nvPr/>
        </p:nvSpPr>
        <p:spPr>
          <a:xfrm>
            <a:off x="9677400" y="6205240"/>
            <a:ext cx="7495413" cy="673298"/>
          </a:xfrm>
          <a:prstGeom prst="rect">
            <a:avLst/>
          </a:prstGeom>
          <a:noFill/>
          <a:ln/>
        </p:spPr>
        <p:txBody>
          <a:bodyPr wrap="square" lIns="25400" tIns="25400" rIns="25400" bIns="25400" rtlCol="0" anchor="t">
            <a:normAutofit fontScale="85000" lnSpcReduction="10000"/>
          </a:bodyPr>
          <a:lstStyle/>
          <a:p>
            <a:pPr marL="0" indent="0" algn="l">
              <a:lnSpc>
                <a:spcPct val="145000"/>
              </a:lnSpc>
              <a:buNone/>
            </a:pPr>
            <a:r>
              <a:rPr lang="en-US" sz="1725">
                <a:solidFill>
                  <a:srgbClr val="4A4A6A"/>
                </a:solidFill>
                <a:latin typeface="Arial" pitchFamily="34" charset="0"/>
                <a:ea typeface="Arial" pitchFamily="34" charset="-122"/>
                <a:cs typeface="Arial" pitchFamily="34" charset="-120"/>
              </a:rPr>
              <a:t>No method scores arbitrary sites in a zonal market from observed data. We </a:t>
            </a:r>
            <a:r>
              <a:rPr lang="en-US" sz="1725" b="1">
                <a:solidFill>
                  <a:srgbClr val="4A4A6A"/>
                </a:solidFill>
                <a:latin typeface="Arial" pitchFamily="34" charset="0"/>
                <a:ea typeface="Arial" pitchFamily="34" charset="-122"/>
                <a:cs typeface="Arial" pitchFamily="34" charset="-120"/>
              </a:rPr>
              <a:t>recover the signal from redispatch: </a:t>
            </a:r>
            <a:r>
              <a:rPr lang="en-US" sz="1725">
                <a:solidFill>
                  <a:srgbClr val="4A4A6A"/>
                </a:solidFill>
                <a:latin typeface="Arial" pitchFamily="34" charset="0"/>
                <a:ea typeface="Arial" pitchFamily="34" charset="-122"/>
                <a:cs typeface="Arial" pitchFamily="34" charset="-120"/>
              </a:rPr>
              <a:t>no network optimisation, no nodal prices needed.</a:t>
            </a:r>
            <a:endParaRPr lang="en-US" sz="1725"/>
          </a:p>
        </p:txBody>
      </p:sp>
      <p:sp>
        <p:nvSpPr>
          <p:cNvPr id="36" name="Text 34"/>
          <p:cNvSpPr/>
          <p:nvPr/>
        </p:nvSpPr>
        <p:spPr>
          <a:xfrm>
            <a:off x="9677400" y="6954738"/>
            <a:ext cx="8004810" cy="318046"/>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75">
                <a:solidFill>
                  <a:srgbClr val="6B7280"/>
                </a:solidFill>
                <a:latin typeface="Arial" pitchFamily="34" charset="0"/>
                <a:ea typeface="Arial" pitchFamily="34" charset="-122"/>
                <a:cs typeface="Arial" pitchFamily="34" charset="-120"/>
              </a:rPr>
              <a:t>Observed TSO behaviour instead of model assumptions: three public data sources suffice.</a:t>
            </a:r>
            <a:endParaRPr lang="en-US" sz="1575"/>
          </a:p>
        </p:txBody>
      </p:sp>
      <p:sp>
        <p:nvSpPr>
          <p:cNvPr id="37" name="Text 35"/>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38" name="Text 36"/>
          <p:cNvSpPr/>
          <p:nvPr/>
        </p:nvSpPr>
        <p:spPr>
          <a:xfrm>
            <a:off x="17245310" y="9715500"/>
            <a:ext cx="166390"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5</a:t>
            </a:r>
            <a:endParaRPr lang="en-US" sz="1275"/>
          </a:p>
        </p:txBody>
      </p:sp>
      <p:sp>
        <p:nvSpPr>
          <p:cNvPr id="39" name="Text 0">
            <a:extLst>
              <a:ext uri="{FF2B5EF4-FFF2-40B4-BE49-F238E27FC236}">
                <a16:creationId xmlns:a16="http://schemas.microsoft.com/office/drawing/2014/main" id="{C1A0E611-1CA8-25AD-3D42-7054B03DEBAA}"/>
              </a:ext>
            </a:extLst>
          </p:cNvPr>
          <p:cNvSpPr/>
          <p:nvPr/>
        </p:nvSpPr>
        <p:spPr>
          <a:xfrm>
            <a:off x="952500" y="666750"/>
            <a:ext cx="262314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01 · BACKGROUND</a:t>
            </a:r>
            <a:endParaRPr lang="en-US" sz="1650"/>
          </a:p>
        </p:txBody>
      </p:sp>
      <p:sp>
        <p:nvSpPr>
          <p:cNvPr id="40" name="Rectangle 4">
            <a:extLst>
              <a:ext uri="{FF2B5EF4-FFF2-40B4-BE49-F238E27FC236}">
                <a16:creationId xmlns:a16="http://schemas.microsoft.com/office/drawing/2014/main" id="{0928F977-2DBA-D1A3-D601-1B45C9226E5B}"/>
              </a:ext>
            </a:extLst>
          </p:cNvPr>
          <p:cNvSpPr/>
          <p:nvPr/>
        </p:nvSpPr>
        <p:spPr>
          <a:xfrm>
            <a:off x="4083996" y="-1053760"/>
            <a:ext cx="8619313" cy="20842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List some other methods of estimating battery siting. Should </a:t>
            </a:r>
            <a:r>
              <a:rPr lang="en-US" err="1">
                <a:ea typeface="Calibri"/>
                <a:cs typeface="Calibri"/>
              </a:rPr>
              <a:t>proably</a:t>
            </a:r>
            <a:r>
              <a:rPr lang="en-US">
                <a:ea typeface="Calibri"/>
                <a:cs typeface="Calibri"/>
              </a:rPr>
              <a:t> </a:t>
            </a:r>
            <a:r>
              <a:rPr lang="en-US" err="1">
                <a:ea typeface="Calibri"/>
                <a:cs typeface="Calibri"/>
              </a:rPr>
              <a:t>alteast</a:t>
            </a:r>
            <a:r>
              <a:rPr lang="en-US">
                <a:ea typeface="Calibri"/>
                <a:cs typeface="Calibri"/>
              </a:rPr>
              <a:t> include Simulation (</a:t>
            </a:r>
            <a:r>
              <a:rPr lang="en-US" err="1">
                <a:ea typeface="Calibri"/>
                <a:cs typeface="Calibri"/>
              </a:rPr>
              <a:t>pypsa-eur</a:t>
            </a:r>
            <a:r>
              <a:rPr lang="en-US">
                <a:ea typeface="Calibri"/>
                <a:cs typeface="Calibri"/>
              </a:rPr>
              <a:t> applied?), possible other methods for estimating siting </a:t>
            </a:r>
            <a:endParaRPr lang="en-US"/>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83919-EF90-992A-C733-886560769871}"/>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F873819-620C-D5A5-2FB3-F260B1A87680}"/>
              </a:ext>
            </a:extLst>
          </p:cNvPr>
          <p:cNvSpPr/>
          <p:nvPr/>
        </p:nvSpPr>
        <p:spPr>
          <a:xfrm>
            <a:off x="-2" y="-2"/>
            <a:ext cx="18288000" cy="10287000"/>
          </a:xfrm>
          <a:prstGeom prst="rect">
            <a:avLst/>
          </a:prstGeom>
          <a:solidFill>
            <a:srgbClr val="005293">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gn="ctr">
              <a:lnSpc>
                <a:spcPct val="114000"/>
              </a:lnSpc>
            </a:pPr>
            <a:endParaRPr lang="en-US"/>
          </a:p>
        </p:txBody>
      </p:sp>
      <p:graphicFrame>
        <p:nvGraphicFramePr>
          <p:cNvPr id="6" name="think-cell data - do not delete" hidden="1">
            <a:extLst>
              <a:ext uri="{FF2B5EF4-FFF2-40B4-BE49-F238E27FC236}">
                <a16:creationId xmlns:a16="http://schemas.microsoft.com/office/drawing/2014/main" id="{BCAFC945-FF16-1205-225B-4E8F625DDF90}"/>
              </a:ext>
            </a:extLst>
          </p:cNvPr>
          <p:cNvGraphicFramePr>
            <a:graphicFrameLocks/>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404" imgH="403" progId="TCLayout.ActiveDocument.1">
                  <p:embed/>
                </p:oleObj>
              </mc:Choice>
              <mc:Fallback>
                <p:oleObj name="think-cell Slide" r:id="rId4" imgW="404" imgH="403" progId="TCLayout.ActiveDocument.1">
                  <p:embed/>
                  <p:pic>
                    <p:nvPicPr>
                      <p:cNvPr id="6" name="think-cell data - do not delete" hidden="1">
                        <a:extLst>
                          <a:ext uri="{FF2B5EF4-FFF2-40B4-BE49-F238E27FC236}">
                            <a16:creationId xmlns:a16="http://schemas.microsoft.com/office/drawing/2014/main" id="{BCAFC945-FF16-1205-225B-4E8F625DDF90}"/>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1026" name="Picture 2" descr="Offshore wind energy | RVO.nl">
            <a:extLst>
              <a:ext uri="{FF2B5EF4-FFF2-40B4-BE49-F238E27FC236}">
                <a16:creationId xmlns:a16="http://schemas.microsoft.com/office/drawing/2014/main" id="{BF092F86-826C-884B-8B8A-A8308179355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26325" b="35318"/>
          <a:stretch>
            <a:fillRect/>
          </a:stretch>
        </p:blipFill>
        <p:spPr bwMode="auto">
          <a:xfrm>
            <a:off x="0" y="-1"/>
            <a:ext cx="18288000" cy="10287002"/>
          </a:xfrm>
          <a:prstGeom prst="rect">
            <a:avLst/>
          </a:prstGeom>
          <a:noFill/>
        </p:spPr>
      </p:pic>
      <p:pic>
        <p:nvPicPr>
          <p:cNvPr id="11" name="Picture 10">
            <a:extLst>
              <a:ext uri="{FF2B5EF4-FFF2-40B4-BE49-F238E27FC236}">
                <a16:creationId xmlns:a16="http://schemas.microsoft.com/office/drawing/2014/main" id="{466B03E9-BC64-AD1F-0398-5581E0624CE1}"/>
              </a:ext>
            </a:extLst>
          </p:cNvPr>
          <p:cNvPicPr>
            <a:picLocks noChangeAspect="1"/>
          </p:cNvPicPr>
          <p:nvPr/>
        </p:nvPicPr>
        <p:blipFill>
          <a:blip r:embed="rId7"/>
          <a:stretch>
            <a:fillRect/>
          </a:stretch>
        </p:blipFill>
        <p:spPr>
          <a:xfrm>
            <a:off x="16623018" y="531203"/>
            <a:ext cx="1059148" cy="965774"/>
          </a:xfrm>
          <a:prstGeom prst="rect">
            <a:avLst/>
          </a:prstGeom>
        </p:spPr>
      </p:pic>
      <p:sp>
        <p:nvSpPr>
          <p:cNvPr id="2" name="Titel 4">
            <a:extLst>
              <a:ext uri="{FF2B5EF4-FFF2-40B4-BE49-F238E27FC236}">
                <a16:creationId xmlns:a16="http://schemas.microsoft.com/office/drawing/2014/main" id="{B8BD15F8-E5DF-2B52-1DE9-D0D02C460A65}"/>
              </a:ext>
            </a:extLst>
          </p:cNvPr>
          <p:cNvSpPr txBox="1">
            <a:spLocks/>
          </p:cNvSpPr>
          <p:nvPr/>
        </p:nvSpPr>
        <p:spPr>
          <a:xfrm>
            <a:off x="942981" y="2248798"/>
            <a:ext cx="17017998" cy="200840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14999"/>
              </a:lnSpc>
              <a:spcBef>
                <a:spcPts val="0"/>
              </a:spcBef>
              <a:spcAft>
                <a:spcPts val="0"/>
              </a:spcAft>
            </a:pPr>
            <a:r>
              <a:rPr lang="en-US" sz="6400" b="1" dirty="0">
                <a:solidFill>
                  <a:srgbClr val="0070C0"/>
                </a:solidFill>
                <a:latin typeface="Arial Nova"/>
                <a:cs typeface="Arial"/>
              </a:rPr>
              <a:t>Chapter 2:</a:t>
            </a:r>
          </a:p>
          <a:p>
            <a:pPr>
              <a:lnSpc>
                <a:spcPct val="114999"/>
              </a:lnSpc>
              <a:spcBef>
                <a:spcPts val="0"/>
              </a:spcBef>
              <a:spcAft>
                <a:spcPts val="0"/>
              </a:spcAft>
            </a:pPr>
            <a:r>
              <a:rPr lang="en-US" sz="6400" b="1" dirty="0">
                <a:solidFill>
                  <a:srgbClr val="0070C0"/>
                </a:solidFill>
                <a:latin typeface="Arial Nova"/>
                <a:cs typeface="Arial"/>
              </a:rPr>
              <a:t>Theory</a:t>
            </a:r>
            <a:endParaRPr lang="en-US" sz="7200" b="1" dirty="0">
              <a:latin typeface="Arial Nova" panose="020F0502020204030204" pitchFamily="34" charset="0"/>
            </a:endParaRPr>
          </a:p>
        </p:txBody>
      </p:sp>
    </p:spTree>
    <p:extLst>
      <p:ext uri="{BB962C8B-B14F-4D97-AF65-F5344CB8AC3E}">
        <p14:creationId xmlns:p14="http://schemas.microsoft.com/office/powerpoint/2010/main" val="3573191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1854776" cy="361950"/>
          </a:xfrm>
          <a:prstGeom prst="rect">
            <a:avLst/>
          </a:prstGeom>
          <a:noFill/>
          <a:ln/>
        </p:spPr>
        <p:txBody>
          <a:bodyPr wrap="square" lIns="25400" tIns="25400" rIns="25400" bIns="25400" rtlCol="0" anchor="t">
            <a:normAutofit/>
          </a:bodyPr>
          <a:lstStyle/>
          <a:p>
            <a:pPr marL="0" indent="0" algn="l">
              <a:buNone/>
            </a:pPr>
            <a:r>
              <a:rPr lang="en-US" sz="1650" b="1" kern="0" spc="225" dirty="0">
                <a:solidFill>
                  <a:srgbClr val="005293"/>
                </a:solidFill>
                <a:latin typeface="Arial" pitchFamily="34" charset="0"/>
                <a:ea typeface="Arial" pitchFamily="34" charset="-122"/>
                <a:cs typeface="Arial" pitchFamily="34" charset="-120"/>
              </a:rPr>
              <a:t>02 · THEORY</a:t>
            </a:r>
            <a:endParaRPr lang="en-US" sz="1650" dirty="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52450"/>
          </a:xfrm>
          <a:prstGeom prst="rect">
            <a:avLst/>
          </a:prstGeom>
          <a:noFill/>
          <a:ln/>
        </p:spPr>
        <p:txBody>
          <a:bodyPr wrap="square" lIns="25400" tIns="25400" rIns="25400" bIns="25400" rtlCol="0" anchor="t">
            <a:normAutofit lnSpcReduction="10000"/>
          </a:bodyPr>
          <a:lstStyle/>
          <a:p>
            <a:pPr marL="0" indent="0" algn="l">
              <a:buNone/>
            </a:pPr>
            <a:r>
              <a:rPr lang="en-US" sz="3450" b="1">
                <a:solidFill>
                  <a:srgbClr val="1A1A2E"/>
                </a:solidFill>
                <a:latin typeface="Arial" pitchFamily="34" charset="0"/>
                <a:ea typeface="Arial" pitchFamily="34" charset="-122"/>
                <a:cs typeface="Arial" pitchFamily="34" charset="-120"/>
              </a:rPr>
              <a:t>Four building blocks</a:t>
            </a:r>
            <a:endParaRPr lang="en-US" sz="3450"/>
          </a:p>
        </p:txBody>
      </p:sp>
      <p:sp>
        <p:nvSpPr>
          <p:cNvPr id="5" name="Shape 3"/>
          <p:cNvSpPr/>
          <p:nvPr/>
        </p:nvSpPr>
        <p:spPr>
          <a:xfrm>
            <a:off x="952500" y="4776490"/>
            <a:ext cx="8039100" cy="19050"/>
          </a:xfrm>
          <a:prstGeom prst="rect">
            <a:avLst/>
          </a:prstGeom>
          <a:solidFill>
            <a:srgbClr val="E2E8F0"/>
          </a:solidFill>
          <a:ln/>
        </p:spPr>
        <p:txBody>
          <a:bodyPr/>
          <a:lstStyle/>
          <a:p>
            <a:endParaRPr lang="en-GB"/>
          </a:p>
        </p:txBody>
      </p:sp>
      <p:sp>
        <p:nvSpPr>
          <p:cNvPr id="6" name="Shape 4"/>
          <p:cNvSpPr/>
          <p:nvPr/>
        </p:nvSpPr>
        <p:spPr>
          <a:xfrm>
            <a:off x="952500" y="2057400"/>
            <a:ext cx="8039100" cy="57150"/>
          </a:xfrm>
          <a:prstGeom prst="rect">
            <a:avLst/>
          </a:prstGeom>
          <a:solidFill>
            <a:srgbClr val="005293"/>
          </a:solidFill>
          <a:ln/>
        </p:spPr>
        <p:txBody>
          <a:bodyPr/>
          <a:lstStyle/>
          <a:p>
            <a:endParaRPr lang="en-GB"/>
          </a:p>
        </p:txBody>
      </p:sp>
      <p:sp>
        <p:nvSpPr>
          <p:cNvPr id="7" name="Shape 5"/>
          <p:cNvSpPr/>
          <p:nvPr/>
        </p:nvSpPr>
        <p:spPr>
          <a:xfrm>
            <a:off x="952500" y="2057400"/>
            <a:ext cx="19050" cy="2738140"/>
          </a:xfrm>
          <a:prstGeom prst="rect">
            <a:avLst/>
          </a:prstGeom>
          <a:solidFill>
            <a:srgbClr val="E2E8F0"/>
          </a:solidFill>
          <a:ln/>
        </p:spPr>
        <p:txBody>
          <a:bodyPr/>
          <a:lstStyle/>
          <a:p>
            <a:endParaRPr lang="en-GB"/>
          </a:p>
        </p:txBody>
      </p:sp>
      <p:sp>
        <p:nvSpPr>
          <p:cNvPr id="8" name="Shape 6"/>
          <p:cNvSpPr/>
          <p:nvPr/>
        </p:nvSpPr>
        <p:spPr>
          <a:xfrm>
            <a:off x="8972550" y="2057400"/>
            <a:ext cx="19050" cy="2738140"/>
          </a:xfrm>
          <a:prstGeom prst="rect">
            <a:avLst/>
          </a:prstGeom>
          <a:solidFill>
            <a:srgbClr val="E2E8F0"/>
          </a:solidFill>
          <a:ln/>
        </p:spPr>
        <p:txBody>
          <a:bodyPr/>
          <a:lstStyle/>
          <a:p>
            <a:endParaRPr lang="en-GB"/>
          </a:p>
        </p:txBody>
      </p:sp>
      <p:sp>
        <p:nvSpPr>
          <p:cNvPr id="9" name="Text 7"/>
          <p:cNvSpPr/>
          <p:nvPr/>
        </p:nvSpPr>
        <p:spPr>
          <a:xfrm>
            <a:off x="1333500" y="2419350"/>
            <a:ext cx="8004810" cy="333375"/>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1A1A2E"/>
                </a:solidFill>
                <a:latin typeface="Arial" pitchFamily="34" charset="0"/>
                <a:ea typeface="Arial" pitchFamily="34" charset="-122"/>
                <a:cs typeface="Arial" pitchFamily="34" charset="-120"/>
              </a:rPr>
              <a:t>Redispatch events</a:t>
            </a:r>
            <a:endParaRPr lang="en-US" sz="1950"/>
          </a:p>
        </p:txBody>
      </p:sp>
      <p:sp>
        <p:nvSpPr>
          <p:cNvPr id="10" name="Text 8"/>
          <p:cNvSpPr/>
          <p:nvPr/>
        </p:nvSpPr>
        <p:spPr>
          <a:xfrm>
            <a:off x="1333500" y="2828925"/>
            <a:ext cx="8004810" cy="257175"/>
          </a:xfrm>
          <a:prstGeom prst="rect">
            <a:avLst/>
          </a:prstGeom>
          <a:noFill/>
          <a:ln/>
        </p:spPr>
        <p:txBody>
          <a:bodyPr wrap="square" lIns="25400" tIns="25400" rIns="25400" bIns="25400" rtlCol="0" anchor="t">
            <a:normAutofit lnSpcReduction="10000"/>
          </a:bodyPr>
          <a:lstStyle/>
          <a:p>
            <a:pPr marL="0" indent="0" algn="l">
              <a:buNone/>
            </a:pPr>
            <a:r>
              <a:rPr lang="en-US" sz="1500" b="1">
                <a:solidFill>
                  <a:srgbClr val="005293"/>
                </a:solidFill>
                <a:latin typeface="Arial" pitchFamily="34" charset="0"/>
                <a:ea typeface="Arial" pitchFamily="34" charset="-122"/>
                <a:cs typeface="Arial" pitchFamily="34" charset="-120"/>
              </a:rPr>
              <a:t>Netztransparenz.de · 50Hertz, Amprion, TenneT, TransnetBW</a:t>
            </a:r>
            <a:endParaRPr lang="en-US" sz="1500"/>
          </a:p>
        </p:txBody>
      </p:sp>
      <p:sp>
        <p:nvSpPr>
          <p:cNvPr id="11" name="Text 9"/>
          <p:cNvSpPr/>
          <p:nvPr/>
        </p:nvSpPr>
        <p:spPr>
          <a:xfrm>
            <a:off x="1333500" y="3162300"/>
            <a:ext cx="7495413" cy="67329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725">
                <a:solidFill>
                  <a:srgbClr val="4A4A6A"/>
                </a:solidFill>
                <a:latin typeface="Arial" pitchFamily="34" charset="0"/>
                <a:ea typeface="Arial" pitchFamily="34" charset="-122"/>
                <a:cs typeface="Arial" pitchFamily="34" charset="-120"/>
              </a:rPr>
              <a:t>Per-event records 2013–2026: timing, direction, MW/MWh, reason, affected plant. </a:t>
            </a:r>
            <a:r>
              <a:rPr lang="en-US" sz="1725" b="1">
                <a:solidFill>
                  <a:srgbClr val="4A4A6A"/>
                </a:solidFill>
                <a:latin typeface="Arial" pitchFamily="34" charset="0"/>
                <a:ea typeface="Arial" pitchFamily="34" charset="-122"/>
                <a:cs typeface="Arial" pitchFamily="34" charset="-120"/>
              </a:rPr>
              <a:t>123,362 events · 182.03 TWh </a:t>
            </a:r>
            <a:r>
              <a:rPr lang="en-US" sz="1725">
                <a:solidFill>
                  <a:srgbClr val="4A4A6A"/>
                </a:solidFill>
                <a:latin typeface="Arial" pitchFamily="34" charset="0"/>
                <a:ea typeface="Arial" pitchFamily="34" charset="-122"/>
                <a:cs typeface="Arial" pitchFamily="34" charset="-120"/>
              </a:rPr>
              <a:t>before cleaning.</a:t>
            </a:r>
            <a:endParaRPr lang="en-US" sz="1725"/>
          </a:p>
        </p:txBody>
      </p:sp>
      <p:sp>
        <p:nvSpPr>
          <p:cNvPr id="12" name="Text 10"/>
          <p:cNvSpPr/>
          <p:nvPr/>
        </p:nvSpPr>
        <p:spPr>
          <a:xfrm>
            <a:off x="1333500" y="3911798"/>
            <a:ext cx="7495413" cy="59799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575">
                <a:solidFill>
                  <a:srgbClr val="6B7280"/>
                </a:solidFill>
                <a:latin typeface="Arial" pitchFamily="34" charset="0"/>
                <a:ea typeface="Arial" pitchFamily="34" charset="-122"/>
                <a:cs typeface="Arial" pitchFamily="34" charset="-120"/>
              </a:rPr>
              <a:t>Filter: load-induced only; countertrading &amp; exchange removed (no identifiable location).</a:t>
            </a:r>
            <a:endParaRPr lang="en-US" sz="1575"/>
          </a:p>
        </p:txBody>
      </p:sp>
      <p:sp>
        <p:nvSpPr>
          <p:cNvPr id="13" name="Shape 11"/>
          <p:cNvSpPr/>
          <p:nvPr/>
        </p:nvSpPr>
        <p:spPr>
          <a:xfrm>
            <a:off x="9296400" y="4776490"/>
            <a:ext cx="8039100" cy="19050"/>
          </a:xfrm>
          <a:prstGeom prst="rect">
            <a:avLst/>
          </a:prstGeom>
          <a:solidFill>
            <a:srgbClr val="E2E8F0"/>
          </a:solidFill>
          <a:ln/>
        </p:spPr>
        <p:txBody>
          <a:bodyPr/>
          <a:lstStyle/>
          <a:p>
            <a:endParaRPr lang="en-GB"/>
          </a:p>
        </p:txBody>
      </p:sp>
      <p:sp>
        <p:nvSpPr>
          <p:cNvPr id="14" name="Shape 12"/>
          <p:cNvSpPr/>
          <p:nvPr/>
        </p:nvSpPr>
        <p:spPr>
          <a:xfrm>
            <a:off x="9296400" y="2057400"/>
            <a:ext cx="8039100" cy="57150"/>
          </a:xfrm>
          <a:prstGeom prst="rect">
            <a:avLst/>
          </a:prstGeom>
          <a:solidFill>
            <a:srgbClr val="A2AD00"/>
          </a:solidFill>
          <a:ln/>
        </p:spPr>
        <p:txBody>
          <a:bodyPr/>
          <a:lstStyle/>
          <a:p>
            <a:endParaRPr lang="en-GB"/>
          </a:p>
        </p:txBody>
      </p:sp>
      <p:sp>
        <p:nvSpPr>
          <p:cNvPr id="15" name="Shape 13"/>
          <p:cNvSpPr/>
          <p:nvPr/>
        </p:nvSpPr>
        <p:spPr>
          <a:xfrm>
            <a:off x="9296400" y="2057400"/>
            <a:ext cx="19050" cy="2738140"/>
          </a:xfrm>
          <a:prstGeom prst="rect">
            <a:avLst/>
          </a:prstGeom>
          <a:solidFill>
            <a:srgbClr val="E2E8F0"/>
          </a:solidFill>
          <a:ln/>
        </p:spPr>
        <p:txBody>
          <a:bodyPr/>
          <a:lstStyle/>
          <a:p>
            <a:endParaRPr lang="en-GB"/>
          </a:p>
        </p:txBody>
      </p:sp>
      <p:sp>
        <p:nvSpPr>
          <p:cNvPr id="16" name="Shape 14"/>
          <p:cNvSpPr/>
          <p:nvPr/>
        </p:nvSpPr>
        <p:spPr>
          <a:xfrm>
            <a:off x="17316450" y="2057400"/>
            <a:ext cx="19050" cy="2738140"/>
          </a:xfrm>
          <a:prstGeom prst="rect">
            <a:avLst/>
          </a:prstGeom>
          <a:solidFill>
            <a:srgbClr val="E2E8F0"/>
          </a:solidFill>
          <a:ln/>
        </p:spPr>
        <p:txBody>
          <a:bodyPr/>
          <a:lstStyle/>
          <a:p>
            <a:endParaRPr lang="en-GB"/>
          </a:p>
        </p:txBody>
      </p:sp>
      <p:sp>
        <p:nvSpPr>
          <p:cNvPr id="17" name="Text 15"/>
          <p:cNvSpPr/>
          <p:nvPr/>
        </p:nvSpPr>
        <p:spPr>
          <a:xfrm>
            <a:off x="9677400" y="2419350"/>
            <a:ext cx="8004810" cy="333375"/>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1A1A2E"/>
                </a:solidFill>
                <a:latin typeface="Arial" pitchFamily="34" charset="0"/>
                <a:ea typeface="Arial" pitchFamily="34" charset="-122"/>
                <a:cs typeface="Arial" pitchFamily="34" charset="-120"/>
              </a:rPr>
              <a:t>Battery fleet</a:t>
            </a:r>
            <a:endParaRPr lang="en-US" sz="1950"/>
          </a:p>
        </p:txBody>
      </p:sp>
      <p:sp>
        <p:nvSpPr>
          <p:cNvPr id="18" name="Text 16"/>
          <p:cNvSpPr/>
          <p:nvPr/>
        </p:nvSpPr>
        <p:spPr>
          <a:xfrm>
            <a:off x="9677400" y="2828925"/>
            <a:ext cx="8004810" cy="257175"/>
          </a:xfrm>
          <a:prstGeom prst="rect">
            <a:avLst/>
          </a:prstGeom>
          <a:noFill/>
          <a:ln/>
        </p:spPr>
        <p:txBody>
          <a:bodyPr wrap="square" lIns="25400" tIns="25400" rIns="25400" bIns="25400" rtlCol="0" anchor="t">
            <a:normAutofit lnSpcReduction="10000"/>
          </a:bodyPr>
          <a:lstStyle/>
          <a:p>
            <a:pPr marL="0" indent="0" algn="l">
              <a:buNone/>
            </a:pPr>
            <a:r>
              <a:rPr lang="en-US" sz="1500" b="1">
                <a:solidFill>
                  <a:srgbClr val="005293"/>
                </a:solidFill>
                <a:latin typeface="Arial" pitchFamily="34" charset="0"/>
                <a:ea typeface="Arial" pitchFamily="34" charset="-122"/>
                <a:cs typeface="Arial" pitchFamily="34" charset="-120"/>
              </a:rPr>
              <a:t>Marktstammdatenregister (BNetzA), via API</a:t>
            </a:r>
            <a:endParaRPr lang="en-US" sz="1500"/>
          </a:p>
        </p:txBody>
      </p:sp>
      <p:sp>
        <p:nvSpPr>
          <p:cNvPr id="19" name="Text 17"/>
          <p:cNvSpPr/>
          <p:nvPr/>
        </p:nvSpPr>
        <p:spPr>
          <a:xfrm>
            <a:off x="9677400" y="3162300"/>
            <a:ext cx="7495413" cy="67329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725">
                <a:solidFill>
                  <a:srgbClr val="4A4A6A"/>
                </a:solidFill>
                <a:latin typeface="Arial" pitchFamily="34" charset="0"/>
                <a:ea typeface="Arial" pitchFamily="34" charset="-122"/>
                <a:cs typeface="Arial" pitchFamily="34" charset="-120"/>
              </a:rPr>
              <a:t>Location, status and rated power of all </a:t>
            </a:r>
            <a:r>
              <a:rPr lang="en-US" sz="1725" b="1">
                <a:solidFill>
                  <a:srgbClr val="4A4A6A"/>
                </a:solidFill>
                <a:latin typeface="Arial" pitchFamily="34" charset="0"/>
                <a:ea typeface="Arial" pitchFamily="34" charset="-122"/>
                <a:cs typeface="Arial" pitchFamily="34" charset="-120"/>
              </a:rPr>
              <a:t>active and planned </a:t>
            </a:r>
            <a:r>
              <a:rPr lang="en-US" sz="1725">
                <a:solidFill>
                  <a:srgbClr val="4A4A6A"/>
                </a:solidFill>
                <a:latin typeface="Arial" pitchFamily="34" charset="0"/>
                <a:ea typeface="Arial" pitchFamily="34" charset="-122"/>
                <a:cs typeface="Arial" pitchFamily="34" charset="-120"/>
              </a:rPr>
              <a:t>battery storage units in Germany.</a:t>
            </a:r>
            <a:endParaRPr lang="en-US" sz="1725"/>
          </a:p>
        </p:txBody>
      </p:sp>
      <p:sp>
        <p:nvSpPr>
          <p:cNvPr id="20" name="Text 18"/>
          <p:cNvSpPr/>
          <p:nvPr/>
        </p:nvSpPr>
        <p:spPr>
          <a:xfrm>
            <a:off x="9677400" y="3911798"/>
            <a:ext cx="8004810" cy="318046"/>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75">
                <a:solidFill>
                  <a:srgbClr val="6B7280"/>
                </a:solidFill>
                <a:latin typeface="Arial" pitchFamily="34" charset="0"/>
                <a:ea typeface="Arial" pitchFamily="34" charset="-122"/>
                <a:cs typeface="Arial" pitchFamily="34" charset="-120"/>
              </a:rPr>
              <a:t>Rated power (MW) used — energy capacity is not publicly reported.</a:t>
            </a:r>
            <a:endParaRPr lang="en-US" sz="1575"/>
          </a:p>
        </p:txBody>
      </p:sp>
      <p:sp>
        <p:nvSpPr>
          <p:cNvPr id="21" name="Shape 19"/>
          <p:cNvSpPr/>
          <p:nvPr/>
        </p:nvSpPr>
        <p:spPr>
          <a:xfrm>
            <a:off x="952500" y="7539484"/>
            <a:ext cx="8039100" cy="19050"/>
          </a:xfrm>
          <a:prstGeom prst="rect">
            <a:avLst/>
          </a:prstGeom>
          <a:solidFill>
            <a:srgbClr val="E2E8F0"/>
          </a:solidFill>
          <a:ln/>
        </p:spPr>
        <p:txBody>
          <a:bodyPr/>
          <a:lstStyle/>
          <a:p>
            <a:endParaRPr lang="en-GB"/>
          </a:p>
        </p:txBody>
      </p:sp>
      <p:sp>
        <p:nvSpPr>
          <p:cNvPr id="22" name="Shape 20"/>
          <p:cNvSpPr/>
          <p:nvPr/>
        </p:nvSpPr>
        <p:spPr>
          <a:xfrm>
            <a:off x="952500" y="5100340"/>
            <a:ext cx="8039100" cy="57150"/>
          </a:xfrm>
          <a:prstGeom prst="rect">
            <a:avLst/>
          </a:prstGeom>
          <a:solidFill>
            <a:srgbClr val="64A0C8"/>
          </a:solidFill>
          <a:ln/>
        </p:spPr>
        <p:txBody>
          <a:bodyPr/>
          <a:lstStyle/>
          <a:p>
            <a:endParaRPr lang="en-GB"/>
          </a:p>
        </p:txBody>
      </p:sp>
      <p:sp>
        <p:nvSpPr>
          <p:cNvPr id="23" name="Shape 21"/>
          <p:cNvSpPr/>
          <p:nvPr/>
        </p:nvSpPr>
        <p:spPr>
          <a:xfrm>
            <a:off x="952500" y="5100340"/>
            <a:ext cx="19050" cy="2458194"/>
          </a:xfrm>
          <a:prstGeom prst="rect">
            <a:avLst/>
          </a:prstGeom>
          <a:solidFill>
            <a:srgbClr val="E2E8F0"/>
          </a:solidFill>
          <a:ln/>
        </p:spPr>
        <p:txBody>
          <a:bodyPr/>
          <a:lstStyle/>
          <a:p>
            <a:endParaRPr lang="en-GB"/>
          </a:p>
        </p:txBody>
      </p:sp>
      <p:sp>
        <p:nvSpPr>
          <p:cNvPr id="24" name="Shape 22"/>
          <p:cNvSpPr/>
          <p:nvPr/>
        </p:nvSpPr>
        <p:spPr>
          <a:xfrm>
            <a:off x="8972550" y="5100340"/>
            <a:ext cx="19050" cy="2458194"/>
          </a:xfrm>
          <a:prstGeom prst="rect">
            <a:avLst/>
          </a:prstGeom>
          <a:solidFill>
            <a:srgbClr val="E2E8F0"/>
          </a:solidFill>
          <a:ln/>
        </p:spPr>
        <p:txBody>
          <a:bodyPr/>
          <a:lstStyle/>
          <a:p>
            <a:endParaRPr lang="en-GB"/>
          </a:p>
        </p:txBody>
      </p:sp>
      <p:sp>
        <p:nvSpPr>
          <p:cNvPr id="25" name="Text 23"/>
          <p:cNvSpPr/>
          <p:nvPr/>
        </p:nvSpPr>
        <p:spPr>
          <a:xfrm>
            <a:off x="1333500" y="5462290"/>
            <a:ext cx="8004810" cy="333375"/>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1A1A2E"/>
                </a:solidFill>
                <a:latin typeface="Arial" pitchFamily="34" charset="0"/>
                <a:ea typeface="Arial" pitchFamily="34" charset="-122"/>
                <a:cs typeface="Arial" pitchFamily="34" charset="-120"/>
              </a:rPr>
              <a:t>Intraday prices</a:t>
            </a:r>
            <a:endParaRPr lang="en-US" sz="1950"/>
          </a:p>
        </p:txBody>
      </p:sp>
      <p:sp>
        <p:nvSpPr>
          <p:cNvPr id="26" name="Text 24"/>
          <p:cNvSpPr/>
          <p:nvPr/>
        </p:nvSpPr>
        <p:spPr>
          <a:xfrm>
            <a:off x="1333500" y="5871865"/>
            <a:ext cx="8004810" cy="257175"/>
          </a:xfrm>
          <a:prstGeom prst="rect">
            <a:avLst/>
          </a:prstGeom>
          <a:noFill/>
          <a:ln/>
        </p:spPr>
        <p:txBody>
          <a:bodyPr wrap="square" lIns="25400" tIns="25400" rIns="25400" bIns="25400" rtlCol="0" anchor="t">
            <a:normAutofit lnSpcReduction="10000"/>
          </a:bodyPr>
          <a:lstStyle/>
          <a:p>
            <a:pPr marL="0" indent="0" algn="l">
              <a:buNone/>
            </a:pPr>
            <a:r>
              <a:rPr lang="en-US" sz="1500" b="1">
                <a:solidFill>
                  <a:srgbClr val="005293"/>
                </a:solidFill>
                <a:latin typeface="Arial" pitchFamily="34" charset="0"/>
                <a:ea typeface="Arial" pitchFamily="34" charset="-122"/>
                <a:cs typeface="Arial" pitchFamily="34" charset="-120"/>
              </a:rPr>
              <a:t>SMARD API</a:t>
            </a:r>
            <a:endParaRPr lang="en-US" sz="1500"/>
          </a:p>
        </p:txBody>
      </p:sp>
      <p:sp>
        <p:nvSpPr>
          <p:cNvPr id="27" name="Text 25"/>
          <p:cNvSpPr/>
          <p:nvPr/>
        </p:nvSpPr>
        <p:spPr>
          <a:xfrm>
            <a:off x="1333500" y="6205240"/>
            <a:ext cx="7495413" cy="67329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725">
                <a:solidFill>
                  <a:srgbClr val="4A4A6A"/>
                </a:solidFill>
                <a:latin typeface="Arial" pitchFamily="34" charset="0"/>
                <a:ea typeface="Arial" pitchFamily="34" charset="-122"/>
                <a:cs typeface="Arial" pitchFamily="34" charset="-120"/>
              </a:rPr>
              <a:t>Quarter-hourly intraday spot prices for the DE-LU bidding zone — the zonal base price of our scoring.</a:t>
            </a:r>
            <a:endParaRPr lang="en-US" sz="1725"/>
          </a:p>
        </p:txBody>
      </p:sp>
      <p:sp>
        <p:nvSpPr>
          <p:cNvPr id="28" name="Text 26"/>
          <p:cNvSpPr/>
          <p:nvPr/>
        </p:nvSpPr>
        <p:spPr>
          <a:xfrm>
            <a:off x="1333500" y="6954738"/>
            <a:ext cx="8004810" cy="318046"/>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75">
                <a:solidFill>
                  <a:srgbClr val="6B7280"/>
                </a:solidFill>
                <a:latin typeface="Arial" pitchFamily="34" charset="0"/>
                <a:ea typeface="Arial" pitchFamily="34" charset="-122"/>
                <a:cs typeface="Arial" pitchFamily="34" charset="-120"/>
              </a:rPr>
              <a:t>Scoring window: Oct 2021 – Dec 2025 (Redispatch 2.0 era, full coverage).</a:t>
            </a:r>
            <a:endParaRPr lang="en-US" sz="1575"/>
          </a:p>
        </p:txBody>
      </p:sp>
      <p:sp>
        <p:nvSpPr>
          <p:cNvPr id="29" name="Shape 27"/>
          <p:cNvSpPr/>
          <p:nvPr/>
        </p:nvSpPr>
        <p:spPr>
          <a:xfrm>
            <a:off x="9296400" y="7539484"/>
            <a:ext cx="8039100" cy="19050"/>
          </a:xfrm>
          <a:prstGeom prst="rect">
            <a:avLst/>
          </a:prstGeom>
          <a:solidFill>
            <a:srgbClr val="E2E8F0"/>
          </a:solidFill>
          <a:ln/>
        </p:spPr>
        <p:txBody>
          <a:bodyPr/>
          <a:lstStyle/>
          <a:p>
            <a:endParaRPr lang="en-GB"/>
          </a:p>
        </p:txBody>
      </p:sp>
      <p:sp>
        <p:nvSpPr>
          <p:cNvPr id="30" name="Shape 28"/>
          <p:cNvSpPr/>
          <p:nvPr/>
        </p:nvSpPr>
        <p:spPr>
          <a:xfrm>
            <a:off x="9296400" y="5100340"/>
            <a:ext cx="8039100" cy="57150"/>
          </a:xfrm>
          <a:prstGeom prst="rect">
            <a:avLst/>
          </a:prstGeom>
          <a:solidFill>
            <a:srgbClr val="E37222"/>
          </a:solidFill>
          <a:ln/>
        </p:spPr>
        <p:txBody>
          <a:bodyPr/>
          <a:lstStyle/>
          <a:p>
            <a:endParaRPr lang="en-GB"/>
          </a:p>
        </p:txBody>
      </p:sp>
      <p:sp>
        <p:nvSpPr>
          <p:cNvPr id="31" name="Shape 29"/>
          <p:cNvSpPr/>
          <p:nvPr/>
        </p:nvSpPr>
        <p:spPr>
          <a:xfrm>
            <a:off x="9296400" y="5100340"/>
            <a:ext cx="19050" cy="2458194"/>
          </a:xfrm>
          <a:prstGeom prst="rect">
            <a:avLst/>
          </a:prstGeom>
          <a:solidFill>
            <a:srgbClr val="E2E8F0"/>
          </a:solidFill>
          <a:ln/>
        </p:spPr>
        <p:txBody>
          <a:bodyPr/>
          <a:lstStyle/>
          <a:p>
            <a:endParaRPr lang="en-GB"/>
          </a:p>
        </p:txBody>
      </p:sp>
      <p:sp>
        <p:nvSpPr>
          <p:cNvPr id="32" name="Shape 30"/>
          <p:cNvSpPr/>
          <p:nvPr/>
        </p:nvSpPr>
        <p:spPr>
          <a:xfrm>
            <a:off x="17316450" y="5100340"/>
            <a:ext cx="19050" cy="2458194"/>
          </a:xfrm>
          <a:prstGeom prst="rect">
            <a:avLst/>
          </a:prstGeom>
          <a:solidFill>
            <a:srgbClr val="E2E8F0"/>
          </a:solidFill>
          <a:ln/>
        </p:spPr>
        <p:txBody>
          <a:bodyPr/>
          <a:lstStyle/>
          <a:p>
            <a:endParaRPr lang="en-GB"/>
          </a:p>
        </p:txBody>
      </p:sp>
      <p:sp>
        <p:nvSpPr>
          <p:cNvPr id="33" name="Text 31"/>
          <p:cNvSpPr/>
          <p:nvPr/>
        </p:nvSpPr>
        <p:spPr>
          <a:xfrm>
            <a:off x="9677400" y="5462290"/>
            <a:ext cx="8004810" cy="333375"/>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1A1A2E"/>
                </a:solidFill>
                <a:latin typeface="Arial" pitchFamily="34" charset="0"/>
                <a:ea typeface="Arial" pitchFamily="34" charset="-122"/>
                <a:cs typeface="Arial" pitchFamily="34" charset="-120"/>
              </a:rPr>
              <a:t>Grid topology</a:t>
            </a:r>
            <a:endParaRPr lang="en-US" sz="1950"/>
          </a:p>
        </p:txBody>
      </p:sp>
      <p:sp>
        <p:nvSpPr>
          <p:cNvPr id="34" name="Text 32"/>
          <p:cNvSpPr/>
          <p:nvPr/>
        </p:nvSpPr>
        <p:spPr>
          <a:xfrm>
            <a:off x="9677400" y="5871865"/>
            <a:ext cx="8004810" cy="257175"/>
          </a:xfrm>
          <a:prstGeom prst="rect">
            <a:avLst/>
          </a:prstGeom>
          <a:noFill/>
          <a:ln/>
        </p:spPr>
        <p:txBody>
          <a:bodyPr wrap="square" lIns="25400" tIns="25400" rIns="25400" bIns="25400" rtlCol="0" anchor="t">
            <a:normAutofit lnSpcReduction="10000"/>
          </a:bodyPr>
          <a:lstStyle/>
          <a:p>
            <a:pPr marL="0" indent="0" algn="l">
              <a:buNone/>
            </a:pPr>
            <a:r>
              <a:rPr lang="en-US" sz="1500" b="1">
                <a:solidFill>
                  <a:srgbClr val="005293"/>
                </a:solidFill>
                <a:latin typeface="Arial" pitchFamily="34" charset="0"/>
                <a:ea typeface="Arial" pitchFamily="34" charset="-122"/>
                <a:cs typeface="Arial" pitchFamily="34" charset="-120"/>
              </a:rPr>
              <a:t>Open grid data (Xiong et al. 2025) · PyPSA</a:t>
            </a:r>
            <a:endParaRPr lang="en-US" sz="1500"/>
          </a:p>
        </p:txBody>
      </p:sp>
      <p:sp>
        <p:nvSpPr>
          <p:cNvPr id="35" name="Text 33"/>
          <p:cNvSpPr/>
          <p:nvPr/>
        </p:nvSpPr>
        <p:spPr>
          <a:xfrm>
            <a:off x="9677400" y="6205240"/>
            <a:ext cx="7495413" cy="67329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725">
                <a:solidFill>
                  <a:srgbClr val="4A4A6A"/>
                </a:solidFill>
                <a:latin typeface="Arial" pitchFamily="34" charset="0"/>
                <a:ea typeface="Arial" pitchFamily="34" charset="-122"/>
                <a:cs typeface="Arial" pitchFamily="34" charset="-120"/>
              </a:rPr>
              <a:t>DC power-flow model of the German 220/380 kV transmission grid → </a:t>
            </a:r>
            <a:r>
              <a:rPr lang="en-US" sz="1725" b="1">
                <a:solidFill>
                  <a:srgbClr val="4A4A6A"/>
                </a:solidFill>
                <a:latin typeface="Arial" pitchFamily="34" charset="0"/>
                <a:ea typeface="Arial" pitchFamily="34" charset="-122"/>
                <a:cs typeface="Arial" pitchFamily="34" charset="-120"/>
              </a:rPr>
              <a:t>PTDF matrix </a:t>
            </a:r>
            <a:r>
              <a:rPr lang="en-US" sz="1725">
                <a:solidFill>
                  <a:srgbClr val="4A4A6A"/>
                </a:solidFill>
                <a:latin typeface="Arial" pitchFamily="34" charset="0"/>
                <a:ea typeface="Arial" pitchFamily="34" charset="-122"/>
                <a:cs typeface="Arial" pitchFamily="34" charset="-120"/>
              </a:rPr>
              <a:t>for electrical distances.</a:t>
            </a:r>
            <a:endParaRPr lang="en-US" sz="1725"/>
          </a:p>
        </p:txBody>
      </p:sp>
      <p:sp>
        <p:nvSpPr>
          <p:cNvPr id="36" name="Text 34"/>
          <p:cNvSpPr/>
          <p:nvPr/>
        </p:nvSpPr>
        <p:spPr>
          <a:xfrm>
            <a:off x="9677400" y="6954738"/>
            <a:ext cx="8004810" cy="318046"/>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75">
                <a:solidFill>
                  <a:srgbClr val="6B7280"/>
                </a:solidFill>
                <a:latin typeface="Arial" pitchFamily="34" charset="0"/>
                <a:ea typeface="Arial" pitchFamily="34" charset="-122"/>
                <a:cs typeface="Arial" pitchFamily="34" charset="-120"/>
              </a:rPr>
              <a:t>Registries for plant matching: OPSD &amp; PSA power-plant lists.</a:t>
            </a:r>
            <a:endParaRPr lang="en-US" sz="1575"/>
          </a:p>
        </p:txBody>
      </p:sp>
      <p:sp>
        <p:nvSpPr>
          <p:cNvPr id="37" name="Text 35"/>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38" name="Text 36"/>
          <p:cNvSpPr/>
          <p:nvPr/>
        </p:nvSpPr>
        <p:spPr>
          <a:xfrm>
            <a:off x="17245310" y="9715500"/>
            <a:ext cx="166390"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5</a:t>
            </a:r>
            <a:endParaRPr lang="en-US" sz="12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2795364"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005293"/>
                </a:solidFill>
                <a:latin typeface="Arial" pitchFamily="34" charset="0"/>
                <a:ea typeface="Arial" pitchFamily="34" charset="-122"/>
                <a:cs typeface="Arial" pitchFamily="34" charset="-120"/>
              </a:rPr>
              <a:t>02 · THEORY</a:t>
            </a:r>
            <a:endParaRPr lang="en-US" sz="1650" dirty="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7287875" cy="563761"/>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3450" b="1">
                <a:solidFill>
                  <a:srgbClr val="1A1A2E"/>
                </a:solidFill>
                <a:latin typeface="Arial" pitchFamily="34" charset="0"/>
                <a:ea typeface="Arial" pitchFamily="34" charset="-122"/>
                <a:cs typeface="Arial" pitchFamily="34" charset="-120"/>
              </a:rPr>
              <a:t>Redispatch direction reveals the missing local price signal</a:t>
            </a:r>
            <a:endParaRPr lang="en-US" sz="3450"/>
          </a:p>
        </p:txBody>
      </p:sp>
      <p:sp>
        <p:nvSpPr>
          <p:cNvPr id="5" name="Shape 3"/>
          <p:cNvSpPr/>
          <p:nvPr/>
        </p:nvSpPr>
        <p:spPr>
          <a:xfrm>
            <a:off x="952500" y="2106811"/>
            <a:ext cx="8020050" cy="2671763"/>
          </a:xfrm>
          <a:prstGeom prst="rect">
            <a:avLst/>
          </a:prstGeom>
          <a:ln w="19050">
            <a:solidFill>
              <a:srgbClr val="E2E8F0"/>
            </a:solidFill>
            <a:prstDash val="solid"/>
          </a:ln>
        </p:spPr>
        <p:txBody>
          <a:bodyPr/>
          <a:lstStyle/>
          <a:p>
            <a:endParaRPr lang="en-GB"/>
          </a:p>
        </p:txBody>
      </p:sp>
      <p:sp>
        <p:nvSpPr>
          <p:cNvPr id="6" name="Shape 4"/>
          <p:cNvSpPr/>
          <p:nvPr/>
        </p:nvSpPr>
        <p:spPr>
          <a:xfrm>
            <a:off x="1390650" y="2487811"/>
            <a:ext cx="495300" cy="495300"/>
          </a:xfrm>
          <a:prstGeom prst="rect">
            <a:avLst/>
          </a:prstGeom>
          <a:solidFill>
            <a:srgbClr val="E37222"/>
          </a:solidFill>
          <a:ln/>
        </p:spPr>
        <p:txBody>
          <a:bodyPr/>
          <a:lstStyle/>
          <a:p>
            <a:endParaRPr lang="en-GB"/>
          </a:p>
        </p:txBody>
      </p:sp>
      <p:sp>
        <p:nvSpPr>
          <p:cNvPr id="7" name="Text 5"/>
          <p:cNvSpPr/>
          <p:nvPr/>
        </p:nvSpPr>
        <p:spPr>
          <a:xfrm>
            <a:off x="1352550" y="2487811"/>
            <a:ext cx="571500" cy="533400"/>
          </a:xfrm>
          <a:prstGeom prst="rect">
            <a:avLst/>
          </a:prstGeom>
          <a:noFill/>
          <a:ln/>
        </p:spPr>
        <p:txBody>
          <a:bodyPr wrap="square" lIns="25400" tIns="25400" rIns="25400" bIns="25400" rtlCol="0" anchor="ctr">
            <a:normAutofit/>
          </a:bodyPr>
          <a:lstStyle/>
          <a:p>
            <a:pPr marL="0" indent="0" algn="ctr">
              <a:buNone/>
            </a:pPr>
            <a:r>
              <a:rPr lang="en-US" sz="2400" b="1">
                <a:solidFill>
                  <a:srgbClr val="FFFFFF"/>
                </a:solidFill>
                <a:latin typeface="Arial" pitchFamily="34" charset="0"/>
                <a:ea typeface="Arial" pitchFamily="34" charset="-122"/>
                <a:cs typeface="Arial" pitchFamily="34" charset="-120"/>
              </a:rPr>
              <a:t>↓</a:t>
            </a:r>
            <a:endParaRPr lang="en-US" sz="2400"/>
          </a:p>
        </p:txBody>
      </p:sp>
      <p:sp>
        <p:nvSpPr>
          <p:cNvPr id="8" name="Text 6"/>
          <p:cNvSpPr/>
          <p:nvPr/>
        </p:nvSpPr>
        <p:spPr>
          <a:xfrm>
            <a:off x="2057400" y="2583061"/>
            <a:ext cx="3048298" cy="342900"/>
          </a:xfrm>
          <a:prstGeom prst="rect">
            <a:avLst/>
          </a:prstGeom>
          <a:noFill/>
          <a:ln/>
        </p:spPr>
        <p:txBody>
          <a:bodyPr wrap="square" lIns="25400" tIns="25400" rIns="25400" bIns="25400" rtlCol="0" anchor="t">
            <a:normAutofit lnSpcReduction="10000"/>
          </a:bodyPr>
          <a:lstStyle/>
          <a:p>
            <a:pPr marL="0" indent="0" algn="l">
              <a:buNone/>
            </a:pPr>
            <a:r>
              <a:rPr lang="en-US" sz="2100" b="1">
                <a:solidFill>
                  <a:srgbClr val="1A1A2E"/>
                </a:solidFill>
                <a:latin typeface="Arial" pitchFamily="34" charset="0"/>
                <a:ea typeface="Arial" pitchFamily="34" charset="-122"/>
                <a:cs typeface="Arial" pitchFamily="34" charset="-120"/>
              </a:rPr>
              <a:t>Downward redispatch</a:t>
            </a:r>
            <a:endParaRPr lang="en-US" sz="2100"/>
          </a:p>
        </p:txBody>
      </p:sp>
      <p:sp>
        <p:nvSpPr>
          <p:cNvPr id="9" name="Text 7"/>
          <p:cNvSpPr/>
          <p:nvPr/>
        </p:nvSpPr>
        <p:spPr>
          <a:xfrm>
            <a:off x="1390650" y="3154561"/>
            <a:ext cx="785812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a:solidFill>
                  <a:srgbClr val="4A4A6A"/>
                </a:solidFill>
                <a:latin typeface="Arial" pitchFamily="34" charset="0"/>
                <a:ea typeface="Arial" pitchFamily="34" charset="-122"/>
                <a:cs typeface="Arial" pitchFamily="34" charset="-120"/>
              </a:rPr>
              <a:t>Feed-in reduced → </a:t>
            </a:r>
            <a:r>
              <a:rPr lang="en-US" sz="1875" b="1">
                <a:solidFill>
                  <a:srgbClr val="4A4A6A"/>
                </a:solidFill>
                <a:latin typeface="Arial" pitchFamily="34" charset="0"/>
                <a:ea typeface="Arial" pitchFamily="34" charset="-122"/>
                <a:cs typeface="Arial" pitchFamily="34" charset="-120"/>
              </a:rPr>
              <a:t>local surplus </a:t>
            </a:r>
            <a:r>
              <a:rPr lang="en-US" sz="1875">
                <a:solidFill>
                  <a:srgbClr val="4A4A6A"/>
                </a:solidFill>
                <a:latin typeface="Arial" pitchFamily="34" charset="0"/>
                <a:ea typeface="Arial" pitchFamily="34" charset="-122"/>
                <a:cs typeface="Arial" pitchFamily="34" charset="-120"/>
              </a:rPr>
              <a:t>that cannot be exported.</a:t>
            </a:r>
            <a:endParaRPr lang="en-US" sz="1875"/>
          </a:p>
        </p:txBody>
      </p:sp>
      <p:sp>
        <p:nvSpPr>
          <p:cNvPr id="10" name="Text 8"/>
          <p:cNvSpPr/>
          <p:nvPr/>
        </p:nvSpPr>
        <p:spPr>
          <a:xfrm>
            <a:off x="1390650" y="3683198"/>
            <a:ext cx="7358063"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a:solidFill>
                  <a:srgbClr val="1A1A2E"/>
                </a:solidFill>
                <a:latin typeface="Arial" pitchFamily="34" charset="0"/>
                <a:ea typeface="Arial" pitchFamily="34" charset="-122"/>
                <a:cs typeface="Arial" pitchFamily="34" charset="-120"/>
              </a:rPr>
              <a:t>True local price </a:t>
            </a:r>
            <a:r>
              <a:rPr lang="en-US" sz="1875" b="1">
                <a:solidFill>
                  <a:srgbClr val="E37222"/>
                </a:solidFill>
                <a:latin typeface="Arial" pitchFamily="34" charset="0"/>
                <a:ea typeface="Arial" pitchFamily="34" charset="-122"/>
                <a:cs typeface="Arial" pitchFamily="34" charset="-120"/>
              </a:rPr>
              <a:t>below </a:t>
            </a:r>
            <a:r>
              <a:rPr lang="en-US" sz="1875">
                <a:solidFill>
                  <a:srgbClr val="1A1A2E"/>
                </a:solidFill>
                <a:latin typeface="Arial" pitchFamily="34" charset="0"/>
                <a:ea typeface="Arial" pitchFamily="34" charset="-122"/>
                <a:cs typeface="Arial" pitchFamily="34" charset="-120"/>
              </a:rPr>
              <a:t>the zonal price → a battery there should </a:t>
            </a:r>
            <a:r>
              <a:rPr lang="en-US" sz="1875" b="1">
                <a:solidFill>
                  <a:srgbClr val="1A1A2E"/>
                </a:solidFill>
                <a:latin typeface="Arial" pitchFamily="34" charset="0"/>
                <a:ea typeface="Arial" pitchFamily="34" charset="-122"/>
                <a:cs typeface="Arial" pitchFamily="34" charset="-120"/>
              </a:rPr>
              <a:t>charge</a:t>
            </a:r>
            <a:r>
              <a:rPr lang="en-US" sz="1875">
                <a:solidFill>
                  <a:srgbClr val="1A1A2E"/>
                </a:solidFill>
                <a:latin typeface="Arial" pitchFamily="34" charset="0"/>
                <a:ea typeface="Arial" pitchFamily="34" charset="-122"/>
                <a:cs typeface="Arial" pitchFamily="34" charset="-120"/>
              </a:rPr>
              <a:t>, absorbing energy that would be curtailed.</a:t>
            </a:r>
            <a:endParaRPr lang="en-US" sz="1875"/>
          </a:p>
        </p:txBody>
      </p:sp>
      <p:sp>
        <p:nvSpPr>
          <p:cNvPr id="11" name="Shape 9"/>
          <p:cNvSpPr/>
          <p:nvPr/>
        </p:nvSpPr>
        <p:spPr>
          <a:xfrm>
            <a:off x="9315450" y="2106811"/>
            <a:ext cx="8020050" cy="2671763"/>
          </a:xfrm>
          <a:prstGeom prst="rect">
            <a:avLst/>
          </a:prstGeom>
          <a:ln w="19050">
            <a:solidFill>
              <a:srgbClr val="E2E8F0"/>
            </a:solidFill>
            <a:prstDash val="solid"/>
          </a:ln>
        </p:spPr>
        <p:txBody>
          <a:bodyPr/>
          <a:lstStyle/>
          <a:p>
            <a:endParaRPr lang="en-GB"/>
          </a:p>
        </p:txBody>
      </p:sp>
      <p:sp>
        <p:nvSpPr>
          <p:cNvPr id="12" name="Shape 10"/>
          <p:cNvSpPr/>
          <p:nvPr/>
        </p:nvSpPr>
        <p:spPr>
          <a:xfrm>
            <a:off x="9753600" y="2487811"/>
            <a:ext cx="495300" cy="495300"/>
          </a:xfrm>
          <a:prstGeom prst="rect">
            <a:avLst/>
          </a:prstGeom>
          <a:solidFill>
            <a:srgbClr val="005293"/>
          </a:solidFill>
          <a:ln/>
        </p:spPr>
        <p:txBody>
          <a:bodyPr/>
          <a:lstStyle/>
          <a:p>
            <a:endParaRPr lang="en-GB"/>
          </a:p>
        </p:txBody>
      </p:sp>
      <p:sp>
        <p:nvSpPr>
          <p:cNvPr id="13" name="Text 11"/>
          <p:cNvSpPr/>
          <p:nvPr/>
        </p:nvSpPr>
        <p:spPr>
          <a:xfrm>
            <a:off x="9715500" y="2487811"/>
            <a:ext cx="571500" cy="533400"/>
          </a:xfrm>
          <a:prstGeom prst="rect">
            <a:avLst/>
          </a:prstGeom>
          <a:noFill/>
          <a:ln/>
        </p:spPr>
        <p:txBody>
          <a:bodyPr wrap="square" lIns="25400" tIns="25400" rIns="25400" bIns="25400" rtlCol="0" anchor="ctr">
            <a:normAutofit/>
          </a:bodyPr>
          <a:lstStyle/>
          <a:p>
            <a:pPr marL="0" indent="0" algn="ctr">
              <a:buNone/>
            </a:pPr>
            <a:r>
              <a:rPr lang="en-US" sz="2400" b="1">
                <a:solidFill>
                  <a:srgbClr val="FFFFFF"/>
                </a:solidFill>
                <a:latin typeface="Arial" pitchFamily="34" charset="0"/>
                <a:ea typeface="Arial" pitchFamily="34" charset="-122"/>
                <a:cs typeface="Arial" pitchFamily="34" charset="-120"/>
              </a:rPr>
              <a:t>↑</a:t>
            </a:r>
            <a:endParaRPr lang="en-US" sz="2400"/>
          </a:p>
        </p:txBody>
      </p:sp>
      <p:sp>
        <p:nvSpPr>
          <p:cNvPr id="14" name="Text 12"/>
          <p:cNvSpPr/>
          <p:nvPr/>
        </p:nvSpPr>
        <p:spPr>
          <a:xfrm>
            <a:off x="10420350" y="2583061"/>
            <a:ext cx="2640985" cy="342900"/>
          </a:xfrm>
          <a:prstGeom prst="rect">
            <a:avLst/>
          </a:prstGeom>
          <a:noFill/>
          <a:ln/>
        </p:spPr>
        <p:txBody>
          <a:bodyPr wrap="square" lIns="25400" tIns="25400" rIns="25400" bIns="25400" rtlCol="0" anchor="t">
            <a:normAutofit lnSpcReduction="10000"/>
          </a:bodyPr>
          <a:lstStyle/>
          <a:p>
            <a:pPr marL="0" indent="0" algn="l">
              <a:buNone/>
            </a:pPr>
            <a:r>
              <a:rPr lang="en-US" sz="2100" b="1">
                <a:solidFill>
                  <a:srgbClr val="1A1A2E"/>
                </a:solidFill>
                <a:latin typeface="Arial" pitchFamily="34" charset="0"/>
                <a:ea typeface="Arial" pitchFamily="34" charset="-122"/>
                <a:cs typeface="Arial" pitchFamily="34" charset="-120"/>
              </a:rPr>
              <a:t>Upward redispatch</a:t>
            </a:r>
            <a:endParaRPr lang="en-US" sz="2100"/>
          </a:p>
        </p:txBody>
      </p:sp>
      <p:sp>
        <p:nvSpPr>
          <p:cNvPr id="15" name="Text 13"/>
          <p:cNvSpPr/>
          <p:nvPr/>
        </p:nvSpPr>
        <p:spPr>
          <a:xfrm>
            <a:off x="9753600" y="3154561"/>
            <a:ext cx="785812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a:solidFill>
                  <a:srgbClr val="4A4A6A"/>
                </a:solidFill>
                <a:latin typeface="Arial" pitchFamily="34" charset="0"/>
                <a:ea typeface="Arial" pitchFamily="34" charset="-122"/>
                <a:cs typeface="Arial" pitchFamily="34" charset="-120"/>
              </a:rPr>
              <a:t>Feed-in increased → </a:t>
            </a:r>
            <a:r>
              <a:rPr lang="en-US" sz="1875" b="1">
                <a:solidFill>
                  <a:srgbClr val="4A4A6A"/>
                </a:solidFill>
                <a:latin typeface="Arial" pitchFamily="34" charset="0"/>
                <a:ea typeface="Arial" pitchFamily="34" charset="-122"/>
                <a:cs typeface="Arial" pitchFamily="34" charset="-120"/>
              </a:rPr>
              <a:t>local scarcity </a:t>
            </a:r>
            <a:r>
              <a:rPr lang="en-US" sz="1875">
                <a:solidFill>
                  <a:srgbClr val="4A4A6A"/>
                </a:solidFill>
                <a:latin typeface="Arial" pitchFamily="34" charset="0"/>
                <a:ea typeface="Arial" pitchFamily="34" charset="-122"/>
                <a:cs typeface="Arial" pitchFamily="34" charset="-120"/>
              </a:rPr>
              <a:t>behind the bottleneck.</a:t>
            </a:r>
            <a:endParaRPr lang="en-US" sz="1875"/>
          </a:p>
        </p:txBody>
      </p:sp>
      <p:sp>
        <p:nvSpPr>
          <p:cNvPr id="16" name="Text 14"/>
          <p:cNvSpPr/>
          <p:nvPr/>
        </p:nvSpPr>
        <p:spPr>
          <a:xfrm>
            <a:off x="9753600" y="3683198"/>
            <a:ext cx="7358063"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a:solidFill>
                  <a:srgbClr val="1A1A2E"/>
                </a:solidFill>
                <a:latin typeface="Arial" pitchFamily="34" charset="0"/>
                <a:ea typeface="Arial" pitchFamily="34" charset="-122"/>
                <a:cs typeface="Arial" pitchFamily="34" charset="-120"/>
              </a:rPr>
              <a:t>True local price </a:t>
            </a:r>
            <a:r>
              <a:rPr lang="en-US" sz="1875" b="1">
                <a:solidFill>
                  <a:srgbClr val="005293"/>
                </a:solidFill>
                <a:latin typeface="Arial" pitchFamily="34" charset="0"/>
                <a:ea typeface="Arial" pitchFamily="34" charset="-122"/>
                <a:cs typeface="Arial" pitchFamily="34" charset="-120"/>
              </a:rPr>
              <a:t>above </a:t>
            </a:r>
            <a:r>
              <a:rPr lang="en-US" sz="1875">
                <a:solidFill>
                  <a:srgbClr val="1A1A2E"/>
                </a:solidFill>
                <a:latin typeface="Arial" pitchFamily="34" charset="0"/>
                <a:ea typeface="Arial" pitchFamily="34" charset="-122"/>
                <a:cs typeface="Arial" pitchFamily="34" charset="-120"/>
              </a:rPr>
              <a:t>the zonal price → a battery there should </a:t>
            </a:r>
            <a:r>
              <a:rPr lang="en-US" sz="1875" b="1">
                <a:solidFill>
                  <a:srgbClr val="1A1A2E"/>
                </a:solidFill>
                <a:latin typeface="Arial" pitchFamily="34" charset="0"/>
                <a:ea typeface="Arial" pitchFamily="34" charset="-122"/>
                <a:cs typeface="Arial" pitchFamily="34" charset="-120"/>
              </a:rPr>
              <a:t>discharge</a:t>
            </a:r>
            <a:r>
              <a:rPr lang="en-US" sz="1875">
                <a:solidFill>
                  <a:srgbClr val="1A1A2E"/>
                </a:solidFill>
                <a:latin typeface="Arial" pitchFamily="34" charset="0"/>
                <a:ea typeface="Arial" pitchFamily="34" charset="-122"/>
                <a:cs typeface="Arial" pitchFamily="34" charset="-120"/>
              </a:rPr>
              <a:t>, replacing costly ramp-ups.</a:t>
            </a:r>
            <a:endParaRPr lang="en-US" sz="1875"/>
          </a:p>
        </p:txBody>
      </p:sp>
      <p:sp>
        <p:nvSpPr>
          <p:cNvPr id="17" name="Shape 15"/>
          <p:cNvSpPr/>
          <p:nvPr/>
        </p:nvSpPr>
        <p:spPr>
          <a:xfrm>
            <a:off x="952500" y="5197673"/>
            <a:ext cx="16383000" cy="1339155"/>
          </a:xfrm>
          <a:prstGeom prst="rect">
            <a:avLst/>
          </a:prstGeom>
          <a:solidFill>
            <a:srgbClr val="F0F6FB"/>
          </a:solidFill>
          <a:ln/>
        </p:spPr>
        <p:txBody>
          <a:bodyPr/>
          <a:lstStyle/>
          <a:p>
            <a:endParaRPr lang="en-GB"/>
          </a:p>
        </p:txBody>
      </p:sp>
      <p:sp>
        <p:nvSpPr>
          <p:cNvPr id="18" name="Shape 16"/>
          <p:cNvSpPr/>
          <p:nvPr/>
        </p:nvSpPr>
        <p:spPr>
          <a:xfrm>
            <a:off x="952500" y="5197673"/>
            <a:ext cx="57150" cy="1339155"/>
          </a:xfrm>
          <a:prstGeom prst="rect">
            <a:avLst/>
          </a:prstGeom>
          <a:solidFill>
            <a:srgbClr val="0065BD"/>
          </a:solidFill>
          <a:ln/>
        </p:spPr>
        <p:txBody>
          <a:bodyPr/>
          <a:lstStyle/>
          <a:p>
            <a:endParaRPr lang="en-GB"/>
          </a:p>
        </p:txBody>
      </p:sp>
      <p:sp>
        <p:nvSpPr>
          <p:cNvPr id="19" name="Text 17"/>
          <p:cNvSpPr/>
          <p:nvPr/>
        </p:nvSpPr>
        <p:spPr>
          <a:xfrm>
            <a:off x="1409700" y="5483423"/>
            <a:ext cx="16017240" cy="805755"/>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950">
                <a:solidFill>
                  <a:srgbClr val="1A1A2E"/>
                </a:solidFill>
                <a:highlight>
                  <a:srgbClr val="F0F6FB"/>
                </a:highlight>
                <a:latin typeface="Arial" pitchFamily="34" charset="0"/>
                <a:ea typeface="Arial" pitchFamily="34" charset="-122"/>
                <a:cs typeface="Arial" pitchFamily="34" charset="-120"/>
              </a:rPr>
              <a:t>We </a:t>
            </a:r>
            <a:r>
              <a:rPr lang="en-US" sz="1950" b="1">
                <a:solidFill>
                  <a:srgbClr val="1A1A2E"/>
                </a:solidFill>
                <a:latin typeface="Arial" pitchFamily="34" charset="0"/>
                <a:ea typeface="Arial" pitchFamily="34" charset="-122"/>
                <a:cs typeface="Arial" pitchFamily="34" charset="-120"/>
              </a:rPr>
              <a:t>bend the zonal intraday price </a:t>
            </a:r>
            <a:r>
              <a:rPr lang="en-US" sz="1950">
                <a:solidFill>
                  <a:srgbClr val="1A1A2E"/>
                </a:solidFill>
                <a:highlight>
                  <a:srgbClr val="F0F6FB"/>
                </a:highlight>
                <a:latin typeface="Arial" pitchFamily="34" charset="0"/>
                <a:ea typeface="Arial" pitchFamily="34" charset="-122"/>
                <a:cs typeface="Arial" pitchFamily="34" charset="-120"/>
              </a:rPr>
              <a:t>at every battery site with a kernel-weighted sum of nearby redispatch events → an </a:t>
            </a:r>
            <a:r>
              <a:rPr lang="en-US" sz="1950" b="1">
                <a:solidFill>
                  <a:srgbClr val="1A1A2E"/>
                </a:solidFill>
                <a:latin typeface="Arial" pitchFamily="34" charset="0"/>
                <a:ea typeface="Arial" pitchFamily="34" charset="-122"/>
                <a:cs typeface="Arial" pitchFamily="34" charset="-120"/>
              </a:rPr>
              <a:t>effective local price </a:t>
            </a:r>
            <a:r>
              <a:rPr lang="en-US" sz="1950">
                <a:solidFill>
                  <a:srgbClr val="1A1A2E"/>
                </a:solidFill>
                <a:highlight>
                  <a:srgbClr val="F0F6FB"/>
                </a:highlight>
                <a:latin typeface="Arial" pitchFamily="34" charset="0"/>
                <a:ea typeface="Arial" pitchFamily="34" charset="-122"/>
                <a:cs typeface="Arial" pitchFamily="34" charset="-120"/>
              </a:rPr>
              <a:t>per site, at 15-minute resolution, Oct 2021 – Dec 2025. A battery arbitraging this price is automatically acting where the grid needs it.</a:t>
            </a:r>
            <a:endParaRPr lang="en-US" sz="1950"/>
          </a:p>
        </p:txBody>
      </p:sp>
      <p:sp>
        <p:nvSpPr>
          <p:cNvPr id="20" name="Text 18"/>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1" name="Text 19"/>
          <p:cNvSpPr/>
          <p:nvPr/>
        </p:nvSpPr>
        <p:spPr>
          <a:xfrm>
            <a:off x="17245310" y="9715500"/>
            <a:ext cx="166390"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7</a:t>
            </a:r>
            <a:endParaRPr lang="en-US" sz="12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8957E-251B-3438-F099-CB6601FFEE5E}"/>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B34F62D8-709A-6425-4716-9454BA23301B}"/>
              </a:ext>
            </a:extLst>
          </p:cNvPr>
          <p:cNvSpPr/>
          <p:nvPr/>
        </p:nvSpPr>
        <p:spPr>
          <a:xfrm>
            <a:off x="-2" y="-2"/>
            <a:ext cx="18288000" cy="10287000"/>
          </a:xfrm>
          <a:prstGeom prst="rect">
            <a:avLst/>
          </a:prstGeom>
          <a:solidFill>
            <a:srgbClr val="005293">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gn="ctr">
              <a:lnSpc>
                <a:spcPct val="114000"/>
              </a:lnSpc>
            </a:pPr>
            <a:endParaRPr lang="en-US"/>
          </a:p>
        </p:txBody>
      </p:sp>
      <p:graphicFrame>
        <p:nvGraphicFramePr>
          <p:cNvPr id="6" name="think-cell data - do not delete" hidden="1">
            <a:extLst>
              <a:ext uri="{FF2B5EF4-FFF2-40B4-BE49-F238E27FC236}">
                <a16:creationId xmlns:a16="http://schemas.microsoft.com/office/drawing/2014/main" id="{81F786D6-A661-392E-4130-ED693B86F184}"/>
              </a:ext>
            </a:extLst>
          </p:cNvPr>
          <p:cNvGraphicFramePr>
            <a:graphicFrameLocks/>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404" imgH="403" progId="TCLayout.ActiveDocument.1">
                  <p:embed/>
                </p:oleObj>
              </mc:Choice>
              <mc:Fallback>
                <p:oleObj name="think-cell Slide" r:id="rId4" imgW="404" imgH="403" progId="TCLayout.ActiveDocument.1">
                  <p:embed/>
                  <p:pic>
                    <p:nvPicPr>
                      <p:cNvPr id="6" name="think-cell data - do not delete" hidden="1">
                        <a:extLst>
                          <a:ext uri="{FF2B5EF4-FFF2-40B4-BE49-F238E27FC236}">
                            <a16:creationId xmlns:a16="http://schemas.microsoft.com/office/drawing/2014/main" id="{81F786D6-A661-392E-4130-ED693B86F184}"/>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1026" name="Picture 2" descr="Offshore wind energy | RVO.nl">
            <a:extLst>
              <a:ext uri="{FF2B5EF4-FFF2-40B4-BE49-F238E27FC236}">
                <a16:creationId xmlns:a16="http://schemas.microsoft.com/office/drawing/2014/main" id="{AA3A8645-EF8A-B1DB-761E-BD496C71279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26325" b="35318"/>
          <a:stretch>
            <a:fillRect/>
          </a:stretch>
        </p:blipFill>
        <p:spPr bwMode="auto">
          <a:xfrm>
            <a:off x="0" y="-1"/>
            <a:ext cx="18288000" cy="10287002"/>
          </a:xfrm>
          <a:prstGeom prst="rect">
            <a:avLst/>
          </a:prstGeom>
          <a:noFill/>
        </p:spPr>
      </p:pic>
      <p:pic>
        <p:nvPicPr>
          <p:cNvPr id="11" name="Picture 10">
            <a:extLst>
              <a:ext uri="{FF2B5EF4-FFF2-40B4-BE49-F238E27FC236}">
                <a16:creationId xmlns:a16="http://schemas.microsoft.com/office/drawing/2014/main" id="{251CCCFE-48ED-AC1E-9261-23451AF8FC48}"/>
              </a:ext>
            </a:extLst>
          </p:cNvPr>
          <p:cNvPicPr>
            <a:picLocks noChangeAspect="1"/>
          </p:cNvPicPr>
          <p:nvPr/>
        </p:nvPicPr>
        <p:blipFill>
          <a:blip r:embed="rId7"/>
          <a:stretch>
            <a:fillRect/>
          </a:stretch>
        </p:blipFill>
        <p:spPr>
          <a:xfrm>
            <a:off x="16623018" y="531203"/>
            <a:ext cx="1059148" cy="965774"/>
          </a:xfrm>
          <a:prstGeom prst="rect">
            <a:avLst/>
          </a:prstGeom>
        </p:spPr>
      </p:pic>
      <p:sp>
        <p:nvSpPr>
          <p:cNvPr id="2" name="Titel 4">
            <a:extLst>
              <a:ext uri="{FF2B5EF4-FFF2-40B4-BE49-F238E27FC236}">
                <a16:creationId xmlns:a16="http://schemas.microsoft.com/office/drawing/2014/main" id="{F27DBA46-41E1-12D7-5DFF-DB74213EF3CC}"/>
              </a:ext>
            </a:extLst>
          </p:cNvPr>
          <p:cNvSpPr txBox="1">
            <a:spLocks/>
          </p:cNvSpPr>
          <p:nvPr/>
        </p:nvSpPr>
        <p:spPr>
          <a:xfrm>
            <a:off x="942981" y="2248798"/>
            <a:ext cx="17017998" cy="200840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14999"/>
              </a:lnSpc>
              <a:spcBef>
                <a:spcPts val="0"/>
              </a:spcBef>
              <a:spcAft>
                <a:spcPts val="0"/>
              </a:spcAft>
            </a:pPr>
            <a:r>
              <a:rPr lang="en-US" sz="6400" b="1" dirty="0">
                <a:solidFill>
                  <a:srgbClr val="0070C0"/>
                </a:solidFill>
                <a:latin typeface="Arial Nova"/>
                <a:cs typeface="Arial"/>
              </a:rPr>
              <a:t>Chapter 3:</a:t>
            </a:r>
          </a:p>
          <a:p>
            <a:pPr>
              <a:lnSpc>
                <a:spcPct val="114999"/>
              </a:lnSpc>
              <a:spcBef>
                <a:spcPts val="0"/>
              </a:spcBef>
              <a:spcAft>
                <a:spcPts val="0"/>
              </a:spcAft>
            </a:pPr>
            <a:r>
              <a:rPr lang="en-US" sz="6400" b="1" dirty="0">
                <a:solidFill>
                  <a:srgbClr val="0070C0"/>
                </a:solidFill>
                <a:latin typeface="Arial Nova"/>
                <a:cs typeface="Arial"/>
              </a:rPr>
              <a:t>Methodology</a:t>
            </a:r>
            <a:endParaRPr lang="en-US" sz="7200" b="1" dirty="0">
              <a:latin typeface="Arial Nova" panose="020F0502020204030204" pitchFamily="34" charset="0"/>
            </a:endParaRPr>
          </a:p>
        </p:txBody>
      </p:sp>
    </p:spTree>
    <p:extLst>
      <p:ext uri="{BB962C8B-B14F-4D97-AF65-F5344CB8AC3E}">
        <p14:creationId xmlns:p14="http://schemas.microsoft.com/office/powerpoint/2010/main" val="1744759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2795364"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03 · METHODOLOGY</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63761"/>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3450" b="1">
                <a:solidFill>
                  <a:srgbClr val="1A1A2E"/>
                </a:solidFill>
                <a:latin typeface="Arial" pitchFamily="34" charset="0"/>
                <a:ea typeface="Arial" pitchFamily="34" charset="-122"/>
                <a:cs typeface="Arial" pitchFamily="34" charset="-120"/>
              </a:rPr>
              <a:t>From free-text plant names to coordinates: the matching pipeline</a:t>
            </a:r>
            <a:endParaRPr lang="en-US" sz="3450"/>
          </a:p>
        </p:txBody>
      </p:sp>
      <p:sp>
        <p:nvSpPr>
          <p:cNvPr id="5" name="Shape 3"/>
          <p:cNvSpPr/>
          <p:nvPr/>
        </p:nvSpPr>
        <p:spPr>
          <a:xfrm>
            <a:off x="990600" y="2648545"/>
            <a:ext cx="419100" cy="419100"/>
          </a:xfrm>
          <a:prstGeom prst="rect">
            <a:avLst/>
          </a:prstGeom>
          <a:solidFill>
            <a:srgbClr val="005293"/>
          </a:solidFill>
          <a:ln/>
        </p:spPr>
        <p:txBody>
          <a:bodyPr/>
          <a:lstStyle/>
          <a:p>
            <a:endParaRPr lang="en-GB"/>
          </a:p>
        </p:txBody>
      </p:sp>
      <p:sp>
        <p:nvSpPr>
          <p:cNvPr id="6" name="Text 4"/>
          <p:cNvSpPr/>
          <p:nvPr/>
        </p:nvSpPr>
        <p:spPr>
          <a:xfrm>
            <a:off x="952500" y="2648545"/>
            <a:ext cx="495300" cy="457200"/>
          </a:xfrm>
          <a:prstGeom prst="rect">
            <a:avLst/>
          </a:prstGeom>
          <a:noFill/>
          <a:ln/>
        </p:spPr>
        <p:txBody>
          <a:bodyPr wrap="square" lIns="25400" tIns="25400" rIns="25400" bIns="25400" rtlCol="0" anchor="ctr">
            <a:normAutofit/>
          </a:bodyPr>
          <a:lstStyle/>
          <a:p>
            <a:pPr marL="0" indent="0" algn="ctr">
              <a:buNone/>
            </a:pPr>
            <a:r>
              <a:rPr lang="en-US" sz="1650" b="1">
                <a:solidFill>
                  <a:srgbClr val="FFFFFF"/>
                </a:solidFill>
                <a:latin typeface="Arial" pitchFamily="34" charset="0"/>
                <a:ea typeface="Arial" pitchFamily="34" charset="-122"/>
                <a:cs typeface="Arial" pitchFamily="34" charset="-120"/>
              </a:rPr>
              <a:t>1</a:t>
            </a:r>
            <a:endParaRPr lang="en-US" sz="1650"/>
          </a:p>
        </p:txBody>
      </p:sp>
      <p:sp>
        <p:nvSpPr>
          <p:cNvPr id="7" name="Text 5"/>
          <p:cNvSpPr/>
          <p:nvPr/>
        </p:nvSpPr>
        <p:spPr>
          <a:xfrm>
            <a:off x="1619250" y="2705695"/>
            <a:ext cx="9594914" cy="629543"/>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1725" b="1">
                <a:solidFill>
                  <a:srgbClr val="1A1A2E"/>
                </a:solidFill>
                <a:latin typeface="Arial" pitchFamily="34" charset="0"/>
                <a:ea typeface="Arial" pitchFamily="34" charset="-122"/>
                <a:cs typeface="Arial" pitchFamily="34" charset="-120"/>
              </a:rPr>
              <a:t>Clean &amp; classify </a:t>
            </a:r>
            <a:r>
              <a:rPr lang="en-US" sz="1725">
                <a:solidFill>
                  <a:srgbClr val="1A1A2E"/>
                </a:solidFill>
                <a:latin typeface="Arial" pitchFamily="34" charset="0"/>
                <a:ea typeface="Arial" pitchFamily="34" charset="-122"/>
                <a:cs typeface="Arial" pitchFamily="34" charset="-120"/>
              </a:rPr>
              <a:t>— strip TSO codes, operator names, type abbreviations; single plant vs. grid aggregate</a:t>
            </a:r>
            <a:endParaRPr lang="en-US" sz="1725"/>
          </a:p>
        </p:txBody>
      </p:sp>
      <p:sp>
        <p:nvSpPr>
          <p:cNvPr id="8" name="Shape 6"/>
          <p:cNvSpPr/>
          <p:nvPr/>
        </p:nvSpPr>
        <p:spPr>
          <a:xfrm>
            <a:off x="990600" y="3430488"/>
            <a:ext cx="419100" cy="419100"/>
          </a:xfrm>
          <a:prstGeom prst="rect">
            <a:avLst/>
          </a:prstGeom>
          <a:solidFill>
            <a:srgbClr val="005293"/>
          </a:solidFill>
          <a:ln/>
        </p:spPr>
        <p:txBody>
          <a:bodyPr/>
          <a:lstStyle/>
          <a:p>
            <a:endParaRPr lang="en-GB"/>
          </a:p>
        </p:txBody>
      </p:sp>
      <p:sp>
        <p:nvSpPr>
          <p:cNvPr id="9" name="Text 7"/>
          <p:cNvSpPr/>
          <p:nvPr/>
        </p:nvSpPr>
        <p:spPr>
          <a:xfrm>
            <a:off x="952500" y="3430488"/>
            <a:ext cx="495300" cy="457200"/>
          </a:xfrm>
          <a:prstGeom prst="rect">
            <a:avLst/>
          </a:prstGeom>
          <a:noFill/>
          <a:ln/>
        </p:spPr>
        <p:txBody>
          <a:bodyPr wrap="square" lIns="25400" tIns="25400" rIns="25400" bIns="25400" rtlCol="0" anchor="ctr">
            <a:normAutofit/>
          </a:bodyPr>
          <a:lstStyle/>
          <a:p>
            <a:pPr marL="0" indent="0" algn="ctr">
              <a:buNone/>
            </a:pPr>
            <a:r>
              <a:rPr lang="en-US" sz="1650" b="1">
                <a:solidFill>
                  <a:srgbClr val="FFFFFF"/>
                </a:solidFill>
                <a:latin typeface="Arial" pitchFamily="34" charset="0"/>
                <a:ea typeface="Arial" pitchFamily="34" charset="-122"/>
                <a:cs typeface="Arial" pitchFamily="34" charset="-120"/>
              </a:rPr>
              <a:t>2</a:t>
            </a:r>
            <a:endParaRPr lang="en-US" sz="1650"/>
          </a:p>
        </p:txBody>
      </p:sp>
      <p:sp>
        <p:nvSpPr>
          <p:cNvPr id="10" name="Text 8"/>
          <p:cNvSpPr/>
          <p:nvPr/>
        </p:nvSpPr>
        <p:spPr>
          <a:xfrm>
            <a:off x="1619250" y="3487638"/>
            <a:ext cx="7687336" cy="33382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b="1">
                <a:solidFill>
                  <a:srgbClr val="1A1A2E"/>
                </a:solidFill>
                <a:latin typeface="Arial" pitchFamily="34" charset="0"/>
                <a:ea typeface="Arial" pitchFamily="34" charset="-122"/>
                <a:cs typeface="Arial" pitchFamily="34" charset="-120"/>
              </a:rPr>
              <a:t>Aggregates → centroids </a:t>
            </a:r>
            <a:r>
              <a:rPr lang="en-US" sz="1725">
                <a:solidFill>
                  <a:srgbClr val="1A1A2E"/>
                </a:solidFill>
                <a:latin typeface="Arial" pitchFamily="34" charset="0"/>
                <a:ea typeface="Arial" pitchFamily="34" charset="-122"/>
                <a:cs typeface="Arial" pitchFamily="34" charset="-120"/>
              </a:rPr>
              <a:t>— city / region / state / DSO area (low confidence)</a:t>
            </a:r>
            <a:endParaRPr lang="en-US" sz="1725"/>
          </a:p>
        </p:txBody>
      </p:sp>
      <p:sp>
        <p:nvSpPr>
          <p:cNvPr id="11" name="Shape 9"/>
          <p:cNvSpPr/>
          <p:nvPr/>
        </p:nvSpPr>
        <p:spPr>
          <a:xfrm>
            <a:off x="990600" y="3982938"/>
            <a:ext cx="419100" cy="419100"/>
          </a:xfrm>
          <a:prstGeom prst="rect">
            <a:avLst/>
          </a:prstGeom>
          <a:solidFill>
            <a:srgbClr val="005293"/>
          </a:solidFill>
          <a:ln/>
        </p:spPr>
        <p:txBody>
          <a:bodyPr/>
          <a:lstStyle/>
          <a:p>
            <a:endParaRPr lang="en-GB"/>
          </a:p>
        </p:txBody>
      </p:sp>
      <p:sp>
        <p:nvSpPr>
          <p:cNvPr id="12" name="Text 10"/>
          <p:cNvSpPr/>
          <p:nvPr/>
        </p:nvSpPr>
        <p:spPr>
          <a:xfrm>
            <a:off x="952500" y="3982938"/>
            <a:ext cx="495300" cy="457200"/>
          </a:xfrm>
          <a:prstGeom prst="rect">
            <a:avLst/>
          </a:prstGeom>
          <a:noFill/>
          <a:ln/>
        </p:spPr>
        <p:txBody>
          <a:bodyPr wrap="square" lIns="25400" tIns="25400" rIns="25400" bIns="25400" rtlCol="0" anchor="ctr">
            <a:normAutofit/>
          </a:bodyPr>
          <a:lstStyle/>
          <a:p>
            <a:pPr marL="0" indent="0" algn="ctr">
              <a:buNone/>
            </a:pPr>
            <a:r>
              <a:rPr lang="en-US" sz="1650" b="1">
                <a:solidFill>
                  <a:srgbClr val="FFFFFF"/>
                </a:solidFill>
                <a:latin typeface="Arial" pitchFamily="34" charset="0"/>
                <a:ea typeface="Arial" pitchFamily="34" charset="-122"/>
                <a:cs typeface="Arial" pitchFamily="34" charset="-120"/>
              </a:rPr>
              <a:t>3</a:t>
            </a:r>
            <a:endParaRPr lang="en-US" sz="1650"/>
          </a:p>
        </p:txBody>
      </p:sp>
      <p:sp>
        <p:nvSpPr>
          <p:cNvPr id="13" name="Text 11"/>
          <p:cNvSpPr/>
          <p:nvPr/>
        </p:nvSpPr>
        <p:spPr>
          <a:xfrm>
            <a:off x="1619250" y="4040088"/>
            <a:ext cx="9538042" cy="33382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b="1">
                <a:solidFill>
                  <a:srgbClr val="1A1A2E"/>
                </a:solidFill>
                <a:latin typeface="Arial" pitchFamily="34" charset="0"/>
                <a:ea typeface="Arial" pitchFamily="34" charset="-122"/>
                <a:cs typeface="Arial" pitchFamily="34" charset="-120"/>
              </a:rPr>
              <a:t>Registry lookup </a:t>
            </a:r>
            <a:r>
              <a:rPr lang="en-US" sz="1725">
                <a:solidFill>
                  <a:srgbClr val="1A1A2E"/>
                </a:solidFill>
                <a:latin typeface="Arial" pitchFamily="34" charset="0"/>
                <a:ea typeface="Arial" pitchFamily="34" charset="-122"/>
                <a:cs typeface="Arial" pitchFamily="34" charset="-120"/>
              </a:rPr>
              <a:t>— OPSD / PSA, exact then fuzzy, energy-type gated · </a:t>
            </a:r>
            <a:r>
              <a:rPr lang="en-US" sz="1725" b="1">
                <a:solidFill>
                  <a:srgbClr val="1A1A2E"/>
                </a:solidFill>
                <a:latin typeface="Arial" pitchFamily="34" charset="0"/>
                <a:ea typeface="Arial" pitchFamily="34" charset="-122"/>
                <a:cs typeface="Arial" pitchFamily="34" charset="-120"/>
              </a:rPr>
              <a:t>c ≥ 0.85 short-circuits</a:t>
            </a:r>
            <a:endParaRPr lang="en-US" sz="1725"/>
          </a:p>
        </p:txBody>
      </p:sp>
      <p:sp>
        <p:nvSpPr>
          <p:cNvPr id="14" name="Shape 12"/>
          <p:cNvSpPr/>
          <p:nvPr/>
        </p:nvSpPr>
        <p:spPr>
          <a:xfrm>
            <a:off x="990600" y="4535388"/>
            <a:ext cx="419100" cy="419100"/>
          </a:xfrm>
          <a:prstGeom prst="rect">
            <a:avLst/>
          </a:prstGeom>
          <a:solidFill>
            <a:srgbClr val="005293"/>
          </a:solidFill>
          <a:ln/>
        </p:spPr>
        <p:txBody>
          <a:bodyPr/>
          <a:lstStyle/>
          <a:p>
            <a:endParaRPr lang="en-GB"/>
          </a:p>
        </p:txBody>
      </p:sp>
      <p:sp>
        <p:nvSpPr>
          <p:cNvPr id="15" name="Text 13"/>
          <p:cNvSpPr/>
          <p:nvPr/>
        </p:nvSpPr>
        <p:spPr>
          <a:xfrm>
            <a:off x="952500" y="4535388"/>
            <a:ext cx="495300" cy="457200"/>
          </a:xfrm>
          <a:prstGeom prst="rect">
            <a:avLst/>
          </a:prstGeom>
          <a:noFill/>
          <a:ln/>
        </p:spPr>
        <p:txBody>
          <a:bodyPr wrap="square" lIns="25400" tIns="25400" rIns="25400" bIns="25400" rtlCol="0" anchor="ctr">
            <a:normAutofit/>
          </a:bodyPr>
          <a:lstStyle/>
          <a:p>
            <a:pPr marL="0" indent="0" algn="ctr">
              <a:buNone/>
            </a:pPr>
            <a:r>
              <a:rPr lang="en-US" sz="1650" b="1">
                <a:solidFill>
                  <a:srgbClr val="FFFFFF"/>
                </a:solidFill>
                <a:latin typeface="Arial" pitchFamily="34" charset="0"/>
                <a:ea typeface="Arial" pitchFamily="34" charset="-122"/>
                <a:cs typeface="Arial" pitchFamily="34" charset="-120"/>
              </a:rPr>
              <a:t>4</a:t>
            </a:r>
            <a:endParaRPr lang="en-US" sz="1650"/>
          </a:p>
        </p:txBody>
      </p:sp>
      <p:sp>
        <p:nvSpPr>
          <p:cNvPr id="16" name="Text 14"/>
          <p:cNvSpPr/>
          <p:nvPr/>
        </p:nvSpPr>
        <p:spPr>
          <a:xfrm>
            <a:off x="1619250" y="4592538"/>
            <a:ext cx="9594914" cy="629543"/>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725" b="1">
                <a:solidFill>
                  <a:srgbClr val="1A1A2E"/>
                </a:solidFill>
                <a:latin typeface="Arial" pitchFamily="34" charset="0"/>
                <a:ea typeface="Arial" pitchFamily="34" charset="-122"/>
                <a:cs typeface="Arial" pitchFamily="34" charset="-120"/>
              </a:rPr>
              <a:t>Web lookup </a:t>
            </a:r>
            <a:r>
              <a:rPr lang="en-US" sz="1725">
                <a:solidFill>
                  <a:srgbClr val="1A1A2E"/>
                </a:solidFill>
                <a:latin typeface="Arial" pitchFamily="34" charset="0"/>
                <a:ea typeface="Arial" pitchFamily="34" charset="-122"/>
                <a:cs typeface="Arial" pitchFamily="34" charset="-120"/>
              </a:rPr>
              <a:t>— Wikipedia (Kraftwerk / Windpark / Solarpark), DuckDuckGo fallback, gated on title, bounding box &amp; energy type</a:t>
            </a:r>
            <a:endParaRPr lang="en-US" sz="1725"/>
          </a:p>
        </p:txBody>
      </p:sp>
      <p:sp>
        <p:nvSpPr>
          <p:cNvPr id="17" name="Shape 15"/>
          <p:cNvSpPr/>
          <p:nvPr/>
        </p:nvSpPr>
        <p:spPr>
          <a:xfrm>
            <a:off x="990600" y="5317331"/>
            <a:ext cx="419100" cy="419100"/>
          </a:xfrm>
          <a:prstGeom prst="rect">
            <a:avLst/>
          </a:prstGeom>
          <a:solidFill>
            <a:srgbClr val="005293"/>
          </a:solidFill>
          <a:ln/>
        </p:spPr>
        <p:txBody>
          <a:bodyPr/>
          <a:lstStyle/>
          <a:p>
            <a:endParaRPr lang="en-GB"/>
          </a:p>
        </p:txBody>
      </p:sp>
      <p:sp>
        <p:nvSpPr>
          <p:cNvPr id="18" name="Text 16"/>
          <p:cNvSpPr/>
          <p:nvPr/>
        </p:nvSpPr>
        <p:spPr>
          <a:xfrm>
            <a:off x="952500" y="5317331"/>
            <a:ext cx="495300" cy="457200"/>
          </a:xfrm>
          <a:prstGeom prst="rect">
            <a:avLst/>
          </a:prstGeom>
          <a:noFill/>
          <a:ln/>
        </p:spPr>
        <p:txBody>
          <a:bodyPr wrap="square" lIns="25400" tIns="25400" rIns="25400" bIns="25400" rtlCol="0" anchor="ctr">
            <a:normAutofit/>
          </a:bodyPr>
          <a:lstStyle/>
          <a:p>
            <a:pPr marL="0" indent="0" algn="ctr">
              <a:buNone/>
            </a:pPr>
            <a:r>
              <a:rPr lang="en-US" sz="1650" b="1">
                <a:solidFill>
                  <a:srgbClr val="FFFFFF"/>
                </a:solidFill>
                <a:latin typeface="Arial" pitchFamily="34" charset="0"/>
                <a:ea typeface="Arial" pitchFamily="34" charset="-122"/>
                <a:cs typeface="Arial" pitchFamily="34" charset="-120"/>
              </a:rPr>
              <a:t>5</a:t>
            </a:r>
            <a:endParaRPr lang="en-US" sz="1650"/>
          </a:p>
        </p:txBody>
      </p:sp>
      <p:sp>
        <p:nvSpPr>
          <p:cNvPr id="19" name="Text 17"/>
          <p:cNvSpPr/>
          <p:nvPr/>
        </p:nvSpPr>
        <p:spPr>
          <a:xfrm>
            <a:off x="1619250" y="5374481"/>
            <a:ext cx="8879649" cy="33382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b="1">
                <a:solidFill>
                  <a:srgbClr val="1A1A2E"/>
                </a:solidFill>
                <a:latin typeface="Arial" pitchFamily="34" charset="0"/>
                <a:ea typeface="Arial" pitchFamily="34" charset="-122"/>
                <a:cs typeface="Arial" pitchFamily="34" charset="-120"/>
              </a:rPr>
              <a:t>Geographic fallbacks </a:t>
            </a:r>
            <a:r>
              <a:rPr lang="en-US" sz="1725">
                <a:solidFill>
                  <a:srgbClr val="1A1A2E"/>
                </a:solidFill>
                <a:latin typeface="Arial" pitchFamily="34" charset="0"/>
                <a:ea typeface="Arial" pitchFamily="34" charset="-122"/>
                <a:cs typeface="Arial" pitchFamily="34" charset="-120"/>
              </a:rPr>
              <a:t>— OPSD city match, state / region centroids, pgeocode gazetteer</a:t>
            </a:r>
            <a:endParaRPr lang="en-US" sz="1725"/>
          </a:p>
        </p:txBody>
      </p:sp>
      <p:sp>
        <p:nvSpPr>
          <p:cNvPr id="20" name="Shape 18"/>
          <p:cNvSpPr/>
          <p:nvPr/>
        </p:nvSpPr>
        <p:spPr>
          <a:xfrm>
            <a:off x="990600" y="5869781"/>
            <a:ext cx="419100" cy="419100"/>
          </a:xfrm>
          <a:prstGeom prst="rect">
            <a:avLst/>
          </a:prstGeom>
          <a:solidFill>
            <a:srgbClr val="005293"/>
          </a:solidFill>
          <a:ln/>
        </p:spPr>
        <p:txBody>
          <a:bodyPr/>
          <a:lstStyle/>
          <a:p>
            <a:endParaRPr lang="en-GB"/>
          </a:p>
        </p:txBody>
      </p:sp>
      <p:sp>
        <p:nvSpPr>
          <p:cNvPr id="21" name="Text 19"/>
          <p:cNvSpPr/>
          <p:nvPr/>
        </p:nvSpPr>
        <p:spPr>
          <a:xfrm>
            <a:off x="952500" y="5869781"/>
            <a:ext cx="495300" cy="457200"/>
          </a:xfrm>
          <a:prstGeom prst="rect">
            <a:avLst/>
          </a:prstGeom>
          <a:noFill/>
          <a:ln/>
        </p:spPr>
        <p:txBody>
          <a:bodyPr wrap="square" lIns="25400" tIns="25400" rIns="25400" bIns="25400" rtlCol="0" anchor="ctr">
            <a:normAutofit/>
          </a:bodyPr>
          <a:lstStyle/>
          <a:p>
            <a:pPr marL="0" indent="0" algn="ctr">
              <a:buNone/>
            </a:pPr>
            <a:r>
              <a:rPr lang="en-US" sz="1650" b="1">
                <a:solidFill>
                  <a:srgbClr val="FFFFFF"/>
                </a:solidFill>
                <a:latin typeface="Arial" pitchFamily="34" charset="0"/>
                <a:ea typeface="Arial" pitchFamily="34" charset="-122"/>
                <a:cs typeface="Arial" pitchFamily="34" charset="-120"/>
              </a:rPr>
              <a:t>6</a:t>
            </a:r>
            <a:endParaRPr lang="en-US" sz="1650"/>
          </a:p>
        </p:txBody>
      </p:sp>
      <p:sp>
        <p:nvSpPr>
          <p:cNvPr id="22" name="Text 20"/>
          <p:cNvSpPr/>
          <p:nvPr/>
        </p:nvSpPr>
        <p:spPr>
          <a:xfrm>
            <a:off x="1619250" y="5926931"/>
            <a:ext cx="5217020" cy="33382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b="1">
                <a:solidFill>
                  <a:srgbClr val="1A1A2E"/>
                </a:solidFill>
                <a:latin typeface="Arial" pitchFamily="34" charset="0"/>
                <a:ea typeface="Arial" pitchFamily="34" charset="-122"/>
                <a:cs typeface="Arial" pitchFamily="34" charset="-120"/>
              </a:rPr>
              <a:t>Nominatim </a:t>
            </a:r>
            <a:r>
              <a:rPr lang="en-US" sz="1725">
                <a:solidFill>
                  <a:srgbClr val="1A1A2E"/>
                </a:solidFill>
                <a:latin typeface="Arial" pitchFamily="34" charset="0"/>
                <a:ea typeface="Arial" pitchFamily="34" charset="-122"/>
                <a:cs typeface="Arial" pitchFamily="34" charset="-120"/>
              </a:rPr>
              <a:t>— single forward-geocode as last resort</a:t>
            </a:r>
            <a:endParaRPr lang="en-US" sz="1725"/>
          </a:p>
        </p:txBody>
      </p:sp>
      <p:sp>
        <p:nvSpPr>
          <p:cNvPr id="23" name="Shape 21"/>
          <p:cNvSpPr/>
          <p:nvPr/>
        </p:nvSpPr>
        <p:spPr>
          <a:xfrm>
            <a:off x="990600" y="6422231"/>
            <a:ext cx="419100" cy="419100"/>
          </a:xfrm>
          <a:prstGeom prst="rect">
            <a:avLst/>
          </a:prstGeom>
          <a:solidFill>
            <a:srgbClr val="005293"/>
          </a:solidFill>
          <a:ln/>
        </p:spPr>
        <p:txBody>
          <a:bodyPr/>
          <a:lstStyle/>
          <a:p>
            <a:endParaRPr lang="en-GB"/>
          </a:p>
        </p:txBody>
      </p:sp>
      <p:sp>
        <p:nvSpPr>
          <p:cNvPr id="24" name="Text 22"/>
          <p:cNvSpPr/>
          <p:nvPr/>
        </p:nvSpPr>
        <p:spPr>
          <a:xfrm>
            <a:off x="952500" y="6422231"/>
            <a:ext cx="495300" cy="457200"/>
          </a:xfrm>
          <a:prstGeom prst="rect">
            <a:avLst/>
          </a:prstGeom>
          <a:noFill/>
          <a:ln/>
        </p:spPr>
        <p:txBody>
          <a:bodyPr wrap="square" lIns="25400" tIns="25400" rIns="25400" bIns="25400" rtlCol="0" anchor="ctr">
            <a:normAutofit/>
          </a:bodyPr>
          <a:lstStyle/>
          <a:p>
            <a:pPr marL="0" indent="0" algn="ctr">
              <a:buNone/>
            </a:pPr>
            <a:r>
              <a:rPr lang="en-US" sz="1650" b="1">
                <a:solidFill>
                  <a:srgbClr val="FFFFFF"/>
                </a:solidFill>
                <a:latin typeface="Arial" pitchFamily="34" charset="0"/>
                <a:ea typeface="Arial" pitchFamily="34" charset="-122"/>
                <a:cs typeface="Arial" pitchFamily="34" charset="-120"/>
              </a:rPr>
              <a:t>7</a:t>
            </a:r>
            <a:endParaRPr lang="en-US" sz="1650"/>
          </a:p>
        </p:txBody>
      </p:sp>
      <p:sp>
        <p:nvSpPr>
          <p:cNvPr id="25" name="Text 23"/>
          <p:cNvSpPr/>
          <p:nvPr/>
        </p:nvSpPr>
        <p:spPr>
          <a:xfrm>
            <a:off x="1619250" y="6479381"/>
            <a:ext cx="7414321" cy="33382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b="1">
                <a:solidFill>
                  <a:srgbClr val="1A1A2E"/>
                </a:solidFill>
                <a:latin typeface="Arial" pitchFamily="34" charset="0"/>
                <a:ea typeface="Arial" pitchFamily="34" charset="-122"/>
                <a:cs typeface="Arial" pitchFamily="34" charset="-120"/>
              </a:rPr>
              <a:t>Return best candidate </a:t>
            </a:r>
            <a:r>
              <a:rPr lang="en-US" sz="1725">
                <a:solidFill>
                  <a:srgbClr val="1A1A2E"/>
                </a:solidFill>
                <a:latin typeface="Arial" pitchFamily="34" charset="0"/>
                <a:ea typeface="Arial" pitchFamily="34" charset="-122"/>
                <a:cs typeface="Arial" pitchFamily="34" charset="-120"/>
              </a:rPr>
              <a:t>— highest confidence c ∈ [0, 1] across all sources</a:t>
            </a:r>
            <a:endParaRPr lang="en-US" sz="1725"/>
          </a:p>
        </p:txBody>
      </p:sp>
      <p:sp>
        <p:nvSpPr>
          <p:cNvPr id="26" name="Shape 24"/>
          <p:cNvSpPr/>
          <p:nvPr/>
        </p:nvSpPr>
        <p:spPr>
          <a:xfrm>
            <a:off x="11468100" y="2648545"/>
            <a:ext cx="5905500" cy="3314700"/>
          </a:xfrm>
          <a:prstGeom prst="rect">
            <a:avLst/>
          </a:prstGeom>
          <a:solidFill>
            <a:srgbClr val="F8FAFC"/>
          </a:solidFill>
          <a:ln w="19050">
            <a:solidFill>
              <a:srgbClr val="E2E8F0"/>
            </a:solidFill>
            <a:prstDash val="solid"/>
          </a:ln>
        </p:spPr>
        <p:txBody>
          <a:bodyPr/>
          <a:lstStyle/>
          <a:p>
            <a:endParaRPr lang="en-GB"/>
          </a:p>
        </p:txBody>
      </p:sp>
      <p:sp>
        <p:nvSpPr>
          <p:cNvPr id="27" name="Text 25"/>
          <p:cNvSpPr/>
          <p:nvPr/>
        </p:nvSpPr>
        <p:spPr>
          <a:xfrm>
            <a:off x="11830050" y="2953345"/>
            <a:ext cx="569976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kern="0" spc="150">
                <a:solidFill>
                  <a:srgbClr val="005293"/>
                </a:solidFill>
                <a:latin typeface="Arial" pitchFamily="34" charset="0"/>
                <a:ea typeface="Arial" pitchFamily="34" charset="-122"/>
                <a:cs typeface="Arial" pitchFamily="34" charset="-120"/>
              </a:rPr>
              <a:t>BASE CONFIDENCE BY SOURCE</a:t>
            </a:r>
            <a:endParaRPr lang="en-US" sz="1575"/>
          </a:p>
        </p:txBody>
      </p:sp>
      <p:sp>
        <p:nvSpPr>
          <p:cNvPr id="28" name="Text 26"/>
          <p:cNvSpPr/>
          <p:nvPr/>
        </p:nvSpPr>
        <p:spPr>
          <a:xfrm>
            <a:off x="11830050" y="3353395"/>
            <a:ext cx="1908870" cy="28575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1A1A2E"/>
                </a:solidFill>
                <a:latin typeface="Arial" pitchFamily="34" charset="0"/>
                <a:ea typeface="Arial" pitchFamily="34" charset="-122"/>
                <a:cs typeface="Arial" pitchFamily="34" charset="-120"/>
              </a:rPr>
              <a:t>OPSD exact name</a:t>
            </a:r>
            <a:endParaRPr lang="en-US" sz="1650"/>
          </a:p>
        </p:txBody>
      </p:sp>
      <p:sp>
        <p:nvSpPr>
          <p:cNvPr id="29" name="Text 27"/>
          <p:cNvSpPr/>
          <p:nvPr/>
        </p:nvSpPr>
        <p:spPr>
          <a:xfrm>
            <a:off x="16603712" y="3353395"/>
            <a:ext cx="484138" cy="285750"/>
          </a:xfrm>
          <a:prstGeom prst="rect">
            <a:avLst/>
          </a:prstGeom>
          <a:noFill/>
          <a:ln/>
        </p:spPr>
        <p:txBody>
          <a:bodyPr wrap="square" lIns="25400" tIns="25400" rIns="25400" bIns="25400" rtlCol="0" anchor="t">
            <a:normAutofit lnSpcReduction="10000"/>
          </a:bodyPr>
          <a:lstStyle/>
          <a:p>
            <a:pPr marL="0" indent="0" algn="l">
              <a:buNone/>
            </a:pPr>
            <a:r>
              <a:rPr lang="en-US" sz="1650" b="1">
                <a:solidFill>
                  <a:srgbClr val="005293"/>
                </a:solidFill>
                <a:latin typeface="Arial" pitchFamily="34" charset="0"/>
                <a:ea typeface="Arial" pitchFamily="34" charset="-122"/>
                <a:cs typeface="Arial" pitchFamily="34" charset="-120"/>
              </a:rPr>
              <a:t>1.00</a:t>
            </a:r>
            <a:endParaRPr lang="en-US" sz="1650"/>
          </a:p>
        </p:txBody>
      </p:sp>
      <p:sp>
        <p:nvSpPr>
          <p:cNvPr id="30" name="Text 28"/>
          <p:cNvSpPr/>
          <p:nvPr/>
        </p:nvSpPr>
        <p:spPr>
          <a:xfrm>
            <a:off x="11830050" y="3696295"/>
            <a:ext cx="1704231" cy="28575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1A1A2E"/>
                </a:solidFill>
                <a:latin typeface="Arial" pitchFamily="34" charset="0"/>
                <a:ea typeface="Arial" pitchFamily="34" charset="-122"/>
                <a:cs typeface="Arial" pitchFamily="34" charset="-120"/>
              </a:rPr>
              <a:t>PSA exact name</a:t>
            </a:r>
            <a:endParaRPr lang="en-US" sz="1650"/>
          </a:p>
        </p:txBody>
      </p:sp>
      <p:sp>
        <p:nvSpPr>
          <p:cNvPr id="31" name="Text 29"/>
          <p:cNvSpPr/>
          <p:nvPr/>
        </p:nvSpPr>
        <p:spPr>
          <a:xfrm>
            <a:off x="16603712" y="3696295"/>
            <a:ext cx="484138" cy="285750"/>
          </a:xfrm>
          <a:prstGeom prst="rect">
            <a:avLst/>
          </a:prstGeom>
          <a:noFill/>
          <a:ln/>
        </p:spPr>
        <p:txBody>
          <a:bodyPr wrap="square" lIns="25400" tIns="25400" rIns="25400" bIns="25400" rtlCol="0" anchor="t">
            <a:normAutofit lnSpcReduction="10000"/>
          </a:bodyPr>
          <a:lstStyle/>
          <a:p>
            <a:pPr marL="0" indent="0" algn="l">
              <a:buNone/>
            </a:pPr>
            <a:r>
              <a:rPr lang="en-US" sz="1650" b="1">
                <a:solidFill>
                  <a:srgbClr val="005293"/>
                </a:solidFill>
                <a:latin typeface="Arial" pitchFamily="34" charset="0"/>
                <a:ea typeface="Arial" pitchFamily="34" charset="-122"/>
                <a:cs typeface="Arial" pitchFamily="34" charset="-120"/>
              </a:rPr>
              <a:t>0.95</a:t>
            </a:r>
            <a:endParaRPr lang="en-US" sz="1650"/>
          </a:p>
        </p:txBody>
      </p:sp>
      <p:sp>
        <p:nvSpPr>
          <p:cNvPr id="32" name="Text 30"/>
          <p:cNvSpPr/>
          <p:nvPr/>
        </p:nvSpPr>
        <p:spPr>
          <a:xfrm>
            <a:off x="11830050" y="4039195"/>
            <a:ext cx="2152471" cy="28575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1A1A2E"/>
                </a:solidFill>
                <a:latin typeface="Arial" pitchFamily="34" charset="0"/>
                <a:ea typeface="Arial" pitchFamily="34" charset="-122"/>
                <a:cs typeface="Arial" pitchFamily="34" charset="-120"/>
              </a:rPr>
              <a:t>Wikipedia (accepted)</a:t>
            </a:r>
            <a:endParaRPr lang="en-US" sz="1650"/>
          </a:p>
        </p:txBody>
      </p:sp>
      <p:sp>
        <p:nvSpPr>
          <p:cNvPr id="33" name="Text 31"/>
          <p:cNvSpPr/>
          <p:nvPr/>
        </p:nvSpPr>
        <p:spPr>
          <a:xfrm>
            <a:off x="16603712" y="4039195"/>
            <a:ext cx="484138" cy="285750"/>
          </a:xfrm>
          <a:prstGeom prst="rect">
            <a:avLst/>
          </a:prstGeom>
          <a:noFill/>
          <a:ln/>
        </p:spPr>
        <p:txBody>
          <a:bodyPr wrap="square" lIns="25400" tIns="25400" rIns="25400" bIns="25400" rtlCol="0" anchor="t">
            <a:normAutofit lnSpcReduction="10000"/>
          </a:bodyPr>
          <a:lstStyle/>
          <a:p>
            <a:pPr marL="0" indent="0" algn="l">
              <a:buNone/>
            </a:pPr>
            <a:r>
              <a:rPr lang="en-US" sz="1650" b="1">
                <a:solidFill>
                  <a:srgbClr val="005293"/>
                </a:solidFill>
                <a:latin typeface="Arial" pitchFamily="34" charset="0"/>
                <a:ea typeface="Arial" pitchFamily="34" charset="-122"/>
                <a:cs typeface="Arial" pitchFamily="34" charset="-120"/>
              </a:rPr>
              <a:t>0.85</a:t>
            </a:r>
            <a:endParaRPr lang="en-US" sz="1650"/>
          </a:p>
        </p:txBody>
      </p:sp>
      <p:sp>
        <p:nvSpPr>
          <p:cNvPr id="34" name="Text 32"/>
          <p:cNvSpPr/>
          <p:nvPr/>
        </p:nvSpPr>
        <p:spPr>
          <a:xfrm>
            <a:off x="11830050" y="4382095"/>
            <a:ext cx="2510998" cy="28575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1A1A2E"/>
                </a:solidFill>
                <a:latin typeface="Arial" pitchFamily="34" charset="0"/>
                <a:ea typeface="Arial" pitchFamily="34" charset="-122"/>
                <a:cs typeface="Arial" pitchFamily="34" charset="-120"/>
              </a:rPr>
              <a:t>DuckDuckGo (accepted)</a:t>
            </a:r>
            <a:endParaRPr lang="en-US" sz="1650"/>
          </a:p>
        </p:txBody>
      </p:sp>
      <p:sp>
        <p:nvSpPr>
          <p:cNvPr id="35" name="Text 33"/>
          <p:cNvSpPr/>
          <p:nvPr/>
        </p:nvSpPr>
        <p:spPr>
          <a:xfrm>
            <a:off x="16603712" y="4382095"/>
            <a:ext cx="484138" cy="285750"/>
          </a:xfrm>
          <a:prstGeom prst="rect">
            <a:avLst/>
          </a:prstGeom>
          <a:noFill/>
          <a:ln/>
        </p:spPr>
        <p:txBody>
          <a:bodyPr wrap="square" lIns="25400" tIns="25400" rIns="25400" bIns="25400" rtlCol="0" anchor="t">
            <a:normAutofit lnSpcReduction="10000"/>
          </a:bodyPr>
          <a:lstStyle/>
          <a:p>
            <a:pPr marL="0" indent="0" algn="l">
              <a:buNone/>
            </a:pPr>
            <a:r>
              <a:rPr lang="en-US" sz="1650" b="1">
                <a:solidFill>
                  <a:srgbClr val="64A0C8"/>
                </a:solidFill>
                <a:latin typeface="Arial" pitchFamily="34" charset="0"/>
                <a:ea typeface="Arial" pitchFamily="34" charset="-122"/>
                <a:cs typeface="Arial" pitchFamily="34" charset="-120"/>
              </a:rPr>
              <a:t>0.70</a:t>
            </a:r>
            <a:endParaRPr lang="en-US" sz="1650"/>
          </a:p>
        </p:txBody>
      </p:sp>
      <p:sp>
        <p:nvSpPr>
          <p:cNvPr id="36" name="Text 34"/>
          <p:cNvSpPr/>
          <p:nvPr/>
        </p:nvSpPr>
        <p:spPr>
          <a:xfrm>
            <a:off x="11830050" y="4724995"/>
            <a:ext cx="2319129" cy="28575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1A1A2E"/>
                </a:solidFill>
                <a:latin typeface="Arial" pitchFamily="34" charset="0"/>
                <a:ea typeface="Arial" pitchFamily="34" charset="-122"/>
                <a:cs typeface="Arial" pitchFamily="34" charset="-120"/>
              </a:rPr>
              <a:t>Gazetteer place match</a:t>
            </a:r>
            <a:endParaRPr lang="en-US" sz="1650"/>
          </a:p>
        </p:txBody>
      </p:sp>
      <p:sp>
        <p:nvSpPr>
          <p:cNvPr id="37" name="Text 35"/>
          <p:cNvSpPr/>
          <p:nvPr/>
        </p:nvSpPr>
        <p:spPr>
          <a:xfrm>
            <a:off x="16603712" y="4724995"/>
            <a:ext cx="484138" cy="285750"/>
          </a:xfrm>
          <a:prstGeom prst="rect">
            <a:avLst/>
          </a:prstGeom>
          <a:noFill/>
          <a:ln/>
        </p:spPr>
        <p:txBody>
          <a:bodyPr wrap="square" lIns="25400" tIns="25400" rIns="25400" bIns="25400" rtlCol="0" anchor="t">
            <a:normAutofit lnSpcReduction="10000"/>
          </a:bodyPr>
          <a:lstStyle/>
          <a:p>
            <a:pPr marL="0" indent="0" algn="l">
              <a:buNone/>
            </a:pPr>
            <a:r>
              <a:rPr lang="en-US" sz="1650" b="1">
                <a:solidFill>
                  <a:srgbClr val="64A0C8"/>
                </a:solidFill>
                <a:latin typeface="Arial" pitchFamily="34" charset="0"/>
                <a:ea typeface="Arial" pitchFamily="34" charset="-122"/>
                <a:cs typeface="Arial" pitchFamily="34" charset="-120"/>
              </a:rPr>
              <a:t>0.50</a:t>
            </a:r>
            <a:endParaRPr lang="en-US" sz="1650"/>
          </a:p>
        </p:txBody>
      </p:sp>
      <p:sp>
        <p:nvSpPr>
          <p:cNvPr id="38" name="Text 36"/>
          <p:cNvSpPr/>
          <p:nvPr/>
        </p:nvSpPr>
        <p:spPr>
          <a:xfrm>
            <a:off x="11830050" y="5067895"/>
            <a:ext cx="2050152" cy="28575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1A1A2E"/>
                </a:solidFill>
                <a:latin typeface="Arial" pitchFamily="34" charset="0"/>
                <a:ea typeface="Arial" pitchFamily="34" charset="-122"/>
                <a:cs typeface="Arial" pitchFamily="34" charset="-120"/>
              </a:rPr>
              <a:t>Nominatim geocode</a:t>
            </a:r>
            <a:endParaRPr lang="en-US" sz="1650"/>
          </a:p>
        </p:txBody>
      </p:sp>
      <p:sp>
        <p:nvSpPr>
          <p:cNvPr id="39" name="Text 37"/>
          <p:cNvSpPr/>
          <p:nvPr/>
        </p:nvSpPr>
        <p:spPr>
          <a:xfrm>
            <a:off x="16603712" y="5067895"/>
            <a:ext cx="484138" cy="285750"/>
          </a:xfrm>
          <a:prstGeom prst="rect">
            <a:avLst/>
          </a:prstGeom>
          <a:noFill/>
          <a:ln/>
        </p:spPr>
        <p:txBody>
          <a:bodyPr wrap="square" lIns="25400" tIns="25400" rIns="25400" bIns="25400" rtlCol="0" anchor="t">
            <a:normAutofit lnSpcReduction="10000"/>
          </a:bodyPr>
          <a:lstStyle/>
          <a:p>
            <a:pPr marL="0" indent="0" algn="l">
              <a:buNone/>
            </a:pPr>
            <a:r>
              <a:rPr lang="en-US" sz="1650" b="1">
                <a:solidFill>
                  <a:srgbClr val="E37222"/>
                </a:solidFill>
                <a:latin typeface="Arial" pitchFamily="34" charset="0"/>
                <a:ea typeface="Arial" pitchFamily="34" charset="-122"/>
                <a:cs typeface="Arial" pitchFamily="34" charset="-120"/>
              </a:rPr>
              <a:t>0.40</a:t>
            </a:r>
            <a:endParaRPr lang="en-US" sz="1650"/>
          </a:p>
        </p:txBody>
      </p:sp>
      <p:sp>
        <p:nvSpPr>
          <p:cNvPr id="40" name="Text 38"/>
          <p:cNvSpPr/>
          <p:nvPr/>
        </p:nvSpPr>
        <p:spPr>
          <a:xfrm>
            <a:off x="11830050" y="5410795"/>
            <a:ext cx="2370534" cy="285750"/>
          </a:xfrm>
          <a:prstGeom prst="rect">
            <a:avLst/>
          </a:prstGeom>
          <a:noFill/>
          <a:ln/>
        </p:spPr>
        <p:txBody>
          <a:bodyPr wrap="square" lIns="25400" tIns="25400" rIns="25400" bIns="25400" rtlCol="0" anchor="t">
            <a:normAutofit lnSpcReduction="10000"/>
          </a:bodyPr>
          <a:lstStyle/>
          <a:p>
            <a:pPr marL="0" indent="0" algn="l">
              <a:buNone/>
            </a:pPr>
            <a:r>
              <a:rPr lang="en-US" sz="1650">
                <a:solidFill>
                  <a:srgbClr val="1A1A2E"/>
                </a:solidFill>
                <a:latin typeface="Arial" pitchFamily="34" charset="0"/>
                <a:ea typeface="Arial" pitchFamily="34" charset="-122"/>
                <a:cs typeface="Arial" pitchFamily="34" charset="-120"/>
              </a:rPr>
              <a:t>State / region centroids</a:t>
            </a:r>
            <a:endParaRPr lang="en-US" sz="1650"/>
          </a:p>
        </p:txBody>
      </p:sp>
      <p:sp>
        <p:nvSpPr>
          <p:cNvPr id="41" name="Text 39"/>
          <p:cNvSpPr/>
          <p:nvPr/>
        </p:nvSpPr>
        <p:spPr>
          <a:xfrm>
            <a:off x="16079391" y="5410795"/>
            <a:ext cx="1008459" cy="285750"/>
          </a:xfrm>
          <a:prstGeom prst="rect">
            <a:avLst/>
          </a:prstGeom>
          <a:noFill/>
          <a:ln/>
        </p:spPr>
        <p:txBody>
          <a:bodyPr wrap="square" lIns="25400" tIns="25400" rIns="25400" bIns="25400" rtlCol="0" anchor="t">
            <a:normAutofit lnSpcReduction="10000"/>
          </a:bodyPr>
          <a:lstStyle/>
          <a:p>
            <a:pPr marL="0" indent="0" algn="l">
              <a:buNone/>
            </a:pPr>
            <a:r>
              <a:rPr lang="en-US" sz="1650" b="1">
                <a:solidFill>
                  <a:srgbClr val="E37222"/>
                </a:solidFill>
                <a:latin typeface="Arial" pitchFamily="34" charset="0"/>
                <a:ea typeface="Arial" pitchFamily="34" charset="-122"/>
                <a:cs typeface="Arial" pitchFamily="34" charset="-120"/>
              </a:rPr>
              <a:t>0.20–0.35</a:t>
            </a:r>
            <a:endParaRPr lang="en-US" sz="1650"/>
          </a:p>
        </p:txBody>
      </p:sp>
      <p:sp>
        <p:nvSpPr>
          <p:cNvPr id="42" name="Shape 40"/>
          <p:cNvSpPr/>
          <p:nvPr/>
        </p:nvSpPr>
        <p:spPr>
          <a:xfrm>
            <a:off x="11468100" y="6191845"/>
            <a:ext cx="5905500" cy="1092398"/>
          </a:xfrm>
          <a:prstGeom prst="rect">
            <a:avLst/>
          </a:prstGeom>
          <a:solidFill>
            <a:srgbClr val="F0F6FB"/>
          </a:solidFill>
          <a:ln/>
        </p:spPr>
        <p:txBody>
          <a:bodyPr/>
          <a:lstStyle/>
          <a:p>
            <a:endParaRPr lang="en-GB"/>
          </a:p>
        </p:txBody>
      </p:sp>
      <p:sp>
        <p:nvSpPr>
          <p:cNvPr id="43" name="Shape 41"/>
          <p:cNvSpPr/>
          <p:nvPr/>
        </p:nvSpPr>
        <p:spPr>
          <a:xfrm>
            <a:off x="11468100" y="6191845"/>
            <a:ext cx="57150" cy="1092398"/>
          </a:xfrm>
          <a:prstGeom prst="rect">
            <a:avLst/>
          </a:prstGeom>
          <a:solidFill>
            <a:srgbClr val="0065BD"/>
          </a:solidFill>
          <a:ln/>
        </p:spPr>
        <p:txBody>
          <a:bodyPr/>
          <a:lstStyle/>
          <a:p>
            <a:endParaRPr lang="en-GB"/>
          </a:p>
        </p:txBody>
      </p:sp>
      <p:sp>
        <p:nvSpPr>
          <p:cNvPr id="44" name="Text 42"/>
          <p:cNvSpPr/>
          <p:nvPr/>
        </p:nvSpPr>
        <p:spPr>
          <a:xfrm>
            <a:off x="11830050" y="6420445"/>
            <a:ext cx="5415915" cy="67329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725">
                <a:solidFill>
                  <a:srgbClr val="1A1A2E"/>
                </a:solidFill>
                <a:highlight>
                  <a:srgbClr val="F0F6FB"/>
                </a:highlight>
                <a:latin typeface="Arial" pitchFamily="34" charset="0"/>
                <a:ea typeface="Arial" pitchFamily="34" charset="-122"/>
                <a:cs typeface="Arial" pitchFamily="34" charset="-120"/>
              </a:rPr>
              <a:t>Only matches with </a:t>
            </a:r>
            <a:r>
              <a:rPr lang="en-US" sz="1725" b="1">
                <a:solidFill>
                  <a:srgbClr val="1A1A2E"/>
                </a:solidFill>
                <a:latin typeface="Arial" pitchFamily="34" charset="0"/>
                <a:ea typeface="Arial" pitchFamily="34" charset="-122"/>
                <a:cs typeface="Arial" pitchFamily="34" charset="-120"/>
              </a:rPr>
              <a:t>c &gt; 0.5 </a:t>
            </a:r>
            <a:r>
              <a:rPr lang="en-US" sz="1725">
                <a:solidFill>
                  <a:srgbClr val="1A1A2E"/>
                </a:solidFill>
                <a:highlight>
                  <a:srgbClr val="F0F6FB"/>
                </a:highlight>
                <a:latin typeface="Arial" pitchFamily="34" charset="0"/>
                <a:ea typeface="Arial" pitchFamily="34" charset="-122"/>
                <a:cs typeface="Arial" pitchFamily="34" charset="-120"/>
              </a:rPr>
              <a:t>are kept — a wrong location is worse than a blank.</a:t>
            </a:r>
            <a:endParaRPr lang="en-US" sz="1725"/>
          </a:p>
        </p:txBody>
      </p:sp>
      <p:sp>
        <p:nvSpPr>
          <p:cNvPr id="45" name="Text 43"/>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46" name="Text 44"/>
          <p:cNvSpPr/>
          <p:nvPr/>
        </p:nvSpPr>
        <p:spPr>
          <a:xfrm>
            <a:off x="17245310" y="9715500"/>
            <a:ext cx="166390"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6</a:t>
            </a:r>
            <a:endParaRPr lang="en-US" sz="12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2795364"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03 · METHODOLOGY</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52450"/>
          </a:xfrm>
          <a:prstGeom prst="rect">
            <a:avLst/>
          </a:prstGeom>
          <a:noFill/>
          <a:ln/>
        </p:spPr>
        <p:txBody>
          <a:bodyPr wrap="square" lIns="25400" tIns="25400" rIns="25400" bIns="25400" rtlCol="0" anchor="t">
            <a:normAutofit lnSpcReduction="10000"/>
          </a:bodyPr>
          <a:lstStyle/>
          <a:p>
            <a:pPr marL="0" indent="0" algn="l">
              <a:buNone/>
            </a:pPr>
            <a:r>
              <a:rPr lang="en-US" sz="3450" b="1">
                <a:solidFill>
                  <a:srgbClr val="1A1A2E"/>
                </a:solidFill>
                <a:latin typeface="Arial" pitchFamily="34" charset="0"/>
                <a:ea typeface="Arial" pitchFamily="34" charset="-122"/>
                <a:cs typeface="Arial" pitchFamily="34" charset="-120"/>
              </a:rPr>
              <a:t>The effective local price</a:t>
            </a:r>
            <a:endParaRPr lang="en-US" sz="3450"/>
          </a:p>
        </p:txBody>
      </p:sp>
      <p:sp>
        <p:nvSpPr>
          <p:cNvPr id="5" name="Shape 3"/>
          <p:cNvSpPr/>
          <p:nvPr/>
        </p:nvSpPr>
        <p:spPr>
          <a:xfrm>
            <a:off x="952500" y="1981200"/>
            <a:ext cx="16383000" cy="1445865"/>
          </a:xfrm>
          <a:prstGeom prst="rect">
            <a:avLst/>
          </a:prstGeom>
          <a:solidFill>
            <a:srgbClr val="0F2A43"/>
          </a:solidFill>
          <a:ln/>
        </p:spPr>
        <p:txBody>
          <a:bodyPr/>
          <a:lstStyle/>
          <a:p>
            <a:endParaRPr lang="en-GB"/>
          </a:p>
        </p:txBody>
      </p:sp>
      <p:sp>
        <p:nvSpPr>
          <p:cNvPr id="6" name="Text 4"/>
          <p:cNvSpPr/>
          <p:nvPr/>
        </p:nvSpPr>
        <p:spPr>
          <a:xfrm>
            <a:off x="4661148" y="2381250"/>
            <a:ext cx="9862111" cy="683865"/>
          </a:xfrm>
          <a:prstGeom prst="rect">
            <a:avLst/>
          </a:prstGeom>
          <a:noFill/>
          <a:ln/>
        </p:spPr>
        <p:txBody>
          <a:bodyPr wrap="square" lIns="25400" tIns="25400" rIns="25400" bIns="25400" rtlCol="0" anchor="t">
            <a:normAutofit/>
          </a:bodyPr>
          <a:lstStyle/>
          <a:p>
            <a:pPr marL="0" indent="0" algn="l">
              <a:buNone/>
            </a:pPr>
            <a:r>
              <a:rPr lang="en-US" sz="3300" i="1">
                <a:solidFill>
                  <a:srgbClr val="FFFFFF"/>
                </a:solidFill>
                <a:latin typeface="Georgia" pitchFamily="34" charset="0"/>
                <a:ea typeface="Georgia" pitchFamily="34" charset="-122"/>
                <a:cs typeface="Georgia" pitchFamily="34" charset="-120"/>
              </a:rPr>
              <a:t>π̂</a:t>
            </a:r>
            <a:r>
              <a:rPr lang="en-US" sz="1950" i="1" baseline="-40000">
                <a:solidFill>
                  <a:srgbClr val="FFFFFF"/>
                </a:solidFill>
                <a:latin typeface="Georgia" pitchFamily="34" charset="0"/>
                <a:ea typeface="Georgia" pitchFamily="34" charset="-122"/>
                <a:cs typeface="Georgia" pitchFamily="34" charset="-120"/>
              </a:rPr>
              <a:t>n,t </a:t>
            </a:r>
            <a:r>
              <a:rPr lang="en-US" sz="3300" i="1">
                <a:solidFill>
                  <a:srgbClr val="FFFFFF"/>
                </a:solidFill>
                <a:latin typeface="Georgia" pitchFamily="34" charset="0"/>
                <a:ea typeface="Georgia" pitchFamily="34" charset="-122"/>
                <a:cs typeface="Georgia" pitchFamily="34" charset="-120"/>
              </a:rPr>
              <a:t>= p</a:t>
            </a:r>
            <a:r>
              <a:rPr lang="en-US" sz="1950" i="1" baseline="30000">
                <a:solidFill>
                  <a:srgbClr val="FFFFFF"/>
                </a:solidFill>
                <a:latin typeface="Georgia" pitchFamily="34" charset="0"/>
                <a:ea typeface="Georgia" pitchFamily="34" charset="-122"/>
                <a:cs typeface="Georgia" pitchFamily="34" charset="-120"/>
              </a:rPr>
              <a:t>base</a:t>
            </a:r>
            <a:r>
              <a:rPr lang="en-US" sz="1950" i="1" baseline="-40000">
                <a:solidFill>
                  <a:srgbClr val="FFFFFF"/>
                </a:solidFill>
                <a:latin typeface="Georgia" pitchFamily="34" charset="0"/>
                <a:ea typeface="Georgia" pitchFamily="34" charset="-122"/>
                <a:cs typeface="Georgia" pitchFamily="34" charset="-120"/>
              </a:rPr>
              <a:t>t </a:t>
            </a:r>
            <a:r>
              <a:rPr lang="en-US" sz="3300" i="1">
                <a:solidFill>
                  <a:srgbClr val="FFFFFF"/>
                </a:solidFill>
                <a:latin typeface="Georgia" pitchFamily="34" charset="0"/>
                <a:ea typeface="Georgia" pitchFamily="34" charset="-122"/>
                <a:cs typeface="Georgia" pitchFamily="34" charset="-120"/>
              </a:rPr>
              <a:t>+ </a:t>
            </a:r>
            <a:r>
              <a:rPr lang="en-US" sz="3300" i="1">
                <a:solidFill>
                  <a:srgbClr val="98C6EA"/>
                </a:solidFill>
                <a:latin typeface="Georgia" pitchFamily="34" charset="0"/>
                <a:ea typeface="Georgia" pitchFamily="34" charset="-122"/>
                <a:cs typeface="Georgia" pitchFamily="34" charset="-120"/>
              </a:rPr>
              <a:t>α </a:t>
            </a:r>
            <a:r>
              <a:rPr lang="en-US" sz="4050" i="1">
                <a:solidFill>
                  <a:srgbClr val="FFFFFF"/>
                </a:solidFill>
                <a:latin typeface="Georgia" pitchFamily="34" charset="0"/>
                <a:ea typeface="Georgia" pitchFamily="34" charset="-122"/>
                <a:cs typeface="Georgia" pitchFamily="34" charset="-120"/>
              </a:rPr>
              <a:t>Σ</a:t>
            </a:r>
            <a:r>
              <a:rPr lang="en-US" sz="1950" i="1" baseline="-40000">
                <a:solidFill>
                  <a:srgbClr val="FFFFFF"/>
                </a:solidFill>
                <a:latin typeface="Georgia" pitchFamily="34" charset="0"/>
                <a:ea typeface="Georgia" pitchFamily="34" charset="-122"/>
                <a:cs typeface="Georgia" pitchFamily="34" charset="-120"/>
              </a:rPr>
              <a:t>g∈Gₜ </a:t>
            </a:r>
            <a:r>
              <a:rPr lang="en-US" sz="3300" i="1">
                <a:solidFill>
                  <a:srgbClr val="FFFFFF"/>
                </a:solidFill>
                <a:latin typeface="Georgia" pitchFamily="34" charset="0"/>
                <a:ea typeface="Georgia" pitchFamily="34" charset="-122"/>
                <a:cs typeface="Georgia" pitchFamily="34" charset="-120"/>
              </a:rPr>
              <a:t>K</a:t>
            </a:r>
            <a:r>
              <a:rPr lang="en-US" sz="1950" i="1" baseline="-40000">
                <a:solidFill>
                  <a:srgbClr val="FFFFFF"/>
                </a:solidFill>
                <a:latin typeface="Georgia" pitchFamily="34" charset="0"/>
                <a:ea typeface="Georgia" pitchFamily="34" charset="-122"/>
                <a:cs typeface="Georgia" pitchFamily="34" charset="-120"/>
              </a:rPr>
              <a:t>h</a:t>
            </a:r>
            <a:r>
              <a:rPr lang="en-US" sz="3300" i="1">
                <a:solidFill>
                  <a:srgbClr val="FFFFFF"/>
                </a:solidFill>
                <a:latin typeface="Georgia" pitchFamily="34" charset="0"/>
                <a:ea typeface="Georgia" pitchFamily="34" charset="-122"/>
                <a:cs typeface="Georgia" pitchFamily="34" charset="-120"/>
              </a:rPr>
              <a:t>( d(n, bus(g)) ) · s</a:t>
            </a:r>
            <a:r>
              <a:rPr lang="en-US" sz="1950" i="1" baseline="-40000">
                <a:solidFill>
                  <a:srgbClr val="FFFFFF"/>
                </a:solidFill>
                <a:latin typeface="Georgia" pitchFamily="34" charset="0"/>
                <a:ea typeface="Georgia" pitchFamily="34" charset="-122"/>
                <a:cs typeface="Georgia" pitchFamily="34" charset="-120"/>
              </a:rPr>
              <a:t>g </a:t>
            </a:r>
            <a:r>
              <a:rPr lang="en-US" sz="3300" i="1">
                <a:solidFill>
                  <a:srgbClr val="FFFFFF"/>
                </a:solidFill>
                <a:latin typeface="Georgia" pitchFamily="34" charset="0"/>
                <a:ea typeface="Georgia" pitchFamily="34" charset="-122"/>
                <a:cs typeface="Georgia" pitchFamily="34" charset="-120"/>
              </a:rPr>
              <a:t>· m</a:t>
            </a:r>
            <a:r>
              <a:rPr lang="en-US" sz="1950" i="1" baseline="-40000">
                <a:solidFill>
                  <a:srgbClr val="FFFFFF"/>
                </a:solidFill>
                <a:latin typeface="Georgia" pitchFamily="34" charset="0"/>
                <a:ea typeface="Georgia" pitchFamily="34" charset="-122"/>
                <a:cs typeface="Georgia" pitchFamily="34" charset="-120"/>
              </a:rPr>
              <a:t>g</a:t>
            </a:r>
            <a:endParaRPr lang="en-US" sz="3300"/>
          </a:p>
        </p:txBody>
      </p:sp>
      <p:sp>
        <p:nvSpPr>
          <p:cNvPr id="7" name="Text 5"/>
          <p:cNvSpPr/>
          <p:nvPr/>
        </p:nvSpPr>
        <p:spPr>
          <a:xfrm>
            <a:off x="952500" y="3808065"/>
            <a:ext cx="1314450" cy="552450"/>
          </a:xfrm>
          <a:prstGeom prst="rect">
            <a:avLst/>
          </a:prstGeom>
          <a:noFill/>
          <a:ln/>
        </p:spPr>
        <p:txBody>
          <a:bodyPr wrap="square" lIns="25400" tIns="25400" rIns="25400" bIns="25400" rtlCol="0" anchor="t">
            <a:normAutofit/>
          </a:bodyPr>
          <a:lstStyle/>
          <a:p>
            <a:pPr marL="0" indent="0" algn="l">
              <a:buNone/>
            </a:pPr>
            <a:r>
              <a:rPr lang="en-US" sz="1725" b="1">
                <a:solidFill>
                  <a:srgbClr val="005293"/>
                </a:solidFill>
                <a:latin typeface="Arial" pitchFamily="34" charset="0"/>
                <a:ea typeface="Arial" pitchFamily="34" charset="-122"/>
                <a:cs typeface="Arial" pitchFamily="34" charset="-120"/>
              </a:rPr>
              <a:t>pₜ</a:t>
            </a:r>
            <a:r>
              <a:rPr lang="en-US" sz="1438" b="1" baseline="30000">
                <a:solidFill>
                  <a:srgbClr val="005293"/>
                </a:solidFill>
                <a:latin typeface="Arial" pitchFamily="34" charset="0"/>
                <a:ea typeface="Arial" pitchFamily="34" charset="-122"/>
                <a:cs typeface="Arial" pitchFamily="34" charset="-120"/>
              </a:rPr>
              <a:t>base</a:t>
            </a:r>
            <a:endParaRPr lang="en-US" sz="1725"/>
          </a:p>
        </p:txBody>
      </p:sp>
      <p:sp>
        <p:nvSpPr>
          <p:cNvPr id="8" name="Text 6"/>
          <p:cNvSpPr/>
          <p:nvPr/>
        </p:nvSpPr>
        <p:spPr>
          <a:xfrm>
            <a:off x="2381250" y="3808065"/>
            <a:ext cx="5832031" cy="552450"/>
          </a:xfrm>
          <a:prstGeom prst="rect">
            <a:avLst/>
          </a:prstGeom>
          <a:noFill/>
          <a:ln/>
        </p:spPr>
        <p:txBody>
          <a:bodyPr wrap="square" lIns="25400" tIns="25400" rIns="25400" bIns="25400" rtlCol="0" anchor="t">
            <a:normAutofit/>
          </a:bodyPr>
          <a:lstStyle/>
          <a:p>
            <a:pPr marL="0" indent="0" algn="l">
              <a:buNone/>
            </a:pPr>
            <a:r>
              <a:rPr lang="en-US" sz="1725">
                <a:solidFill>
                  <a:srgbClr val="1A1A2E"/>
                </a:solidFill>
                <a:latin typeface="Arial" pitchFamily="34" charset="0"/>
                <a:ea typeface="Arial" pitchFamily="34" charset="-122"/>
                <a:cs typeface="Arial" pitchFamily="34" charset="-120"/>
              </a:rPr>
              <a:t>quarter-hourly intraday zonal price — identical everywhere</a:t>
            </a:r>
            <a:endParaRPr lang="en-US" sz="1725"/>
          </a:p>
        </p:txBody>
      </p:sp>
      <p:sp>
        <p:nvSpPr>
          <p:cNvPr id="9" name="Text 7"/>
          <p:cNvSpPr/>
          <p:nvPr/>
        </p:nvSpPr>
        <p:spPr>
          <a:xfrm>
            <a:off x="9429750" y="3808065"/>
            <a:ext cx="1314450" cy="552450"/>
          </a:xfrm>
          <a:prstGeom prst="rect">
            <a:avLst/>
          </a:prstGeom>
          <a:noFill/>
          <a:ln/>
        </p:spPr>
        <p:txBody>
          <a:bodyPr wrap="square" lIns="25400" tIns="25400" rIns="25400" bIns="25400" rtlCol="0" anchor="t">
            <a:normAutofit/>
          </a:bodyPr>
          <a:lstStyle/>
          <a:p>
            <a:pPr marL="0" indent="0" algn="l">
              <a:buNone/>
            </a:pPr>
            <a:r>
              <a:rPr lang="en-US" sz="1725" b="1">
                <a:solidFill>
                  <a:srgbClr val="005293"/>
                </a:solidFill>
                <a:latin typeface="Arial" pitchFamily="34" charset="0"/>
                <a:ea typeface="Arial" pitchFamily="34" charset="-122"/>
                <a:cs typeface="Arial" pitchFamily="34" charset="-120"/>
              </a:rPr>
              <a:t>α</a:t>
            </a:r>
            <a:endParaRPr lang="en-US" sz="1725"/>
          </a:p>
        </p:txBody>
      </p:sp>
      <p:sp>
        <p:nvSpPr>
          <p:cNvPr id="10" name="Text 8"/>
          <p:cNvSpPr/>
          <p:nvPr/>
        </p:nvSpPr>
        <p:spPr>
          <a:xfrm>
            <a:off x="10858500" y="3808065"/>
            <a:ext cx="6671310" cy="552450"/>
          </a:xfrm>
          <a:prstGeom prst="rect">
            <a:avLst/>
          </a:prstGeom>
          <a:noFill/>
          <a:ln/>
        </p:spPr>
        <p:txBody>
          <a:bodyPr wrap="square" lIns="25400" tIns="25400" rIns="25400" bIns="25400" rtlCol="0" anchor="t">
            <a:normAutofit lnSpcReduction="10000"/>
          </a:bodyPr>
          <a:lstStyle/>
          <a:p>
            <a:pPr marL="0" indent="0" algn="l">
              <a:buNone/>
            </a:pPr>
            <a:r>
              <a:rPr lang="en-US" sz="1725">
                <a:solidFill>
                  <a:srgbClr val="1A1A2E"/>
                </a:solidFill>
                <a:latin typeface="Arial" pitchFamily="34" charset="0"/>
                <a:ea typeface="Arial" pitchFamily="34" charset="-122"/>
                <a:cs typeface="Arial" pitchFamily="34" charset="-120"/>
              </a:rPr>
              <a:t>wedge scale, calibrated so mean |wedge| = </a:t>
            </a:r>
            <a:r>
              <a:rPr lang="en-US" sz="1725" b="1">
                <a:solidFill>
                  <a:srgbClr val="1A1A2E"/>
                </a:solidFill>
                <a:latin typeface="Arial" pitchFamily="34" charset="0"/>
                <a:ea typeface="Arial" pitchFamily="34" charset="-122"/>
                <a:cs typeface="Arial" pitchFamily="34" charset="-120"/>
              </a:rPr>
              <a:t>100 €/MWh </a:t>
            </a:r>
            <a:r>
              <a:rPr lang="en-US" sz="1725">
                <a:solidFill>
                  <a:srgbClr val="1A1A2E"/>
                </a:solidFill>
                <a:latin typeface="Arial" pitchFamily="34" charset="0"/>
                <a:ea typeface="Arial" pitchFamily="34" charset="-122"/>
                <a:cs typeface="Arial" pitchFamily="34" charset="-120"/>
              </a:rPr>
              <a:t>(≈ BNetzA cost / energy)</a:t>
            </a:r>
            <a:endParaRPr lang="en-US" sz="1725"/>
          </a:p>
        </p:txBody>
      </p:sp>
      <p:sp>
        <p:nvSpPr>
          <p:cNvPr id="11" name="Text 9"/>
          <p:cNvSpPr/>
          <p:nvPr/>
        </p:nvSpPr>
        <p:spPr>
          <a:xfrm>
            <a:off x="952500" y="4474815"/>
            <a:ext cx="1314450" cy="552450"/>
          </a:xfrm>
          <a:prstGeom prst="rect">
            <a:avLst/>
          </a:prstGeom>
          <a:noFill/>
          <a:ln/>
        </p:spPr>
        <p:txBody>
          <a:bodyPr wrap="square" lIns="25400" tIns="25400" rIns="25400" bIns="25400" rtlCol="0" anchor="t">
            <a:normAutofit/>
          </a:bodyPr>
          <a:lstStyle/>
          <a:p>
            <a:pPr marL="0" indent="0" algn="l">
              <a:buNone/>
            </a:pPr>
            <a:r>
              <a:rPr lang="en-US" sz="1725" b="1">
                <a:solidFill>
                  <a:srgbClr val="005293"/>
                </a:solidFill>
                <a:latin typeface="Arial" pitchFamily="34" charset="0"/>
                <a:ea typeface="Arial" pitchFamily="34" charset="-122"/>
                <a:cs typeface="Arial" pitchFamily="34" charset="-120"/>
              </a:rPr>
              <a:t>Gₜ</a:t>
            </a:r>
            <a:endParaRPr lang="en-US" sz="1725"/>
          </a:p>
        </p:txBody>
      </p:sp>
      <p:sp>
        <p:nvSpPr>
          <p:cNvPr id="12" name="Text 10"/>
          <p:cNvSpPr/>
          <p:nvPr/>
        </p:nvSpPr>
        <p:spPr>
          <a:xfrm>
            <a:off x="2381250" y="4474815"/>
            <a:ext cx="3273725" cy="552450"/>
          </a:xfrm>
          <a:prstGeom prst="rect">
            <a:avLst/>
          </a:prstGeom>
          <a:noFill/>
          <a:ln/>
        </p:spPr>
        <p:txBody>
          <a:bodyPr wrap="square" lIns="25400" tIns="25400" rIns="25400" bIns="25400" rtlCol="0" anchor="t">
            <a:normAutofit/>
          </a:bodyPr>
          <a:lstStyle/>
          <a:p>
            <a:pPr marL="0" indent="0" algn="l">
              <a:buNone/>
            </a:pPr>
            <a:r>
              <a:rPr lang="en-US" sz="1725">
                <a:solidFill>
                  <a:srgbClr val="1A1A2E"/>
                </a:solidFill>
                <a:latin typeface="Arial" pitchFamily="34" charset="0"/>
                <a:ea typeface="Arial" pitchFamily="34" charset="-122"/>
                <a:cs typeface="Arial" pitchFamily="34" charset="-120"/>
              </a:rPr>
              <a:t>redispatch events active in step t</a:t>
            </a:r>
            <a:endParaRPr lang="en-US" sz="1725"/>
          </a:p>
        </p:txBody>
      </p:sp>
      <p:sp>
        <p:nvSpPr>
          <p:cNvPr id="13" name="Text 11"/>
          <p:cNvSpPr/>
          <p:nvPr/>
        </p:nvSpPr>
        <p:spPr>
          <a:xfrm>
            <a:off x="9429750" y="4474815"/>
            <a:ext cx="1314450" cy="552450"/>
          </a:xfrm>
          <a:prstGeom prst="rect">
            <a:avLst/>
          </a:prstGeom>
          <a:noFill/>
          <a:ln/>
        </p:spPr>
        <p:txBody>
          <a:bodyPr wrap="square" lIns="25400" tIns="25400" rIns="25400" bIns="25400" rtlCol="0" anchor="t">
            <a:normAutofit/>
          </a:bodyPr>
          <a:lstStyle/>
          <a:p>
            <a:pPr marL="0" indent="0" algn="l">
              <a:buNone/>
            </a:pPr>
            <a:r>
              <a:rPr lang="en-US" sz="1725" b="1">
                <a:solidFill>
                  <a:srgbClr val="005293"/>
                </a:solidFill>
                <a:latin typeface="Arial" pitchFamily="34" charset="0"/>
                <a:ea typeface="Arial" pitchFamily="34" charset="-122"/>
                <a:cs typeface="Arial" pitchFamily="34" charset="-120"/>
              </a:rPr>
              <a:t>Kₕ(·)</a:t>
            </a:r>
            <a:endParaRPr lang="en-US" sz="1725"/>
          </a:p>
        </p:txBody>
      </p:sp>
      <p:sp>
        <p:nvSpPr>
          <p:cNvPr id="14" name="Text 12"/>
          <p:cNvSpPr/>
          <p:nvPr/>
        </p:nvSpPr>
        <p:spPr>
          <a:xfrm>
            <a:off x="10858500" y="4474815"/>
            <a:ext cx="6671310" cy="552450"/>
          </a:xfrm>
          <a:prstGeom prst="rect">
            <a:avLst/>
          </a:prstGeom>
          <a:noFill/>
          <a:ln/>
        </p:spPr>
        <p:txBody>
          <a:bodyPr wrap="square" lIns="25400" tIns="25400" rIns="25400" bIns="25400" rtlCol="0" anchor="t">
            <a:normAutofit lnSpcReduction="10000"/>
          </a:bodyPr>
          <a:lstStyle/>
          <a:p>
            <a:pPr marL="0" indent="0" algn="l">
              <a:buNone/>
            </a:pPr>
            <a:r>
              <a:rPr lang="en-US" sz="1725">
                <a:solidFill>
                  <a:srgbClr val="1A1A2E"/>
                </a:solidFill>
                <a:latin typeface="Arial" pitchFamily="34" charset="0"/>
                <a:ea typeface="Arial" pitchFamily="34" charset="-122"/>
                <a:cs typeface="Arial" pitchFamily="34" charset="-120"/>
              </a:rPr>
              <a:t>spatial kernel — decays influence with </a:t>
            </a:r>
            <a:r>
              <a:rPr lang="en-US" sz="1725" b="1">
                <a:solidFill>
                  <a:srgbClr val="1A1A2E"/>
                </a:solidFill>
                <a:latin typeface="Arial" pitchFamily="34" charset="0"/>
                <a:ea typeface="Arial" pitchFamily="34" charset="-122"/>
                <a:cs typeface="Arial" pitchFamily="34" charset="-120"/>
              </a:rPr>
              <a:t>electrical distance </a:t>
            </a:r>
            <a:r>
              <a:rPr lang="en-US" sz="1725">
                <a:solidFill>
                  <a:srgbClr val="1A1A2E"/>
                </a:solidFill>
                <a:latin typeface="Arial" pitchFamily="34" charset="0"/>
                <a:ea typeface="Arial" pitchFamily="34" charset="-122"/>
                <a:cs typeface="Arial" pitchFamily="34" charset="-120"/>
              </a:rPr>
              <a:t>(next slide)</a:t>
            </a:r>
            <a:endParaRPr lang="en-US" sz="1725"/>
          </a:p>
        </p:txBody>
      </p:sp>
      <p:sp>
        <p:nvSpPr>
          <p:cNvPr id="15" name="Text 13"/>
          <p:cNvSpPr/>
          <p:nvPr/>
        </p:nvSpPr>
        <p:spPr>
          <a:xfrm>
            <a:off x="952500" y="5141565"/>
            <a:ext cx="1314450" cy="552450"/>
          </a:xfrm>
          <a:prstGeom prst="rect">
            <a:avLst/>
          </a:prstGeom>
          <a:noFill/>
          <a:ln/>
        </p:spPr>
        <p:txBody>
          <a:bodyPr wrap="square" lIns="25400" tIns="25400" rIns="25400" bIns="25400" rtlCol="0" anchor="t">
            <a:normAutofit/>
          </a:bodyPr>
          <a:lstStyle/>
          <a:p>
            <a:pPr marL="0" indent="0" algn="l">
              <a:buNone/>
            </a:pPr>
            <a:r>
              <a:rPr lang="en-US" sz="1725" b="1">
                <a:solidFill>
                  <a:srgbClr val="005293"/>
                </a:solidFill>
                <a:latin typeface="Arial" pitchFamily="34" charset="0"/>
                <a:ea typeface="Arial" pitchFamily="34" charset="-122"/>
                <a:cs typeface="Arial" pitchFamily="34" charset="-120"/>
              </a:rPr>
              <a:t>sₖ</a:t>
            </a:r>
            <a:endParaRPr lang="en-US" sz="1725"/>
          </a:p>
        </p:txBody>
      </p:sp>
      <p:sp>
        <p:nvSpPr>
          <p:cNvPr id="16" name="Text 14"/>
          <p:cNvSpPr/>
          <p:nvPr/>
        </p:nvSpPr>
        <p:spPr>
          <a:xfrm>
            <a:off x="2381250" y="5141565"/>
            <a:ext cx="6671310" cy="552450"/>
          </a:xfrm>
          <a:prstGeom prst="rect">
            <a:avLst/>
          </a:prstGeom>
          <a:noFill/>
          <a:ln/>
        </p:spPr>
        <p:txBody>
          <a:bodyPr wrap="square" lIns="25400" tIns="25400" rIns="25400" bIns="25400" rtlCol="0" anchor="t">
            <a:normAutofit/>
          </a:bodyPr>
          <a:lstStyle/>
          <a:p>
            <a:pPr marL="0" indent="0" algn="l">
              <a:buNone/>
            </a:pPr>
            <a:r>
              <a:rPr lang="en-US" sz="1725">
                <a:solidFill>
                  <a:srgbClr val="1A1A2E"/>
                </a:solidFill>
                <a:latin typeface="Arial" pitchFamily="34" charset="0"/>
                <a:ea typeface="Arial" pitchFamily="34" charset="-122"/>
                <a:cs typeface="Arial" pitchFamily="34" charset="-120"/>
              </a:rPr>
              <a:t>sign: +1 feed-in increased (shortage) · −1 feed-in reduced (surplus)</a:t>
            </a:r>
            <a:endParaRPr lang="en-US" sz="1725"/>
          </a:p>
        </p:txBody>
      </p:sp>
      <p:sp>
        <p:nvSpPr>
          <p:cNvPr id="17" name="Text 15"/>
          <p:cNvSpPr/>
          <p:nvPr/>
        </p:nvSpPr>
        <p:spPr>
          <a:xfrm>
            <a:off x="9429750" y="5141565"/>
            <a:ext cx="1314450" cy="552450"/>
          </a:xfrm>
          <a:prstGeom prst="rect">
            <a:avLst/>
          </a:prstGeom>
          <a:noFill/>
          <a:ln/>
        </p:spPr>
        <p:txBody>
          <a:bodyPr wrap="square" lIns="25400" tIns="25400" rIns="25400" bIns="25400" rtlCol="0" anchor="t">
            <a:normAutofit/>
          </a:bodyPr>
          <a:lstStyle/>
          <a:p>
            <a:pPr marL="0" indent="0" algn="l">
              <a:buNone/>
            </a:pPr>
            <a:r>
              <a:rPr lang="en-US" sz="1725" b="1">
                <a:solidFill>
                  <a:srgbClr val="005293"/>
                </a:solidFill>
                <a:latin typeface="Arial" pitchFamily="34" charset="0"/>
                <a:ea typeface="Arial" pitchFamily="34" charset="-122"/>
                <a:cs typeface="Arial" pitchFamily="34" charset="-120"/>
              </a:rPr>
              <a:t>mₖ</a:t>
            </a:r>
            <a:endParaRPr lang="en-US" sz="1725"/>
          </a:p>
        </p:txBody>
      </p:sp>
      <p:sp>
        <p:nvSpPr>
          <p:cNvPr id="18" name="Text 16"/>
          <p:cNvSpPr/>
          <p:nvPr/>
        </p:nvSpPr>
        <p:spPr>
          <a:xfrm>
            <a:off x="10858500" y="5141565"/>
            <a:ext cx="6095388" cy="552450"/>
          </a:xfrm>
          <a:prstGeom prst="rect">
            <a:avLst/>
          </a:prstGeom>
          <a:noFill/>
          <a:ln/>
        </p:spPr>
        <p:txBody>
          <a:bodyPr wrap="square" lIns="25400" tIns="25400" rIns="25400" bIns="25400" rtlCol="0" anchor="t">
            <a:normAutofit/>
          </a:bodyPr>
          <a:lstStyle/>
          <a:p>
            <a:pPr marL="0" indent="0" algn="l">
              <a:buNone/>
            </a:pPr>
            <a:r>
              <a:rPr lang="en-US" sz="1725">
                <a:solidFill>
                  <a:srgbClr val="1A1A2E"/>
                </a:solidFill>
                <a:latin typeface="Arial" pitchFamily="34" charset="0"/>
                <a:ea typeface="Arial" pitchFamily="34" charset="-122"/>
                <a:cs typeface="Arial" pitchFamily="34" charset="-120"/>
              </a:rPr>
              <a:t>mean power of the event [MW] — volume-weights the wedge</a:t>
            </a:r>
            <a:endParaRPr lang="en-US" sz="1725"/>
          </a:p>
        </p:txBody>
      </p:sp>
      <p:sp>
        <p:nvSpPr>
          <p:cNvPr id="19" name="Shape 17"/>
          <p:cNvSpPr/>
          <p:nvPr/>
        </p:nvSpPr>
        <p:spPr>
          <a:xfrm>
            <a:off x="952500" y="5998815"/>
            <a:ext cx="5257800" cy="1043880"/>
          </a:xfrm>
          <a:prstGeom prst="rect">
            <a:avLst/>
          </a:prstGeom>
          <a:solidFill>
            <a:srgbClr val="F8FAFC"/>
          </a:solidFill>
          <a:ln w="19050">
            <a:solidFill>
              <a:srgbClr val="E2E8F0"/>
            </a:solidFill>
            <a:prstDash val="solid"/>
          </a:ln>
        </p:spPr>
        <p:txBody>
          <a:bodyPr/>
          <a:lstStyle/>
          <a:p>
            <a:endParaRPr lang="en-GB"/>
          </a:p>
        </p:txBody>
      </p:sp>
      <p:sp>
        <p:nvSpPr>
          <p:cNvPr id="20" name="Text 18"/>
          <p:cNvSpPr/>
          <p:nvPr/>
        </p:nvSpPr>
        <p:spPr>
          <a:xfrm>
            <a:off x="1257300" y="6227415"/>
            <a:ext cx="4805934" cy="6247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b="1">
                <a:solidFill>
                  <a:srgbClr val="1A1A2E"/>
                </a:solidFill>
                <a:latin typeface="Arial" pitchFamily="34" charset="0"/>
                <a:ea typeface="Arial" pitchFamily="34" charset="-122"/>
                <a:cs typeface="Arial" pitchFamily="34" charset="-120"/>
              </a:rPr>
              <a:t>Additive wedge </a:t>
            </a:r>
            <a:r>
              <a:rPr lang="en-US" sz="1650">
                <a:solidFill>
                  <a:srgbClr val="4A4A6A"/>
                </a:solidFill>
                <a:highlight>
                  <a:srgbClr val="F8FAFC"/>
                </a:highlight>
                <a:latin typeface="Arial" pitchFamily="34" charset="0"/>
                <a:ea typeface="Arial" pitchFamily="34" charset="-122"/>
                <a:cs typeface="Arial" pitchFamily="34" charset="-120"/>
              </a:rPr>
              <a:t>— a flat €/MWh shift, symmetric across the day, not biased toward peak hours.</a:t>
            </a:r>
            <a:endParaRPr lang="en-US" sz="1650"/>
          </a:p>
        </p:txBody>
      </p:sp>
      <p:sp>
        <p:nvSpPr>
          <p:cNvPr id="21" name="Shape 19"/>
          <p:cNvSpPr/>
          <p:nvPr/>
        </p:nvSpPr>
        <p:spPr>
          <a:xfrm>
            <a:off x="6515100" y="5998815"/>
            <a:ext cx="5257800" cy="1043880"/>
          </a:xfrm>
          <a:prstGeom prst="rect">
            <a:avLst/>
          </a:prstGeom>
          <a:solidFill>
            <a:srgbClr val="F8FAFC"/>
          </a:solidFill>
          <a:ln w="19050">
            <a:solidFill>
              <a:srgbClr val="E2E8F0"/>
            </a:solidFill>
            <a:prstDash val="solid"/>
          </a:ln>
        </p:spPr>
        <p:txBody>
          <a:bodyPr/>
          <a:lstStyle/>
          <a:p>
            <a:endParaRPr lang="en-GB"/>
          </a:p>
        </p:txBody>
      </p:sp>
      <p:sp>
        <p:nvSpPr>
          <p:cNvPr id="22" name="Text 20"/>
          <p:cNvSpPr/>
          <p:nvPr/>
        </p:nvSpPr>
        <p:spPr>
          <a:xfrm>
            <a:off x="6819900" y="6227415"/>
            <a:ext cx="4805934" cy="6247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b="1">
                <a:solidFill>
                  <a:srgbClr val="1A1A2E"/>
                </a:solidFill>
                <a:latin typeface="Arial" pitchFamily="34" charset="0"/>
                <a:ea typeface="Arial" pitchFamily="34" charset="-122"/>
                <a:cs typeface="Arial" pitchFamily="34" charset="-120"/>
              </a:rPr>
              <a:t>Clipped at ±500 €/MWh </a:t>
            </a:r>
            <a:r>
              <a:rPr lang="en-US" sz="1650">
                <a:solidFill>
                  <a:srgbClr val="4A4A6A"/>
                </a:solidFill>
                <a:highlight>
                  <a:srgbClr val="F8FAFC"/>
                </a:highlight>
                <a:latin typeface="Arial" pitchFamily="34" charset="0"/>
                <a:ea typeface="Arial" pitchFamily="34" charset="-122"/>
                <a:cs typeface="Arial" pitchFamily="34" charset="-120"/>
              </a:rPr>
              <a:t>— no implausible premia next to GW-scale redispatch hubs.</a:t>
            </a:r>
            <a:endParaRPr lang="en-US" sz="1650"/>
          </a:p>
        </p:txBody>
      </p:sp>
      <p:sp>
        <p:nvSpPr>
          <p:cNvPr id="23" name="Shape 21"/>
          <p:cNvSpPr/>
          <p:nvPr/>
        </p:nvSpPr>
        <p:spPr>
          <a:xfrm>
            <a:off x="12077700" y="5998815"/>
            <a:ext cx="5257800" cy="1043880"/>
          </a:xfrm>
          <a:prstGeom prst="rect">
            <a:avLst/>
          </a:prstGeom>
          <a:solidFill>
            <a:srgbClr val="F8FAFC"/>
          </a:solidFill>
          <a:ln w="19050">
            <a:solidFill>
              <a:srgbClr val="E2E8F0"/>
            </a:solidFill>
            <a:prstDash val="solid"/>
          </a:ln>
        </p:spPr>
        <p:txBody>
          <a:bodyPr/>
          <a:lstStyle/>
          <a:p>
            <a:endParaRPr lang="en-GB"/>
          </a:p>
        </p:txBody>
      </p:sp>
      <p:sp>
        <p:nvSpPr>
          <p:cNvPr id="24" name="Text 22"/>
          <p:cNvSpPr/>
          <p:nvPr/>
        </p:nvSpPr>
        <p:spPr>
          <a:xfrm>
            <a:off x="12382500" y="6227415"/>
            <a:ext cx="4805934" cy="6247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b="1">
                <a:solidFill>
                  <a:srgbClr val="1A1A2E"/>
                </a:solidFill>
                <a:latin typeface="Arial" pitchFamily="34" charset="0"/>
                <a:ea typeface="Arial" pitchFamily="34" charset="-122"/>
                <a:cs typeface="Arial" pitchFamily="34" charset="-120"/>
              </a:rPr>
              <a:t>Signs cancel </a:t>
            </a:r>
            <a:r>
              <a:rPr lang="en-US" sz="1650">
                <a:solidFill>
                  <a:srgbClr val="4A4A6A"/>
                </a:solidFill>
                <a:highlight>
                  <a:srgbClr val="F8FAFC"/>
                </a:highlight>
                <a:latin typeface="Arial" pitchFamily="34" charset="0"/>
                <a:ea typeface="Arial" pitchFamily="34" charset="-122"/>
                <a:cs typeface="Arial" pitchFamily="34" charset="-120"/>
              </a:rPr>
              <a:t>— opposing up/down events at nearby sites offset within the sum.</a:t>
            </a:r>
            <a:endParaRPr lang="en-US" sz="1650"/>
          </a:p>
        </p:txBody>
      </p:sp>
      <p:sp>
        <p:nvSpPr>
          <p:cNvPr id="25" name="Text 23"/>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6" name="Text 24"/>
          <p:cNvSpPr/>
          <p:nvPr/>
        </p:nvSpPr>
        <p:spPr>
          <a:xfrm>
            <a:off x="17245310" y="9715500"/>
            <a:ext cx="166390"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8</a:t>
            </a:r>
            <a:endParaRPr lang="en-US" sz="1275"/>
          </a:p>
        </p:txBody>
      </p:sp>
      <p:sp>
        <p:nvSpPr>
          <p:cNvPr id="27" name="Rectangle 26">
            <a:extLst>
              <a:ext uri="{FF2B5EF4-FFF2-40B4-BE49-F238E27FC236}">
                <a16:creationId xmlns:a16="http://schemas.microsoft.com/office/drawing/2014/main" id="{095F089E-7A39-E614-DFFC-CB96B2A36EBC}"/>
              </a:ext>
            </a:extLst>
          </p:cNvPr>
          <p:cNvSpPr/>
          <p:nvPr/>
        </p:nvSpPr>
        <p:spPr>
          <a:xfrm>
            <a:off x="3365222" y="7642312"/>
            <a:ext cx="5123823" cy="11289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Do I actually clip -&gt; check. Possibly rethink  this equation</a:t>
            </a:r>
            <a:endParaRPr lang="en-US"/>
          </a:p>
        </p:txBody>
      </p:sp>
    </p:spTree>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2795364"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03 · METHODOLOGY</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63761"/>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3450" b="1">
                <a:solidFill>
                  <a:srgbClr val="1A1A2E"/>
                </a:solidFill>
                <a:latin typeface="Arial" pitchFamily="34" charset="0"/>
                <a:ea typeface="Arial" pitchFamily="34" charset="-122"/>
                <a:cs typeface="Arial" pitchFamily="34" charset="-120"/>
              </a:rPr>
              <a:t>Distance is electrical, not geographical</a:t>
            </a:r>
            <a:endParaRPr lang="en-US" sz="3450"/>
          </a:p>
        </p:txBody>
      </p:sp>
      <p:sp>
        <p:nvSpPr>
          <p:cNvPr id="5" name="Shape 3"/>
          <p:cNvSpPr/>
          <p:nvPr/>
        </p:nvSpPr>
        <p:spPr>
          <a:xfrm>
            <a:off x="952500" y="2068711"/>
            <a:ext cx="7962900" cy="1087636"/>
          </a:xfrm>
          <a:prstGeom prst="rect">
            <a:avLst/>
          </a:prstGeom>
          <a:solidFill>
            <a:srgbClr val="0F2A43"/>
          </a:solidFill>
          <a:ln/>
        </p:spPr>
        <p:txBody>
          <a:bodyPr/>
          <a:lstStyle/>
          <a:p>
            <a:endParaRPr lang="en-GB"/>
          </a:p>
        </p:txBody>
      </p:sp>
      <p:sp>
        <p:nvSpPr>
          <p:cNvPr id="6" name="Text 4"/>
          <p:cNvSpPr/>
          <p:nvPr/>
        </p:nvSpPr>
        <p:spPr>
          <a:xfrm>
            <a:off x="1371600" y="2392561"/>
            <a:ext cx="7837170" cy="478036"/>
          </a:xfrm>
          <a:prstGeom prst="rect">
            <a:avLst/>
          </a:prstGeom>
          <a:noFill/>
          <a:ln/>
        </p:spPr>
        <p:txBody>
          <a:bodyPr wrap="square" lIns="25400" tIns="25400" rIns="25400" bIns="25400" rtlCol="0" anchor="t">
            <a:normAutofit/>
          </a:bodyPr>
          <a:lstStyle/>
          <a:p>
            <a:pPr marL="0" indent="0" algn="l">
              <a:buNone/>
            </a:pPr>
            <a:r>
              <a:rPr lang="en-US" sz="2700" i="1" dirty="0" err="1">
                <a:solidFill>
                  <a:srgbClr val="FFFFFF"/>
                </a:solidFill>
                <a:latin typeface="Georgia" pitchFamily="34" charset="0"/>
                <a:ea typeface="Georgia" pitchFamily="34" charset="-122"/>
                <a:cs typeface="Georgia" pitchFamily="34" charset="-120"/>
              </a:rPr>
              <a:t>d</a:t>
            </a:r>
            <a:r>
              <a:rPr lang="en-US" sz="1650" i="1" baseline="-40000" dirty="0" err="1">
                <a:solidFill>
                  <a:srgbClr val="FFFFFF"/>
                </a:solidFill>
                <a:latin typeface="Georgia" pitchFamily="34" charset="0"/>
                <a:ea typeface="Georgia" pitchFamily="34" charset="-122"/>
                <a:cs typeface="Georgia" pitchFamily="34" charset="-120"/>
              </a:rPr>
              <a:t>elec</a:t>
            </a:r>
            <a:r>
              <a:rPr lang="en-US" sz="2700" i="1" dirty="0">
                <a:solidFill>
                  <a:srgbClr val="FFFFFF"/>
                </a:solidFill>
                <a:latin typeface="Georgia" pitchFamily="34" charset="0"/>
                <a:ea typeface="Georgia" pitchFamily="34" charset="-122"/>
                <a:cs typeface="Georgia" pitchFamily="34" charset="-120"/>
              </a:rPr>
              <a:t>(n, g) = ‖ </a:t>
            </a:r>
            <a:r>
              <a:rPr lang="en-US" sz="2700" i="1" dirty="0" err="1">
                <a:solidFill>
                  <a:srgbClr val="FFFFFF"/>
                </a:solidFill>
                <a:latin typeface="Georgia" pitchFamily="34" charset="0"/>
                <a:ea typeface="Georgia" pitchFamily="34" charset="-122"/>
                <a:cs typeface="Georgia" pitchFamily="34" charset="-120"/>
              </a:rPr>
              <a:t>PTDF</a:t>
            </a:r>
            <a:r>
              <a:rPr lang="en-US" sz="1650" i="1" baseline="-40000" dirty="0" err="1">
                <a:solidFill>
                  <a:srgbClr val="FFFFFF"/>
                </a:solidFill>
                <a:latin typeface="Georgia" pitchFamily="34" charset="0"/>
                <a:ea typeface="Georgia" pitchFamily="34" charset="-122"/>
                <a:cs typeface="Georgia" pitchFamily="34" charset="-120"/>
              </a:rPr>
              <a:t>:,n</a:t>
            </a:r>
            <a:r>
              <a:rPr lang="en-US" sz="1650" i="1" baseline="-40000" dirty="0">
                <a:solidFill>
                  <a:srgbClr val="FFFFFF"/>
                </a:solidFill>
                <a:latin typeface="Georgia" pitchFamily="34" charset="0"/>
                <a:ea typeface="Georgia" pitchFamily="34" charset="-122"/>
                <a:cs typeface="Georgia" pitchFamily="34" charset="-120"/>
              </a:rPr>
              <a:t> </a:t>
            </a:r>
            <a:r>
              <a:rPr lang="en-US" sz="2700" i="1" dirty="0">
                <a:solidFill>
                  <a:srgbClr val="FFFFFF"/>
                </a:solidFill>
                <a:latin typeface="Georgia" pitchFamily="34" charset="0"/>
                <a:ea typeface="Georgia" pitchFamily="34" charset="-122"/>
                <a:cs typeface="Georgia" pitchFamily="34" charset="-120"/>
              </a:rPr>
              <a:t>− </a:t>
            </a:r>
            <a:r>
              <a:rPr lang="en-US" sz="2700" i="1" dirty="0" err="1">
                <a:solidFill>
                  <a:srgbClr val="FFFFFF"/>
                </a:solidFill>
                <a:latin typeface="Georgia" pitchFamily="34" charset="0"/>
                <a:ea typeface="Georgia" pitchFamily="34" charset="-122"/>
                <a:cs typeface="Georgia" pitchFamily="34" charset="-120"/>
              </a:rPr>
              <a:t>PTDF</a:t>
            </a:r>
            <a:r>
              <a:rPr lang="en-US" sz="1650" i="1" baseline="-40000" dirty="0" err="1">
                <a:solidFill>
                  <a:srgbClr val="FFFFFF"/>
                </a:solidFill>
                <a:latin typeface="Georgia" pitchFamily="34" charset="0"/>
                <a:ea typeface="Georgia" pitchFamily="34" charset="-122"/>
                <a:cs typeface="Georgia" pitchFamily="34" charset="-120"/>
              </a:rPr>
              <a:t>:,g</a:t>
            </a:r>
            <a:r>
              <a:rPr lang="en-US" sz="1650" i="1" baseline="-40000" dirty="0">
                <a:solidFill>
                  <a:srgbClr val="FFFFFF"/>
                </a:solidFill>
                <a:latin typeface="Georgia" pitchFamily="34" charset="0"/>
                <a:ea typeface="Georgia" pitchFamily="34" charset="-122"/>
                <a:cs typeface="Georgia" pitchFamily="34" charset="-120"/>
              </a:rPr>
              <a:t> </a:t>
            </a:r>
            <a:r>
              <a:rPr lang="en-US" sz="2700" i="1" dirty="0">
                <a:solidFill>
                  <a:srgbClr val="FFFFFF"/>
                </a:solidFill>
                <a:latin typeface="Georgia" pitchFamily="34" charset="0"/>
                <a:ea typeface="Georgia" pitchFamily="34" charset="-122"/>
                <a:cs typeface="Georgia" pitchFamily="34" charset="-120"/>
              </a:rPr>
              <a:t>‖</a:t>
            </a:r>
            <a:r>
              <a:rPr lang="en-US" sz="1650" i="1" baseline="-40000" dirty="0">
                <a:solidFill>
                  <a:srgbClr val="FFFFFF"/>
                </a:solidFill>
                <a:latin typeface="Georgia" pitchFamily="34" charset="0"/>
                <a:ea typeface="Georgia" pitchFamily="34" charset="-122"/>
                <a:cs typeface="Georgia" pitchFamily="34" charset="-120"/>
              </a:rPr>
              <a:t>2</a:t>
            </a:r>
            <a:endParaRPr lang="en-US" sz="2700" dirty="0"/>
          </a:p>
        </p:txBody>
      </p:sp>
      <p:sp>
        <p:nvSpPr>
          <p:cNvPr id="7" name="Text 5"/>
          <p:cNvSpPr/>
          <p:nvPr/>
        </p:nvSpPr>
        <p:spPr>
          <a:xfrm>
            <a:off x="952500" y="3403997"/>
            <a:ext cx="8201787" cy="1145381"/>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875" dirty="0">
                <a:solidFill>
                  <a:srgbClr val="1A1A2E"/>
                </a:solidFill>
                <a:latin typeface="Arial" pitchFamily="34" charset="0"/>
                <a:ea typeface="Arial" pitchFamily="34" charset="-122"/>
                <a:cs typeface="Arial" pitchFamily="34" charset="-120"/>
              </a:rPr>
              <a:t>DC power-flow model of the 220/380 kV grid in </a:t>
            </a:r>
            <a:r>
              <a:rPr lang="en-US" sz="1875" b="1" dirty="0" err="1">
                <a:solidFill>
                  <a:srgbClr val="1A1A2E"/>
                </a:solidFill>
                <a:latin typeface="Arial" pitchFamily="34" charset="0"/>
                <a:ea typeface="Arial" pitchFamily="34" charset="-122"/>
                <a:cs typeface="Arial" pitchFamily="34" charset="-120"/>
              </a:rPr>
              <a:t>PyPSA</a:t>
            </a:r>
            <a:r>
              <a:rPr lang="en-US" sz="1875" b="1" dirty="0">
                <a:solidFill>
                  <a:srgbClr val="1A1A2E"/>
                </a:solidFill>
                <a:latin typeface="Arial" pitchFamily="34" charset="0"/>
                <a:ea typeface="Arial" pitchFamily="34" charset="-122"/>
                <a:cs typeface="Arial" pitchFamily="34" charset="-120"/>
              </a:rPr>
              <a:t> </a:t>
            </a:r>
            <a:r>
              <a:rPr lang="en-US" sz="1875" dirty="0">
                <a:solidFill>
                  <a:srgbClr val="1A1A2E"/>
                </a:solidFill>
                <a:latin typeface="Arial" pitchFamily="34" charset="0"/>
                <a:ea typeface="Arial" pitchFamily="34" charset="-122"/>
                <a:cs typeface="Arial" pitchFamily="34" charset="-120"/>
              </a:rPr>
              <a:t>→ Power Transfer Distribution Factor matrix. Each column: how one bus’s injection loads every line.</a:t>
            </a:r>
            <a:endParaRPr lang="en-US" sz="1875" dirty="0"/>
          </a:p>
        </p:txBody>
      </p:sp>
      <p:sp>
        <p:nvSpPr>
          <p:cNvPr id="8" name="Text 6"/>
          <p:cNvSpPr/>
          <p:nvPr/>
        </p:nvSpPr>
        <p:spPr>
          <a:xfrm>
            <a:off x="952500" y="4758928"/>
            <a:ext cx="8201787" cy="1145381"/>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75" b="1">
                <a:solidFill>
                  <a:srgbClr val="1A1A2E"/>
                </a:solidFill>
                <a:latin typeface="Arial" pitchFamily="34" charset="0"/>
                <a:ea typeface="Arial" pitchFamily="34" charset="-122"/>
                <a:cs typeface="Arial" pitchFamily="34" charset="-120"/>
              </a:rPr>
              <a:t>Identical columns = perfect substitutes: </a:t>
            </a:r>
            <a:r>
              <a:rPr lang="en-US" sz="1875">
                <a:solidFill>
                  <a:srgbClr val="1A1A2E"/>
                </a:solidFill>
                <a:latin typeface="Arial" pitchFamily="34" charset="0"/>
                <a:ea typeface="Arial" pitchFamily="34" charset="-122"/>
                <a:cs typeface="Arial" pitchFamily="34" charset="-120"/>
              </a:rPr>
              <a:t>a battery at bus n replaces a redispatch action at bus g one-for-one. The norm measures exactly how far a site is from being such a substitute.</a:t>
            </a:r>
            <a:endParaRPr lang="en-US" sz="1875"/>
          </a:p>
        </p:txBody>
      </p:sp>
      <p:sp>
        <p:nvSpPr>
          <p:cNvPr id="9" name="Shape 7"/>
          <p:cNvSpPr/>
          <p:nvPr/>
        </p:nvSpPr>
        <p:spPr>
          <a:xfrm>
            <a:off x="9372600" y="2068711"/>
            <a:ext cx="7962900" cy="2400300"/>
          </a:xfrm>
          <a:prstGeom prst="rect">
            <a:avLst/>
          </a:prstGeom>
          <a:solidFill>
            <a:srgbClr val="F8FAFC"/>
          </a:solidFill>
          <a:ln w="19050">
            <a:solidFill>
              <a:srgbClr val="E2E8F0"/>
            </a:solidFill>
            <a:prstDash val="solid"/>
          </a:ln>
        </p:spPr>
        <p:txBody>
          <a:bodyPr/>
          <a:lstStyle/>
          <a:p>
            <a:endParaRPr lang="en-GB"/>
          </a:p>
        </p:txBody>
      </p:sp>
      <p:sp>
        <p:nvSpPr>
          <p:cNvPr id="10" name="Text 8"/>
          <p:cNvSpPr/>
          <p:nvPr/>
        </p:nvSpPr>
        <p:spPr>
          <a:xfrm>
            <a:off x="9753600" y="2373511"/>
            <a:ext cx="792099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b="1" kern="0" spc="150">
                <a:solidFill>
                  <a:srgbClr val="005293"/>
                </a:solidFill>
                <a:latin typeface="Arial" pitchFamily="34" charset="0"/>
                <a:ea typeface="Arial" pitchFamily="34" charset="-122"/>
                <a:cs typeface="Arial" pitchFamily="34" charset="-120"/>
              </a:rPr>
              <a:t>SPECIFICATION</a:t>
            </a:r>
            <a:endParaRPr lang="en-US" sz="1575"/>
          </a:p>
        </p:txBody>
      </p:sp>
      <p:sp>
        <p:nvSpPr>
          <p:cNvPr id="11" name="Text 9"/>
          <p:cNvSpPr/>
          <p:nvPr/>
        </p:nvSpPr>
        <p:spPr>
          <a:xfrm>
            <a:off x="9753600" y="2735461"/>
            <a:ext cx="1420192" cy="295275"/>
          </a:xfrm>
          <a:prstGeom prst="rect">
            <a:avLst/>
          </a:prstGeom>
          <a:noFill/>
          <a:ln/>
        </p:spPr>
        <p:txBody>
          <a:bodyPr wrap="square" lIns="25400" tIns="25400" rIns="25400" bIns="25400" rtlCol="0" anchor="t">
            <a:normAutofit lnSpcReduction="10000"/>
          </a:bodyPr>
          <a:lstStyle/>
          <a:p>
            <a:pPr marL="0" indent="0" algn="l">
              <a:buNone/>
            </a:pPr>
            <a:r>
              <a:rPr lang="en-US" sz="1725">
                <a:solidFill>
                  <a:srgbClr val="1A1A2E"/>
                </a:solidFill>
                <a:latin typeface="Arial" pitchFamily="34" charset="0"/>
                <a:ea typeface="Arial" pitchFamily="34" charset="-122"/>
                <a:cs typeface="Arial" pitchFamily="34" charset="-120"/>
              </a:rPr>
              <a:t>Kernel shape</a:t>
            </a:r>
            <a:endParaRPr lang="en-US" sz="1725"/>
          </a:p>
        </p:txBody>
      </p:sp>
      <p:sp>
        <p:nvSpPr>
          <p:cNvPr id="12" name="Text 10"/>
          <p:cNvSpPr/>
          <p:nvPr/>
        </p:nvSpPr>
        <p:spPr>
          <a:xfrm>
            <a:off x="15968216" y="2735461"/>
            <a:ext cx="1062484" cy="295275"/>
          </a:xfrm>
          <a:prstGeom prst="rect">
            <a:avLst/>
          </a:prstGeom>
          <a:noFill/>
          <a:ln/>
        </p:spPr>
        <p:txBody>
          <a:bodyPr wrap="square" lIns="25400" tIns="25400" rIns="25400" bIns="25400" rtlCol="0" anchor="t">
            <a:normAutofit lnSpcReduction="10000"/>
          </a:bodyPr>
          <a:lstStyle/>
          <a:p>
            <a:pPr marL="0" indent="0" algn="l">
              <a:buNone/>
            </a:pPr>
            <a:r>
              <a:rPr lang="en-US" sz="1725" b="1">
                <a:solidFill>
                  <a:srgbClr val="1A1A2E"/>
                </a:solidFill>
                <a:latin typeface="Arial" pitchFamily="34" charset="0"/>
                <a:ea typeface="Arial" pitchFamily="34" charset="-122"/>
                <a:cs typeface="Arial" pitchFamily="34" charset="-120"/>
              </a:rPr>
              <a:t>Gaussian</a:t>
            </a:r>
            <a:endParaRPr lang="en-US" sz="1725"/>
          </a:p>
        </p:txBody>
      </p:sp>
      <p:sp>
        <p:nvSpPr>
          <p:cNvPr id="13" name="Text 11"/>
          <p:cNvSpPr/>
          <p:nvPr/>
        </p:nvSpPr>
        <p:spPr>
          <a:xfrm>
            <a:off x="9753600" y="3125986"/>
            <a:ext cx="2879839" cy="295275"/>
          </a:xfrm>
          <a:prstGeom prst="rect">
            <a:avLst/>
          </a:prstGeom>
          <a:noFill/>
          <a:ln/>
        </p:spPr>
        <p:txBody>
          <a:bodyPr wrap="square" lIns="25400" tIns="25400" rIns="25400" bIns="25400" rtlCol="0" anchor="t">
            <a:normAutofit lnSpcReduction="10000"/>
          </a:bodyPr>
          <a:lstStyle/>
          <a:p>
            <a:pPr marL="0" indent="0" algn="l">
              <a:buNone/>
            </a:pPr>
            <a:r>
              <a:rPr lang="en-US" sz="1725">
                <a:solidFill>
                  <a:srgbClr val="1A1A2E"/>
                </a:solidFill>
                <a:latin typeface="Arial" pitchFamily="34" charset="0"/>
                <a:ea typeface="Arial" pitchFamily="34" charset="-122"/>
                <a:cs typeface="Arial" pitchFamily="34" charset="-120"/>
              </a:rPr>
              <a:t>Bandwidth (dimensionless)</a:t>
            </a:r>
            <a:endParaRPr lang="en-US" sz="1725"/>
          </a:p>
        </p:txBody>
      </p:sp>
      <p:sp>
        <p:nvSpPr>
          <p:cNvPr id="14" name="Text 12"/>
          <p:cNvSpPr/>
          <p:nvPr/>
        </p:nvSpPr>
        <p:spPr>
          <a:xfrm>
            <a:off x="16649849" y="3125986"/>
            <a:ext cx="380851" cy="295275"/>
          </a:xfrm>
          <a:prstGeom prst="rect">
            <a:avLst/>
          </a:prstGeom>
          <a:noFill/>
          <a:ln/>
        </p:spPr>
        <p:txBody>
          <a:bodyPr wrap="square" lIns="25400" tIns="25400" rIns="25400" bIns="25400" rtlCol="0" anchor="t">
            <a:normAutofit lnSpcReduction="10000"/>
          </a:bodyPr>
          <a:lstStyle/>
          <a:p>
            <a:pPr marL="0" indent="0" algn="l">
              <a:buNone/>
            </a:pPr>
            <a:r>
              <a:rPr lang="en-US" sz="1725" b="1">
                <a:solidFill>
                  <a:srgbClr val="1A1A2E"/>
                </a:solidFill>
                <a:latin typeface="Arial" pitchFamily="34" charset="0"/>
                <a:ea typeface="Arial" pitchFamily="34" charset="-122"/>
                <a:cs typeface="Arial" pitchFamily="34" charset="-120"/>
              </a:rPr>
              <a:t>0.5</a:t>
            </a:r>
            <a:endParaRPr lang="en-US" sz="1725"/>
          </a:p>
        </p:txBody>
      </p:sp>
      <p:sp>
        <p:nvSpPr>
          <p:cNvPr id="15" name="Text 13"/>
          <p:cNvSpPr/>
          <p:nvPr/>
        </p:nvSpPr>
        <p:spPr>
          <a:xfrm>
            <a:off x="9753600" y="3516511"/>
            <a:ext cx="1580465" cy="295275"/>
          </a:xfrm>
          <a:prstGeom prst="rect">
            <a:avLst/>
          </a:prstGeom>
          <a:noFill/>
          <a:ln/>
        </p:spPr>
        <p:txBody>
          <a:bodyPr wrap="square" lIns="25400" tIns="25400" rIns="25400" bIns="25400" rtlCol="0" anchor="t">
            <a:normAutofit lnSpcReduction="10000"/>
          </a:bodyPr>
          <a:lstStyle/>
          <a:p>
            <a:pPr marL="0" indent="0" algn="l">
              <a:buNone/>
            </a:pPr>
            <a:r>
              <a:rPr lang="en-US" sz="1725">
                <a:solidFill>
                  <a:srgbClr val="1A1A2E"/>
                </a:solidFill>
                <a:latin typeface="Arial" pitchFamily="34" charset="0"/>
                <a:ea typeface="Arial" pitchFamily="34" charset="-122"/>
                <a:cs typeface="Arial" pitchFamily="34" charset="-120"/>
              </a:rPr>
              <a:t>Slack-invariant</a:t>
            </a:r>
            <a:endParaRPr lang="en-US" sz="1725"/>
          </a:p>
        </p:txBody>
      </p:sp>
      <p:sp>
        <p:nvSpPr>
          <p:cNvPr id="16" name="Text 14"/>
          <p:cNvSpPr/>
          <p:nvPr/>
        </p:nvSpPr>
        <p:spPr>
          <a:xfrm>
            <a:off x="14373523" y="3516511"/>
            <a:ext cx="2839075" cy="295275"/>
          </a:xfrm>
          <a:prstGeom prst="rect">
            <a:avLst/>
          </a:prstGeom>
          <a:noFill/>
          <a:ln/>
        </p:spPr>
        <p:txBody>
          <a:bodyPr wrap="square" lIns="25400" tIns="25400" rIns="25400" bIns="25400" rtlCol="0" anchor="t">
            <a:normAutofit lnSpcReduction="10000"/>
          </a:bodyPr>
          <a:lstStyle/>
          <a:p>
            <a:pPr marL="0" indent="0" algn="l">
              <a:buNone/>
            </a:pPr>
            <a:r>
              <a:rPr lang="en-US" sz="1725" b="1">
                <a:solidFill>
                  <a:srgbClr val="1A1A2E"/>
                </a:solidFill>
                <a:latin typeface="Arial" pitchFamily="34" charset="0"/>
                <a:ea typeface="Arial" pitchFamily="34" charset="-122"/>
                <a:cs typeface="Arial" pitchFamily="34" charset="-120"/>
              </a:rPr>
              <a:t>yes (column differences)</a:t>
            </a:r>
            <a:endParaRPr lang="en-US" sz="1725"/>
          </a:p>
        </p:txBody>
      </p:sp>
      <p:sp>
        <p:nvSpPr>
          <p:cNvPr id="17" name="Text 15"/>
          <p:cNvSpPr/>
          <p:nvPr/>
        </p:nvSpPr>
        <p:spPr>
          <a:xfrm>
            <a:off x="9753600" y="3907036"/>
            <a:ext cx="2880003" cy="295275"/>
          </a:xfrm>
          <a:prstGeom prst="rect">
            <a:avLst/>
          </a:prstGeom>
          <a:noFill/>
          <a:ln/>
        </p:spPr>
        <p:txBody>
          <a:bodyPr wrap="square" lIns="25400" tIns="25400" rIns="25400" bIns="25400" rtlCol="0" anchor="t">
            <a:normAutofit lnSpcReduction="10000"/>
          </a:bodyPr>
          <a:lstStyle/>
          <a:p>
            <a:pPr marL="0" indent="0" algn="l">
              <a:buNone/>
            </a:pPr>
            <a:r>
              <a:rPr lang="en-US" sz="1725">
                <a:solidFill>
                  <a:srgbClr val="1A1A2E"/>
                </a:solidFill>
                <a:latin typeface="Arial" pitchFamily="34" charset="0"/>
                <a:ea typeface="Arial" pitchFamily="34" charset="-122"/>
                <a:cs typeface="Arial" pitchFamily="34" charset="-120"/>
              </a:rPr>
              <a:t>Disconnected subnetworks</a:t>
            </a:r>
            <a:endParaRPr lang="en-US" sz="1725"/>
          </a:p>
        </p:txBody>
      </p:sp>
      <p:sp>
        <p:nvSpPr>
          <p:cNvPr id="18" name="Text 16"/>
          <p:cNvSpPr/>
          <p:nvPr/>
        </p:nvSpPr>
        <p:spPr>
          <a:xfrm>
            <a:off x="15530513" y="3907036"/>
            <a:ext cx="1566386" cy="295275"/>
          </a:xfrm>
          <a:prstGeom prst="rect">
            <a:avLst/>
          </a:prstGeom>
          <a:noFill/>
          <a:ln/>
        </p:spPr>
        <p:txBody>
          <a:bodyPr wrap="square" lIns="25400" tIns="25400" rIns="25400" bIns="25400" rtlCol="0" anchor="t">
            <a:normAutofit lnSpcReduction="10000"/>
          </a:bodyPr>
          <a:lstStyle/>
          <a:p>
            <a:pPr marL="0" indent="0" algn="l">
              <a:buNone/>
            </a:pPr>
            <a:r>
              <a:rPr lang="en-US" sz="1725" b="1">
                <a:solidFill>
                  <a:srgbClr val="1A1A2E"/>
                </a:solidFill>
                <a:latin typeface="Arial" pitchFamily="34" charset="0"/>
                <a:ea typeface="Arial" pitchFamily="34" charset="-122"/>
                <a:cs typeface="Arial" pitchFamily="34" charset="-120"/>
              </a:rPr>
              <a:t>zero coupling</a:t>
            </a:r>
            <a:endParaRPr lang="en-US" sz="1725"/>
          </a:p>
        </p:txBody>
      </p:sp>
      <p:sp>
        <p:nvSpPr>
          <p:cNvPr id="19" name="Shape 17"/>
          <p:cNvSpPr/>
          <p:nvPr/>
        </p:nvSpPr>
        <p:spPr>
          <a:xfrm>
            <a:off x="9372600" y="4716661"/>
            <a:ext cx="7962900" cy="1809750"/>
          </a:xfrm>
          <a:prstGeom prst="rect">
            <a:avLst/>
          </a:prstGeom>
          <a:solidFill>
            <a:srgbClr val="F0F6FB"/>
          </a:solidFill>
          <a:ln/>
        </p:spPr>
        <p:txBody>
          <a:bodyPr/>
          <a:lstStyle/>
          <a:p>
            <a:endParaRPr lang="en-GB"/>
          </a:p>
        </p:txBody>
      </p:sp>
      <p:sp>
        <p:nvSpPr>
          <p:cNvPr id="20" name="Shape 18"/>
          <p:cNvSpPr/>
          <p:nvPr/>
        </p:nvSpPr>
        <p:spPr>
          <a:xfrm>
            <a:off x="9372600" y="4716661"/>
            <a:ext cx="57150" cy="1809750"/>
          </a:xfrm>
          <a:prstGeom prst="rect">
            <a:avLst/>
          </a:prstGeom>
          <a:solidFill>
            <a:srgbClr val="0065BD"/>
          </a:solidFill>
          <a:ln/>
        </p:spPr>
        <p:txBody>
          <a:bodyPr/>
          <a:lstStyle/>
          <a:p>
            <a:endParaRPr lang="en-GB"/>
          </a:p>
        </p:txBody>
      </p:sp>
      <p:sp>
        <p:nvSpPr>
          <p:cNvPr id="21" name="Text 19"/>
          <p:cNvSpPr/>
          <p:nvPr/>
        </p:nvSpPr>
        <p:spPr>
          <a:xfrm>
            <a:off x="9753600" y="4964311"/>
            <a:ext cx="7496937" cy="13525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b="1">
                <a:solidFill>
                  <a:srgbClr val="1A1A2E"/>
                </a:solidFill>
                <a:latin typeface="Arial" pitchFamily="34" charset="0"/>
                <a:ea typeface="Arial" pitchFamily="34" charset="-122"/>
                <a:cs typeface="Arial" pitchFamily="34" charset="-120"/>
              </a:rPr>
              <a:t>vs. the midterm: </a:t>
            </a:r>
            <a:r>
              <a:rPr lang="en-US" sz="1725">
                <a:solidFill>
                  <a:srgbClr val="1A1A2E"/>
                </a:solidFill>
                <a:highlight>
                  <a:srgbClr val="F0F6FB"/>
                </a:highlight>
                <a:latin typeface="Arial" pitchFamily="34" charset="0"/>
                <a:ea typeface="Arial" pitchFamily="34" charset="-122"/>
                <a:cs typeface="Arial" pitchFamily="34" charset="-120"/>
              </a:rPr>
              <a:t>the graph-distance kernel (Dijkstra shortest path, h = 200 km) is retained as a robustness alternative — PTDF replaces “how far on the map” with </a:t>
            </a:r>
            <a:r>
              <a:rPr lang="en-US" sz="1725" b="1">
                <a:solidFill>
                  <a:srgbClr val="1A1A2E"/>
                </a:solidFill>
                <a:latin typeface="Arial" pitchFamily="34" charset="0"/>
                <a:ea typeface="Arial" pitchFamily="34" charset="-122"/>
                <a:cs typeface="Arial" pitchFamily="34" charset="-120"/>
              </a:rPr>
              <a:t>“how electrically interchangeable” </a:t>
            </a:r>
            <a:r>
              <a:rPr lang="en-US" sz="1725">
                <a:solidFill>
                  <a:srgbClr val="1A1A2E"/>
                </a:solidFill>
                <a:highlight>
                  <a:srgbClr val="F0F6FB"/>
                </a:highlight>
                <a:latin typeface="Arial" pitchFamily="34" charset="0"/>
                <a:ea typeface="Arial" pitchFamily="34" charset="-122"/>
                <a:cs typeface="Arial" pitchFamily="34" charset="-120"/>
              </a:rPr>
              <a:t>, the property that determines whether a battery can substitute a redispatch action.</a:t>
            </a:r>
            <a:endParaRPr lang="en-US" sz="1725"/>
          </a:p>
        </p:txBody>
      </p:sp>
      <p:sp>
        <p:nvSpPr>
          <p:cNvPr id="22" name="Text 20"/>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3" name="Text 21"/>
          <p:cNvSpPr/>
          <p:nvPr/>
        </p:nvSpPr>
        <p:spPr>
          <a:xfrm>
            <a:off x="17245310" y="9715500"/>
            <a:ext cx="166390"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9</a:t>
            </a:r>
            <a:endParaRPr lang="en-US" sz="12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2795364"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03 · METHODOLOGY</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63761"/>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3450" b="1">
                <a:solidFill>
                  <a:srgbClr val="1A1A2E"/>
                </a:solidFill>
                <a:latin typeface="Arial" pitchFamily="34" charset="0"/>
                <a:ea typeface="Arial" pitchFamily="34" charset="-122"/>
                <a:cs typeface="Arial" pitchFamily="34" charset="-120"/>
              </a:rPr>
              <a:t>Scoring: locational profit vs. the copperplate baseline</a:t>
            </a:r>
            <a:endParaRPr lang="en-US" sz="3450"/>
          </a:p>
        </p:txBody>
      </p:sp>
      <p:sp>
        <p:nvSpPr>
          <p:cNvPr id="5" name="Shape 3"/>
          <p:cNvSpPr/>
          <p:nvPr/>
        </p:nvSpPr>
        <p:spPr>
          <a:xfrm>
            <a:off x="952500" y="4459486"/>
            <a:ext cx="5257800" cy="19050"/>
          </a:xfrm>
          <a:prstGeom prst="rect">
            <a:avLst/>
          </a:prstGeom>
          <a:solidFill>
            <a:srgbClr val="E2E8F0"/>
          </a:solidFill>
          <a:ln/>
        </p:spPr>
        <p:txBody>
          <a:bodyPr/>
          <a:lstStyle/>
          <a:p>
            <a:endParaRPr lang="en-GB"/>
          </a:p>
        </p:txBody>
      </p:sp>
      <p:sp>
        <p:nvSpPr>
          <p:cNvPr id="6" name="Shape 4"/>
          <p:cNvSpPr/>
          <p:nvPr/>
        </p:nvSpPr>
        <p:spPr>
          <a:xfrm>
            <a:off x="952500" y="2068711"/>
            <a:ext cx="5257800" cy="57150"/>
          </a:xfrm>
          <a:prstGeom prst="rect">
            <a:avLst/>
          </a:prstGeom>
          <a:solidFill>
            <a:srgbClr val="005293"/>
          </a:solidFill>
          <a:ln/>
        </p:spPr>
        <p:txBody>
          <a:bodyPr/>
          <a:lstStyle/>
          <a:p>
            <a:endParaRPr lang="en-GB"/>
          </a:p>
        </p:txBody>
      </p:sp>
      <p:sp>
        <p:nvSpPr>
          <p:cNvPr id="7" name="Shape 5"/>
          <p:cNvSpPr/>
          <p:nvPr/>
        </p:nvSpPr>
        <p:spPr>
          <a:xfrm>
            <a:off x="952500" y="2068711"/>
            <a:ext cx="19050" cy="2409825"/>
          </a:xfrm>
          <a:prstGeom prst="rect">
            <a:avLst/>
          </a:prstGeom>
          <a:solidFill>
            <a:srgbClr val="E2E8F0"/>
          </a:solidFill>
          <a:ln/>
        </p:spPr>
        <p:txBody>
          <a:bodyPr/>
          <a:lstStyle/>
          <a:p>
            <a:endParaRPr lang="en-GB"/>
          </a:p>
        </p:txBody>
      </p:sp>
      <p:sp>
        <p:nvSpPr>
          <p:cNvPr id="8" name="Shape 6"/>
          <p:cNvSpPr/>
          <p:nvPr/>
        </p:nvSpPr>
        <p:spPr>
          <a:xfrm>
            <a:off x="6191250" y="2068711"/>
            <a:ext cx="19050" cy="2409825"/>
          </a:xfrm>
          <a:prstGeom prst="rect">
            <a:avLst/>
          </a:prstGeom>
          <a:solidFill>
            <a:srgbClr val="E2E8F0"/>
          </a:solidFill>
          <a:ln/>
        </p:spPr>
        <p:txBody>
          <a:bodyPr/>
          <a:lstStyle/>
          <a:p>
            <a:endParaRPr lang="en-GB"/>
          </a:p>
        </p:txBody>
      </p:sp>
      <p:sp>
        <p:nvSpPr>
          <p:cNvPr id="9" name="Text 7"/>
          <p:cNvSpPr/>
          <p:nvPr/>
        </p:nvSpPr>
        <p:spPr>
          <a:xfrm>
            <a:off x="1314450" y="2430661"/>
            <a:ext cx="4987290" cy="314325"/>
          </a:xfrm>
          <a:prstGeom prst="rect">
            <a:avLst/>
          </a:prstGeom>
          <a:noFill/>
          <a:ln/>
        </p:spPr>
        <p:txBody>
          <a:bodyPr wrap="square" lIns="25400" tIns="25400" rIns="25400" bIns="25400" rtlCol="0" anchor="t">
            <a:normAutofit lnSpcReduction="10000"/>
          </a:bodyPr>
          <a:lstStyle/>
          <a:p>
            <a:pPr marL="0" indent="0" algn="l">
              <a:buNone/>
            </a:pPr>
            <a:r>
              <a:rPr lang="en-US" sz="1875" b="1">
                <a:solidFill>
                  <a:srgbClr val="1A1A2E"/>
                </a:solidFill>
                <a:latin typeface="Arial" pitchFamily="34" charset="0"/>
                <a:ea typeface="Arial" pitchFamily="34" charset="-122"/>
                <a:cs typeface="Arial" pitchFamily="34" charset="-120"/>
              </a:rPr>
              <a:t>1 · Daily arbitrage heuristic</a:t>
            </a:r>
            <a:endParaRPr lang="en-US" sz="1875"/>
          </a:p>
        </p:txBody>
      </p:sp>
      <p:sp>
        <p:nvSpPr>
          <p:cNvPr id="10" name="Text 8"/>
          <p:cNvSpPr/>
          <p:nvPr/>
        </p:nvSpPr>
        <p:spPr>
          <a:xfrm>
            <a:off x="1314450" y="2840236"/>
            <a:ext cx="4669917" cy="13525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a:solidFill>
                  <a:srgbClr val="4A4A6A"/>
                </a:solidFill>
                <a:latin typeface="Arial" pitchFamily="34" charset="0"/>
                <a:ea typeface="Arial" pitchFamily="34" charset="-122"/>
                <a:cs typeface="Arial" pitchFamily="34" charset="-120"/>
              </a:rPr>
              <a:t>Each day: charge at full power in the </a:t>
            </a:r>
            <a:r>
              <a:rPr lang="en-US" sz="1725" b="1">
                <a:solidFill>
                  <a:srgbClr val="4A4A6A"/>
                </a:solidFill>
                <a:latin typeface="Arial" pitchFamily="34" charset="0"/>
                <a:ea typeface="Arial" pitchFamily="34" charset="-122"/>
                <a:cs typeface="Arial" pitchFamily="34" charset="-120"/>
              </a:rPr>
              <a:t>16 cheapest </a:t>
            </a:r>
            <a:r>
              <a:rPr lang="en-US" sz="1725">
                <a:solidFill>
                  <a:srgbClr val="4A4A6A"/>
                </a:solidFill>
                <a:latin typeface="Arial" pitchFamily="34" charset="0"/>
                <a:ea typeface="Arial" pitchFamily="34" charset="-122"/>
                <a:cs typeface="Arial" pitchFamily="34" charset="-120"/>
              </a:rPr>
              <a:t>15-min steps, discharge in the </a:t>
            </a:r>
            <a:r>
              <a:rPr lang="en-US" sz="1725" b="1">
                <a:solidFill>
                  <a:srgbClr val="4A4A6A"/>
                </a:solidFill>
                <a:latin typeface="Arial" pitchFamily="34" charset="0"/>
                <a:ea typeface="Arial" pitchFamily="34" charset="-122"/>
                <a:cs typeface="Arial" pitchFamily="34" charset="-120"/>
              </a:rPr>
              <a:t>16 most expensive </a:t>
            </a:r>
            <a:r>
              <a:rPr lang="en-US" sz="1725">
                <a:solidFill>
                  <a:srgbClr val="4A4A6A"/>
                </a:solidFill>
                <a:latin typeface="Arial" pitchFamily="34" charset="0"/>
                <a:ea typeface="Arial" pitchFamily="34" charset="-122"/>
                <a:cs typeface="Arial" pitchFamily="34" charset="-120"/>
              </a:rPr>
              <a:t>— one lossless 4-hour cycle against the effective local price.</a:t>
            </a:r>
            <a:endParaRPr lang="en-US" sz="1725"/>
          </a:p>
        </p:txBody>
      </p:sp>
      <p:sp>
        <p:nvSpPr>
          <p:cNvPr id="11" name="Shape 9"/>
          <p:cNvSpPr/>
          <p:nvPr/>
        </p:nvSpPr>
        <p:spPr>
          <a:xfrm>
            <a:off x="6515100" y="4459486"/>
            <a:ext cx="5257800" cy="19050"/>
          </a:xfrm>
          <a:prstGeom prst="rect">
            <a:avLst/>
          </a:prstGeom>
          <a:solidFill>
            <a:srgbClr val="E2E8F0"/>
          </a:solidFill>
          <a:ln/>
        </p:spPr>
        <p:txBody>
          <a:bodyPr/>
          <a:lstStyle/>
          <a:p>
            <a:endParaRPr lang="en-GB"/>
          </a:p>
        </p:txBody>
      </p:sp>
      <p:sp>
        <p:nvSpPr>
          <p:cNvPr id="12" name="Shape 10"/>
          <p:cNvSpPr/>
          <p:nvPr/>
        </p:nvSpPr>
        <p:spPr>
          <a:xfrm>
            <a:off x="6515100" y="2068711"/>
            <a:ext cx="5257800" cy="57150"/>
          </a:xfrm>
          <a:prstGeom prst="rect">
            <a:avLst/>
          </a:prstGeom>
          <a:solidFill>
            <a:srgbClr val="005293"/>
          </a:solidFill>
          <a:ln/>
        </p:spPr>
        <p:txBody>
          <a:bodyPr/>
          <a:lstStyle/>
          <a:p>
            <a:endParaRPr lang="en-GB"/>
          </a:p>
        </p:txBody>
      </p:sp>
      <p:sp>
        <p:nvSpPr>
          <p:cNvPr id="13" name="Shape 11"/>
          <p:cNvSpPr/>
          <p:nvPr/>
        </p:nvSpPr>
        <p:spPr>
          <a:xfrm>
            <a:off x="6515100" y="2068711"/>
            <a:ext cx="19050" cy="2409825"/>
          </a:xfrm>
          <a:prstGeom prst="rect">
            <a:avLst/>
          </a:prstGeom>
          <a:solidFill>
            <a:srgbClr val="E2E8F0"/>
          </a:solidFill>
          <a:ln/>
        </p:spPr>
        <p:txBody>
          <a:bodyPr/>
          <a:lstStyle/>
          <a:p>
            <a:endParaRPr lang="en-GB"/>
          </a:p>
        </p:txBody>
      </p:sp>
      <p:sp>
        <p:nvSpPr>
          <p:cNvPr id="14" name="Shape 12"/>
          <p:cNvSpPr/>
          <p:nvPr/>
        </p:nvSpPr>
        <p:spPr>
          <a:xfrm>
            <a:off x="11753850" y="2068711"/>
            <a:ext cx="19050" cy="2409825"/>
          </a:xfrm>
          <a:prstGeom prst="rect">
            <a:avLst/>
          </a:prstGeom>
          <a:solidFill>
            <a:srgbClr val="E2E8F0"/>
          </a:solidFill>
          <a:ln/>
        </p:spPr>
        <p:txBody>
          <a:bodyPr/>
          <a:lstStyle/>
          <a:p>
            <a:endParaRPr lang="en-GB"/>
          </a:p>
        </p:txBody>
      </p:sp>
      <p:sp>
        <p:nvSpPr>
          <p:cNvPr id="15" name="Text 13"/>
          <p:cNvSpPr/>
          <p:nvPr/>
        </p:nvSpPr>
        <p:spPr>
          <a:xfrm>
            <a:off x="6877050" y="2430661"/>
            <a:ext cx="4987290" cy="314325"/>
          </a:xfrm>
          <a:prstGeom prst="rect">
            <a:avLst/>
          </a:prstGeom>
          <a:noFill/>
          <a:ln/>
        </p:spPr>
        <p:txBody>
          <a:bodyPr wrap="square" lIns="25400" tIns="25400" rIns="25400" bIns="25400" rtlCol="0" anchor="t">
            <a:normAutofit lnSpcReduction="10000"/>
          </a:bodyPr>
          <a:lstStyle/>
          <a:p>
            <a:pPr marL="0" indent="0" algn="l">
              <a:buNone/>
            </a:pPr>
            <a:r>
              <a:rPr lang="en-US" sz="1875" b="1">
                <a:solidFill>
                  <a:srgbClr val="1A1A2E"/>
                </a:solidFill>
                <a:latin typeface="Arial" pitchFamily="34" charset="0"/>
                <a:ea typeface="Arial" pitchFamily="34" charset="-122"/>
                <a:cs typeface="Arial" pitchFamily="34" charset="-120"/>
              </a:rPr>
              <a:t>2 · Common reference battery</a:t>
            </a:r>
            <a:endParaRPr lang="en-US" sz="1875"/>
          </a:p>
        </p:txBody>
      </p:sp>
      <p:sp>
        <p:nvSpPr>
          <p:cNvPr id="16" name="Text 14"/>
          <p:cNvSpPr/>
          <p:nvPr/>
        </p:nvSpPr>
        <p:spPr>
          <a:xfrm>
            <a:off x="6877050" y="2840236"/>
            <a:ext cx="4669917" cy="10239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a:solidFill>
                  <a:srgbClr val="4A4A6A"/>
                </a:solidFill>
                <a:latin typeface="Arial" pitchFamily="34" charset="0"/>
                <a:ea typeface="Arial" pitchFamily="34" charset="-122"/>
                <a:cs typeface="Arial" pitchFamily="34" charset="-120"/>
              </a:rPr>
              <a:t>Every site scored at </a:t>
            </a:r>
            <a:r>
              <a:rPr lang="en-US" sz="1725" b="1">
                <a:solidFill>
                  <a:srgbClr val="4A4A6A"/>
                </a:solidFill>
                <a:latin typeface="Arial" pitchFamily="34" charset="0"/>
                <a:ea typeface="Arial" pitchFamily="34" charset="-122"/>
                <a:cs typeface="Arial" pitchFamily="34" charset="-120"/>
              </a:rPr>
              <a:t>50 MW / 200 MWh </a:t>
            </a:r>
            <a:r>
              <a:rPr lang="en-US" sz="1725">
                <a:solidFill>
                  <a:srgbClr val="4A4A6A"/>
                </a:solidFill>
                <a:latin typeface="Arial" pitchFamily="34" charset="0"/>
                <a:ea typeface="Arial" pitchFamily="34" charset="-122"/>
                <a:cs typeface="Arial" pitchFamily="34" charset="-120"/>
              </a:rPr>
              <a:t>(4 h). Own nameplate does not enter — the comparison is </a:t>
            </a:r>
            <a:r>
              <a:rPr lang="en-US" sz="1725" b="1">
                <a:solidFill>
                  <a:srgbClr val="4A4A6A"/>
                </a:solidFill>
                <a:latin typeface="Arial" pitchFamily="34" charset="0"/>
                <a:ea typeface="Arial" pitchFamily="34" charset="-122"/>
                <a:cs typeface="Arial" pitchFamily="34" charset="-120"/>
              </a:rPr>
              <a:t>purely locational</a:t>
            </a:r>
            <a:r>
              <a:rPr lang="en-US" sz="1725">
                <a:solidFill>
                  <a:srgbClr val="4A4A6A"/>
                </a:solidFill>
                <a:latin typeface="Arial" pitchFamily="34" charset="0"/>
                <a:ea typeface="Arial" pitchFamily="34" charset="-122"/>
                <a:cs typeface="Arial" pitchFamily="34" charset="-120"/>
              </a:rPr>
              <a:t>.</a:t>
            </a:r>
            <a:endParaRPr lang="en-US" sz="1725"/>
          </a:p>
        </p:txBody>
      </p:sp>
      <p:sp>
        <p:nvSpPr>
          <p:cNvPr id="17" name="Shape 15"/>
          <p:cNvSpPr/>
          <p:nvPr/>
        </p:nvSpPr>
        <p:spPr>
          <a:xfrm>
            <a:off x="12077700" y="4459486"/>
            <a:ext cx="5257800" cy="19050"/>
          </a:xfrm>
          <a:prstGeom prst="rect">
            <a:avLst/>
          </a:prstGeom>
          <a:solidFill>
            <a:srgbClr val="E2E8F0"/>
          </a:solidFill>
          <a:ln/>
        </p:spPr>
        <p:txBody>
          <a:bodyPr/>
          <a:lstStyle/>
          <a:p>
            <a:endParaRPr lang="en-GB"/>
          </a:p>
        </p:txBody>
      </p:sp>
      <p:sp>
        <p:nvSpPr>
          <p:cNvPr id="18" name="Shape 16"/>
          <p:cNvSpPr/>
          <p:nvPr/>
        </p:nvSpPr>
        <p:spPr>
          <a:xfrm>
            <a:off x="12077700" y="2068711"/>
            <a:ext cx="5257800" cy="57150"/>
          </a:xfrm>
          <a:prstGeom prst="rect">
            <a:avLst/>
          </a:prstGeom>
          <a:solidFill>
            <a:srgbClr val="A2AD00"/>
          </a:solidFill>
          <a:ln/>
        </p:spPr>
        <p:txBody>
          <a:bodyPr/>
          <a:lstStyle/>
          <a:p>
            <a:endParaRPr lang="en-GB"/>
          </a:p>
        </p:txBody>
      </p:sp>
      <p:sp>
        <p:nvSpPr>
          <p:cNvPr id="19" name="Shape 17"/>
          <p:cNvSpPr/>
          <p:nvPr/>
        </p:nvSpPr>
        <p:spPr>
          <a:xfrm>
            <a:off x="12077700" y="2068711"/>
            <a:ext cx="19050" cy="2409825"/>
          </a:xfrm>
          <a:prstGeom prst="rect">
            <a:avLst/>
          </a:prstGeom>
          <a:solidFill>
            <a:srgbClr val="E2E8F0"/>
          </a:solidFill>
          <a:ln/>
        </p:spPr>
        <p:txBody>
          <a:bodyPr/>
          <a:lstStyle/>
          <a:p>
            <a:endParaRPr lang="en-GB"/>
          </a:p>
        </p:txBody>
      </p:sp>
      <p:sp>
        <p:nvSpPr>
          <p:cNvPr id="20" name="Shape 18"/>
          <p:cNvSpPr/>
          <p:nvPr/>
        </p:nvSpPr>
        <p:spPr>
          <a:xfrm>
            <a:off x="17316450" y="2068711"/>
            <a:ext cx="19050" cy="2409825"/>
          </a:xfrm>
          <a:prstGeom prst="rect">
            <a:avLst/>
          </a:prstGeom>
          <a:solidFill>
            <a:srgbClr val="E2E8F0"/>
          </a:solidFill>
          <a:ln/>
        </p:spPr>
        <p:txBody>
          <a:bodyPr/>
          <a:lstStyle/>
          <a:p>
            <a:endParaRPr lang="en-GB"/>
          </a:p>
        </p:txBody>
      </p:sp>
      <p:sp>
        <p:nvSpPr>
          <p:cNvPr id="21" name="Text 19"/>
          <p:cNvSpPr/>
          <p:nvPr/>
        </p:nvSpPr>
        <p:spPr>
          <a:xfrm>
            <a:off x="12439650" y="2430661"/>
            <a:ext cx="4987290" cy="314325"/>
          </a:xfrm>
          <a:prstGeom prst="rect">
            <a:avLst/>
          </a:prstGeom>
          <a:noFill/>
          <a:ln/>
        </p:spPr>
        <p:txBody>
          <a:bodyPr wrap="square" lIns="25400" tIns="25400" rIns="25400" bIns="25400" rtlCol="0" anchor="t">
            <a:normAutofit lnSpcReduction="10000"/>
          </a:bodyPr>
          <a:lstStyle/>
          <a:p>
            <a:pPr marL="0" indent="0" algn="l">
              <a:buNone/>
            </a:pPr>
            <a:r>
              <a:rPr lang="en-US" sz="1875" b="1">
                <a:solidFill>
                  <a:srgbClr val="1A1A2E"/>
                </a:solidFill>
                <a:latin typeface="Arial" pitchFamily="34" charset="0"/>
                <a:ea typeface="Arial" pitchFamily="34" charset="-122"/>
                <a:cs typeface="Arial" pitchFamily="34" charset="-120"/>
              </a:rPr>
              <a:t>3 · Locational value</a:t>
            </a:r>
            <a:endParaRPr lang="en-US" sz="1875"/>
          </a:p>
        </p:txBody>
      </p:sp>
      <p:sp>
        <p:nvSpPr>
          <p:cNvPr id="22" name="Text 20"/>
          <p:cNvSpPr/>
          <p:nvPr/>
        </p:nvSpPr>
        <p:spPr>
          <a:xfrm>
            <a:off x="12439650" y="2840236"/>
            <a:ext cx="4669917" cy="1070074"/>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725">
                <a:solidFill>
                  <a:srgbClr val="4A4A6A"/>
                </a:solidFill>
                <a:latin typeface="Arial" pitchFamily="34" charset="0"/>
                <a:ea typeface="Arial" pitchFamily="34" charset="-122"/>
                <a:cs typeface="Arial" pitchFamily="34" charset="-120"/>
              </a:rPr>
              <a:t>Same heuristic on the flat zonal price → </a:t>
            </a:r>
            <a:r>
              <a:rPr lang="en-US" sz="1725" b="1">
                <a:solidFill>
                  <a:srgbClr val="4A4A6A"/>
                </a:solidFill>
                <a:latin typeface="Arial" pitchFamily="34" charset="0"/>
                <a:ea typeface="Arial" pitchFamily="34" charset="-122"/>
                <a:cs typeface="Arial" pitchFamily="34" charset="-120"/>
              </a:rPr>
              <a:t>copperplate baseline </a:t>
            </a:r>
            <a:r>
              <a:rPr lang="en-US" sz="1725">
                <a:solidFill>
                  <a:srgbClr val="4A4A6A"/>
                </a:solidFill>
                <a:latin typeface="Arial" pitchFamily="34" charset="0"/>
                <a:ea typeface="Arial" pitchFamily="34" charset="-122"/>
                <a:cs typeface="Arial" pitchFamily="34" charset="-120"/>
              </a:rPr>
              <a:t>V</a:t>
            </a:r>
            <a:r>
              <a:rPr lang="en-US" sz="1438" baseline="-40000">
                <a:solidFill>
                  <a:srgbClr val="4A4A6A"/>
                </a:solidFill>
                <a:latin typeface="Arial" pitchFamily="34" charset="0"/>
                <a:ea typeface="Arial" pitchFamily="34" charset="-122"/>
                <a:cs typeface="Arial" pitchFamily="34" charset="-120"/>
              </a:rPr>
              <a:t>copper </a:t>
            </a:r>
            <a:r>
              <a:rPr lang="en-US" sz="1725">
                <a:solidFill>
                  <a:srgbClr val="4A4A6A"/>
                </a:solidFill>
                <a:latin typeface="Arial" pitchFamily="34" charset="0"/>
                <a:ea typeface="Arial" pitchFamily="34" charset="-122"/>
                <a:cs typeface="Arial" pitchFamily="34" charset="-120"/>
              </a:rPr>
              <a:t>, identical for all sites (pure temporal arbitrage).</a:t>
            </a:r>
            <a:endParaRPr lang="en-US" sz="1725"/>
          </a:p>
        </p:txBody>
      </p:sp>
      <p:sp>
        <p:nvSpPr>
          <p:cNvPr id="23" name="Shape 21"/>
          <p:cNvSpPr/>
          <p:nvPr/>
        </p:nvSpPr>
        <p:spPr>
          <a:xfrm>
            <a:off x="952500" y="4859536"/>
            <a:ext cx="16383000" cy="1348680"/>
          </a:xfrm>
          <a:prstGeom prst="rect">
            <a:avLst/>
          </a:prstGeom>
          <a:solidFill>
            <a:srgbClr val="0F2A43"/>
          </a:solidFill>
          <a:ln/>
        </p:spPr>
        <p:txBody>
          <a:bodyPr/>
          <a:lstStyle/>
          <a:p>
            <a:endParaRPr lang="en-GB"/>
          </a:p>
        </p:txBody>
      </p:sp>
      <p:sp>
        <p:nvSpPr>
          <p:cNvPr id="24" name="Text 22"/>
          <p:cNvSpPr/>
          <p:nvPr/>
        </p:nvSpPr>
        <p:spPr>
          <a:xfrm>
            <a:off x="3786336" y="5290989"/>
            <a:ext cx="4930646" cy="523875"/>
          </a:xfrm>
          <a:prstGeom prst="rect">
            <a:avLst/>
          </a:prstGeom>
          <a:noFill/>
          <a:ln/>
        </p:spPr>
        <p:txBody>
          <a:bodyPr wrap="square" lIns="25400" tIns="25400" rIns="25400" bIns="25400" rtlCol="0" anchor="t">
            <a:normAutofit/>
          </a:bodyPr>
          <a:lstStyle/>
          <a:p>
            <a:pPr marL="0" indent="0" algn="l">
              <a:buNone/>
            </a:pPr>
            <a:r>
              <a:rPr lang="en-US" sz="3000" i="1">
                <a:solidFill>
                  <a:srgbClr val="FFFFFF"/>
                </a:solidFill>
                <a:latin typeface="Georgia" pitchFamily="34" charset="0"/>
                <a:ea typeface="Georgia" pitchFamily="34" charset="-122"/>
                <a:cs typeface="Georgia" pitchFamily="34" charset="-120"/>
              </a:rPr>
              <a:t>ΔV[n] = V[n] − V</a:t>
            </a:r>
            <a:r>
              <a:rPr lang="en-US" sz="1800" i="1" baseline="-40000">
                <a:solidFill>
                  <a:srgbClr val="FFFFFF"/>
                </a:solidFill>
                <a:latin typeface="Georgia" pitchFamily="34" charset="0"/>
                <a:ea typeface="Georgia" pitchFamily="34" charset="-122"/>
                <a:cs typeface="Georgia" pitchFamily="34" charset="-120"/>
              </a:rPr>
              <a:t>copperplate</a:t>
            </a:r>
            <a:endParaRPr lang="en-US" sz="3000"/>
          </a:p>
        </p:txBody>
      </p:sp>
      <p:sp>
        <p:nvSpPr>
          <p:cNvPr id="25" name="Text 23"/>
          <p:cNvSpPr/>
          <p:nvPr/>
        </p:nvSpPr>
        <p:spPr>
          <a:xfrm>
            <a:off x="8840242" y="5202436"/>
            <a:ext cx="5831265" cy="70098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a:solidFill>
                  <a:srgbClr val="98C6EA"/>
                </a:solidFill>
                <a:latin typeface="Arial" pitchFamily="34" charset="0"/>
                <a:ea typeface="Arial" pitchFamily="34" charset="-122"/>
                <a:cs typeface="Arial" pitchFamily="34" charset="-120"/>
              </a:rPr>
              <a:t>= the pure locational value of site n for congestion relief. The fleet is ranked by </a:t>
            </a:r>
            <a:r>
              <a:rPr lang="en-US" sz="1800" b="1">
                <a:solidFill>
                  <a:srgbClr val="FFFFFF"/>
                </a:solidFill>
                <a:latin typeface="Arial" pitchFamily="34" charset="0"/>
                <a:ea typeface="Arial" pitchFamily="34" charset="-122"/>
                <a:cs typeface="Arial" pitchFamily="34" charset="-120"/>
              </a:rPr>
              <a:t>ΔV per year</a:t>
            </a:r>
            <a:r>
              <a:rPr lang="en-US" sz="1800">
                <a:solidFill>
                  <a:srgbClr val="98C6EA"/>
                </a:solidFill>
                <a:latin typeface="Arial" pitchFamily="34" charset="0"/>
                <a:ea typeface="Arial" pitchFamily="34" charset="-122"/>
                <a:cs typeface="Arial" pitchFamily="34" charset="-120"/>
              </a:rPr>
              <a:t>.</a:t>
            </a:r>
            <a:endParaRPr lang="en-US" sz="1800"/>
          </a:p>
        </p:txBody>
      </p:sp>
      <p:sp>
        <p:nvSpPr>
          <p:cNvPr id="26" name="Text 24"/>
          <p:cNvSpPr/>
          <p:nvPr/>
        </p:nvSpPr>
        <p:spPr>
          <a:xfrm>
            <a:off x="952500" y="6513016"/>
            <a:ext cx="16874490" cy="6381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a:solidFill>
                  <a:srgbClr val="6B7280"/>
                </a:solidFill>
                <a:latin typeface="Arial" pitchFamily="34" charset="0"/>
                <a:ea typeface="Arial" pitchFamily="34" charset="-122"/>
                <a:cs typeface="Arial" pitchFamily="34" charset="-120"/>
              </a:rPr>
              <a:t>Deliberately abstracted: round-trip losses, inter-day arbitrage, ramp &amp; degradation limits, grid-connection constraints, DSO-level redispatch. Identical simplifications for every site → the </a:t>
            </a:r>
            <a:r>
              <a:rPr lang="en-US" sz="1575" b="1">
                <a:solidFill>
                  <a:srgbClr val="6B7280"/>
                </a:solidFill>
                <a:latin typeface="Arial" pitchFamily="34" charset="0"/>
                <a:ea typeface="Arial" pitchFamily="34" charset="-122"/>
                <a:cs typeface="Arial" pitchFamily="34" charset="-120"/>
              </a:rPr>
              <a:t>relative ranking </a:t>
            </a:r>
            <a:r>
              <a:rPr lang="en-US" sz="1575">
                <a:solidFill>
                  <a:srgbClr val="6B7280"/>
                </a:solidFill>
                <a:latin typeface="Arial" pitchFamily="34" charset="0"/>
                <a:ea typeface="Arial" pitchFamily="34" charset="-122"/>
                <a:cs typeface="Arial" pitchFamily="34" charset="-120"/>
              </a:rPr>
              <a:t>stays interpretable; absolute profits are not forecasts.</a:t>
            </a:r>
            <a:endParaRPr lang="en-US" sz="1575"/>
          </a:p>
        </p:txBody>
      </p:sp>
      <p:sp>
        <p:nvSpPr>
          <p:cNvPr id="27" name="Text 25"/>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8" name="Text 26"/>
          <p:cNvSpPr/>
          <p:nvPr/>
        </p:nvSpPr>
        <p:spPr>
          <a:xfrm>
            <a:off x="17155269" y="9715500"/>
            <a:ext cx="256431"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10</a:t>
            </a:r>
            <a:endParaRPr lang="en-US" sz="12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D67790-27EC-E965-196E-565A7BA06F9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E9C01FE-6B20-03C1-6596-EBD12AF9966A}"/>
              </a:ext>
            </a:extLst>
          </p:cNvPr>
          <p:cNvSpPr/>
          <p:nvPr/>
        </p:nvSpPr>
        <p:spPr>
          <a:xfrm>
            <a:off x="952500" y="666750"/>
            <a:ext cx="2795364"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03 · METHODOLOGY</a:t>
            </a:r>
            <a:endParaRPr lang="en-US" sz="1650"/>
          </a:p>
        </p:txBody>
      </p:sp>
      <p:sp>
        <p:nvSpPr>
          <p:cNvPr id="3" name="Text 1">
            <a:extLst>
              <a:ext uri="{FF2B5EF4-FFF2-40B4-BE49-F238E27FC236}">
                <a16:creationId xmlns:a16="http://schemas.microsoft.com/office/drawing/2014/main" id="{41DE89D7-B2D9-31D5-8369-540E4AD940EF}"/>
              </a:ext>
            </a:extLst>
          </p:cNvPr>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a:extLst>
              <a:ext uri="{FF2B5EF4-FFF2-40B4-BE49-F238E27FC236}">
                <a16:creationId xmlns:a16="http://schemas.microsoft.com/office/drawing/2014/main" id="{1DFC050D-5AA1-1B1E-9929-BFCF6531B826}"/>
              </a:ext>
            </a:extLst>
          </p:cNvPr>
          <p:cNvSpPr/>
          <p:nvPr/>
        </p:nvSpPr>
        <p:spPr>
          <a:xfrm>
            <a:off x="952500" y="1123950"/>
            <a:ext cx="18021300" cy="563761"/>
          </a:xfrm>
          <a:prstGeom prst="rect">
            <a:avLst/>
          </a:prstGeom>
          <a:noFill/>
          <a:ln/>
        </p:spPr>
        <p:txBody>
          <a:bodyPr wrap="square" lIns="25400" tIns="25400" rIns="25400" bIns="25400" rtlCol="0" anchor="t">
            <a:normAutofit fontScale="92500" lnSpcReduction="10000"/>
          </a:bodyPr>
          <a:lstStyle/>
          <a:p>
            <a:pPr>
              <a:lnSpc>
                <a:spcPct val="120000"/>
              </a:lnSpc>
            </a:pPr>
            <a:r>
              <a:rPr lang="en-US" sz="3450" b="1" dirty="0">
                <a:solidFill>
                  <a:srgbClr val="1A1A2E"/>
                </a:solidFill>
                <a:latin typeface="Arial"/>
                <a:cs typeface="Arial"/>
              </a:rPr>
              <a:t>Evaluation: an independent PyPSA-Eur baseline</a:t>
            </a:r>
            <a:endParaRPr lang="en-US" dirty="0"/>
          </a:p>
        </p:txBody>
      </p:sp>
      <p:sp>
        <p:nvSpPr>
          <p:cNvPr id="5" name="Shape 3">
            <a:extLst>
              <a:ext uri="{FF2B5EF4-FFF2-40B4-BE49-F238E27FC236}">
                <a16:creationId xmlns:a16="http://schemas.microsoft.com/office/drawing/2014/main" id="{1935712B-2EC7-4227-7F95-D21C6DD11F9F}"/>
              </a:ext>
            </a:extLst>
          </p:cNvPr>
          <p:cNvSpPr/>
          <p:nvPr/>
        </p:nvSpPr>
        <p:spPr>
          <a:xfrm>
            <a:off x="952500" y="4459486"/>
            <a:ext cx="5257800" cy="19050"/>
          </a:xfrm>
          <a:prstGeom prst="rect">
            <a:avLst/>
          </a:prstGeom>
          <a:solidFill>
            <a:srgbClr val="E2E8F0"/>
          </a:solidFill>
          <a:ln/>
        </p:spPr>
        <p:txBody>
          <a:bodyPr/>
          <a:lstStyle/>
          <a:p>
            <a:endParaRPr lang="en-GB"/>
          </a:p>
        </p:txBody>
      </p:sp>
      <p:sp>
        <p:nvSpPr>
          <p:cNvPr id="6" name="Shape 4">
            <a:extLst>
              <a:ext uri="{FF2B5EF4-FFF2-40B4-BE49-F238E27FC236}">
                <a16:creationId xmlns:a16="http://schemas.microsoft.com/office/drawing/2014/main" id="{26EEB0D6-D628-E72E-CD0E-23640928ADC9}"/>
              </a:ext>
            </a:extLst>
          </p:cNvPr>
          <p:cNvSpPr/>
          <p:nvPr/>
        </p:nvSpPr>
        <p:spPr>
          <a:xfrm>
            <a:off x="952500" y="2068711"/>
            <a:ext cx="5257800" cy="57150"/>
          </a:xfrm>
          <a:prstGeom prst="rect">
            <a:avLst/>
          </a:prstGeom>
          <a:solidFill>
            <a:srgbClr val="005293"/>
          </a:solidFill>
          <a:ln/>
        </p:spPr>
        <p:txBody>
          <a:bodyPr/>
          <a:lstStyle/>
          <a:p>
            <a:endParaRPr lang="en-GB"/>
          </a:p>
        </p:txBody>
      </p:sp>
      <p:sp>
        <p:nvSpPr>
          <p:cNvPr id="7" name="Shape 5">
            <a:extLst>
              <a:ext uri="{FF2B5EF4-FFF2-40B4-BE49-F238E27FC236}">
                <a16:creationId xmlns:a16="http://schemas.microsoft.com/office/drawing/2014/main" id="{C17479A7-033D-5845-DF94-A403CE950698}"/>
              </a:ext>
            </a:extLst>
          </p:cNvPr>
          <p:cNvSpPr/>
          <p:nvPr/>
        </p:nvSpPr>
        <p:spPr>
          <a:xfrm>
            <a:off x="952500" y="2068711"/>
            <a:ext cx="19050" cy="2409825"/>
          </a:xfrm>
          <a:prstGeom prst="rect">
            <a:avLst/>
          </a:prstGeom>
          <a:solidFill>
            <a:srgbClr val="E2E8F0"/>
          </a:solidFill>
          <a:ln/>
        </p:spPr>
        <p:txBody>
          <a:bodyPr/>
          <a:lstStyle/>
          <a:p>
            <a:endParaRPr lang="en-GB"/>
          </a:p>
        </p:txBody>
      </p:sp>
      <p:sp>
        <p:nvSpPr>
          <p:cNvPr id="8" name="Shape 6">
            <a:extLst>
              <a:ext uri="{FF2B5EF4-FFF2-40B4-BE49-F238E27FC236}">
                <a16:creationId xmlns:a16="http://schemas.microsoft.com/office/drawing/2014/main" id="{0F3229CE-4D68-B431-49C0-156D52C4885D}"/>
              </a:ext>
            </a:extLst>
          </p:cNvPr>
          <p:cNvSpPr/>
          <p:nvPr/>
        </p:nvSpPr>
        <p:spPr>
          <a:xfrm>
            <a:off x="6191250" y="2068711"/>
            <a:ext cx="19050" cy="2409825"/>
          </a:xfrm>
          <a:prstGeom prst="rect">
            <a:avLst/>
          </a:prstGeom>
          <a:solidFill>
            <a:srgbClr val="E2E8F0"/>
          </a:solidFill>
          <a:ln/>
        </p:spPr>
        <p:txBody>
          <a:bodyPr/>
          <a:lstStyle/>
          <a:p>
            <a:endParaRPr lang="en-GB"/>
          </a:p>
        </p:txBody>
      </p:sp>
      <p:sp>
        <p:nvSpPr>
          <p:cNvPr id="9" name="Text 7">
            <a:extLst>
              <a:ext uri="{FF2B5EF4-FFF2-40B4-BE49-F238E27FC236}">
                <a16:creationId xmlns:a16="http://schemas.microsoft.com/office/drawing/2014/main" id="{640AD9E3-7660-837C-9F11-E0C9CF15989B}"/>
              </a:ext>
            </a:extLst>
          </p:cNvPr>
          <p:cNvSpPr/>
          <p:nvPr/>
        </p:nvSpPr>
        <p:spPr>
          <a:xfrm>
            <a:off x="1314450" y="2430661"/>
            <a:ext cx="4987290" cy="314325"/>
          </a:xfrm>
          <a:prstGeom prst="rect">
            <a:avLst/>
          </a:prstGeom>
          <a:noFill/>
          <a:ln/>
        </p:spPr>
        <p:txBody>
          <a:bodyPr wrap="square" lIns="25400" tIns="25400" rIns="25400" bIns="25400" rtlCol="0" anchor="t">
            <a:normAutofit lnSpcReduction="10000"/>
          </a:bodyPr>
          <a:lstStyle/>
          <a:p>
            <a:pPr marL="0" indent="0" algn="l">
              <a:buNone/>
            </a:pPr>
            <a:r>
              <a:rPr lang="en-US" sz="1875" b="1">
                <a:solidFill>
                  <a:srgbClr val="1A1A2E"/>
                </a:solidFill>
                <a:latin typeface="Arial" pitchFamily="34" charset="0"/>
                <a:ea typeface="Arial" pitchFamily="34" charset="-122"/>
                <a:cs typeface="Arial" pitchFamily="34" charset="-120"/>
              </a:rPr>
              <a:t>1 · PyPSA-Eur nodal model</a:t>
            </a:r>
            <a:endParaRPr lang="en-US" sz="1875"/>
          </a:p>
        </p:txBody>
      </p:sp>
      <p:sp>
        <p:nvSpPr>
          <p:cNvPr id="10" name="Text 8">
            <a:extLst>
              <a:ext uri="{FF2B5EF4-FFF2-40B4-BE49-F238E27FC236}">
                <a16:creationId xmlns:a16="http://schemas.microsoft.com/office/drawing/2014/main" id="{794CA6AC-5DB4-B5EF-526C-2ACA338D1945}"/>
              </a:ext>
            </a:extLst>
          </p:cNvPr>
          <p:cNvSpPr/>
          <p:nvPr/>
        </p:nvSpPr>
        <p:spPr>
          <a:xfrm>
            <a:off x="1314450" y="2840236"/>
            <a:ext cx="4669917" cy="13525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4A4A6A"/>
                </a:solidFill>
                <a:latin typeface="Arial" pitchFamily="34" charset="0"/>
                <a:ea typeface="Arial" pitchFamily="34" charset="-122"/>
                <a:cs typeface="Arial" pitchFamily="34" charset="-120"/>
              </a:rPr>
              <a:t>Open European power-flow model (Hörsch et al. 2018). A nodal solve makes the hidden locational value explicit as nodal marginal prices (LMPs) — a physics-based ground truth for what our redispatch score approximates.</a:t>
            </a:r>
            <a:endParaRPr lang="en-US" sz="1725" dirty="0"/>
          </a:p>
        </p:txBody>
      </p:sp>
      <p:sp>
        <p:nvSpPr>
          <p:cNvPr id="11" name="Shape 9">
            <a:extLst>
              <a:ext uri="{FF2B5EF4-FFF2-40B4-BE49-F238E27FC236}">
                <a16:creationId xmlns:a16="http://schemas.microsoft.com/office/drawing/2014/main" id="{7A0CF5E0-D8B4-92F0-12EA-EDC351D2CE14}"/>
              </a:ext>
            </a:extLst>
          </p:cNvPr>
          <p:cNvSpPr/>
          <p:nvPr/>
        </p:nvSpPr>
        <p:spPr>
          <a:xfrm>
            <a:off x="6515100" y="4459486"/>
            <a:ext cx="5257800" cy="19050"/>
          </a:xfrm>
          <a:prstGeom prst="rect">
            <a:avLst/>
          </a:prstGeom>
          <a:solidFill>
            <a:srgbClr val="E2E8F0"/>
          </a:solidFill>
          <a:ln/>
        </p:spPr>
        <p:txBody>
          <a:bodyPr/>
          <a:lstStyle/>
          <a:p>
            <a:endParaRPr lang="en-GB"/>
          </a:p>
        </p:txBody>
      </p:sp>
      <p:sp>
        <p:nvSpPr>
          <p:cNvPr id="12" name="Shape 10">
            <a:extLst>
              <a:ext uri="{FF2B5EF4-FFF2-40B4-BE49-F238E27FC236}">
                <a16:creationId xmlns:a16="http://schemas.microsoft.com/office/drawing/2014/main" id="{CD8D4E22-821B-80CE-06B9-0FFEC8897B65}"/>
              </a:ext>
            </a:extLst>
          </p:cNvPr>
          <p:cNvSpPr/>
          <p:nvPr/>
        </p:nvSpPr>
        <p:spPr>
          <a:xfrm>
            <a:off x="6515100" y="2068711"/>
            <a:ext cx="5257800" cy="57150"/>
          </a:xfrm>
          <a:prstGeom prst="rect">
            <a:avLst/>
          </a:prstGeom>
          <a:solidFill>
            <a:srgbClr val="005293"/>
          </a:solidFill>
          <a:ln/>
        </p:spPr>
        <p:txBody>
          <a:bodyPr/>
          <a:lstStyle/>
          <a:p>
            <a:endParaRPr lang="en-GB"/>
          </a:p>
        </p:txBody>
      </p:sp>
      <p:sp>
        <p:nvSpPr>
          <p:cNvPr id="13" name="Shape 11">
            <a:extLst>
              <a:ext uri="{FF2B5EF4-FFF2-40B4-BE49-F238E27FC236}">
                <a16:creationId xmlns:a16="http://schemas.microsoft.com/office/drawing/2014/main" id="{69A469CD-5F84-19E3-1C78-28B44D6319A7}"/>
              </a:ext>
            </a:extLst>
          </p:cNvPr>
          <p:cNvSpPr/>
          <p:nvPr/>
        </p:nvSpPr>
        <p:spPr>
          <a:xfrm>
            <a:off x="6515100" y="2068711"/>
            <a:ext cx="19050" cy="2409825"/>
          </a:xfrm>
          <a:prstGeom prst="rect">
            <a:avLst/>
          </a:prstGeom>
          <a:solidFill>
            <a:srgbClr val="E2E8F0"/>
          </a:solidFill>
          <a:ln/>
        </p:spPr>
        <p:txBody>
          <a:bodyPr/>
          <a:lstStyle/>
          <a:p>
            <a:endParaRPr lang="en-GB"/>
          </a:p>
        </p:txBody>
      </p:sp>
      <p:sp>
        <p:nvSpPr>
          <p:cNvPr id="14" name="Shape 12">
            <a:extLst>
              <a:ext uri="{FF2B5EF4-FFF2-40B4-BE49-F238E27FC236}">
                <a16:creationId xmlns:a16="http://schemas.microsoft.com/office/drawing/2014/main" id="{EAA430AE-C475-AA4A-5305-2B02264FD8BA}"/>
              </a:ext>
            </a:extLst>
          </p:cNvPr>
          <p:cNvSpPr/>
          <p:nvPr/>
        </p:nvSpPr>
        <p:spPr>
          <a:xfrm>
            <a:off x="11753850" y="2068711"/>
            <a:ext cx="19050" cy="2409825"/>
          </a:xfrm>
          <a:prstGeom prst="rect">
            <a:avLst/>
          </a:prstGeom>
          <a:solidFill>
            <a:srgbClr val="E2E8F0"/>
          </a:solidFill>
          <a:ln/>
        </p:spPr>
        <p:txBody>
          <a:bodyPr/>
          <a:lstStyle/>
          <a:p>
            <a:endParaRPr lang="en-GB"/>
          </a:p>
        </p:txBody>
      </p:sp>
      <p:sp>
        <p:nvSpPr>
          <p:cNvPr id="15" name="Text 13">
            <a:extLst>
              <a:ext uri="{FF2B5EF4-FFF2-40B4-BE49-F238E27FC236}">
                <a16:creationId xmlns:a16="http://schemas.microsoft.com/office/drawing/2014/main" id="{75CD3C22-3869-8D62-C85E-3C86AEEDB124}"/>
              </a:ext>
            </a:extLst>
          </p:cNvPr>
          <p:cNvSpPr/>
          <p:nvPr/>
        </p:nvSpPr>
        <p:spPr>
          <a:xfrm>
            <a:off x="6877050" y="2430661"/>
            <a:ext cx="4987290" cy="314325"/>
          </a:xfrm>
          <a:prstGeom prst="rect">
            <a:avLst/>
          </a:prstGeom>
          <a:noFill/>
          <a:ln/>
        </p:spPr>
        <p:txBody>
          <a:bodyPr wrap="square" lIns="25400" tIns="25400" rIns="25400" bIns="25400" rtlCol="0" anchor="t">
            <a:normAutofit lnSpcReduction="10000"/>
          </a:bodyPr>
          <a:lstStyle/>
          <a:p>
            <a:pPr marL="0" indent="0" algn="l">
              <a:buNone/>
            </a:pPr>
            <a:r>
              <a:rPr lang="en-US" sz="1875" b="1">
                <a:solidFill>
                  <a:srgbClr val="1A1A2E"/>
                </a:solidFill>
                <a:latin typeface="Arial" pitchFamily="34" charset="0"/>
                <a:ea typeface="Arial" pitchFamily="34" charset="-122"/>
                <a:cs typeface="Arial" pitchFamily="34" charset="-120"/>
              </a:rPr>
              <a:t>2 · Same valuation operator</a:t>
            </a:r>
            <a:endParaRPr lang="en-US" sz="1875"/>
          </a:p>
        </p:txBody>
      </p:sp>
      <p:sp>
        <p:nvSpPr>
          <p:cNvPr id="16" name="Text 14">
            <a:extLst>
              <a:ext uri="{FF2B5EF4-FFF2-40B4-BE49-F238E27FC236}">
                <a16:creationId xmlns:a16="http://schemas.microsoft.com/office/drawing/2014/main" id="{3F3CCB2F-A0F7-A058-C4EF-4CEDD2D4924E}"/>
              </a:ext>
            </a:extLst>
          </p:cNvPr>
          <p:cNvSpPr/>
          <p:nvPr/>
        </p:nvSpPr>
        <p:spPr>
          <a:xfrm>
            <a:off x="6877050" y="2840236"/>
            <a:ext cx="4669917" cy="10239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a:solidFill>
                  <a:srgbClr val="4A4A6A"/>
                </a:solidFill>
                <a:latin typeface="Arial" pitchFamily="34" charset="0"/>
                <a:ea typeface="Arial" pitchFamily="34" charset="-122"/>
                <a:cs typeface="Arial" pitchFamily="34" charset="-120"/>
              </a:rPr>
              <a:t>The PyPSA LMPs are fed into the identical arbitrage heuristic and the same 50 MW / 4 h battery. Only the price signal differs, so any ranking gap is due to the signal, not the method.</a:t>
            </a:r>
            <a:endParaRPr lang="en-US" sz="1725"/>
          </a:p>
        </p:txBody>
      </p:sp>
      <p:sp>
        <p:nvSpPr>
          <p:cNvPr id="17" name="Shape 15">
            <a:extLst>
              <a:ext uri="{FF2B5EF4-FFF2-40B4-BE49-F238E27FC236}">
                <a16:creationId xmlns:a16="http://schemas.microsoft.com/office/drawing/2014/main" id="{1EFE4DB8-74CD-CFBE-1E89-816B92F82342}"/>
              </a:ext>
            </a:extLst>
          </p:cNvPr>
          <p:cNvSpPr/>
          <p:nvPr/>
        </p:nvSpPr>
        <p:spPr>
          <a:xfrm>
            <a:off x="12077700" y="4459486"/>
            <a:ext cx="5257800" cy="19050"/>
          </a:xfrm>
          <a:prstGeom prst="rect">
            <a:avLst/>
          </a:prstGeom>
          <a:solidFill>
            <a:srgbClr val="E2E8F0"/>
          </a:solidFill>
          <a:ln/>
        </p:spPr>
        <p:txBody>
          <a:bodyPr/>
          <a:lstStyle/>
          <a:p>
            <a:endParaRPr lang="en-GB"/>
          </a:p>
        </p:txBody>
      </p:sp>
      <p:sp>
        <p:nvSpPr>
          <p:cNvPr id="18" name="Shape 16">
            <a:extLst>
              <a:ext uri="{FF2B5EF4-FFF2-40B4-BE49-F238E27FC236}">
                <a16:creationId xmlns:a16="http://schemas.microsoft.com/office/drawing/2014/main" id="{BAB80C42-4541-1C6D-D472-FA160BB5D2AA}"/>
              </a:ext>
            </a:extLst>
          </p:cNvPr>
          <p:cNvSpPr/>
          <p:nvPr/>
        </p:nvSpPr>
        <p:spPr>
          <a:xfrm>
            <a:off x="12077700" y="2068711"/>
            <a:ext cx="5257800" cy="57150"/>
          </a:xfrm>
          <a:prstGeom prst="rect">
            <a:avLst/>
          </a:prstGeom>
          <a:solidFill>
            <a:srgbClr val="A2AD00"/>
          </a:solidFill>
          <a:ln/>
        </p:spPr>
        <p:txBody>
          <a:bodyPr/>
          <a:lstStyle/>
          <a:p>
            <a:endParaRPr lang="en-GB"/>
          </a:p>
        </p:txBody>
      </p:sp>
      <p:sp>
        <p:nvSpPr>
          <p:cNvPr id="19" name="Shape 17">
            <a:extLst>
              <a:ext uri="{FF2B5EF4-FFF2-40B4-BE49-F238E27FC236}">
                <a16:creationId xmlns:a16="http://schemas.microsoft.com/office/drawing/2014/main" id="{B8C11546-1A74-6D55-02ED-091971584E3B}"/>
              </a:ext>
            </a:extLst>
          </p:cNvPr>
          <p:cNvSpPr/>
          <p:nvPr/>
        </p:nvSpPr>
        <p:spPr>
          <a:xfrm>
            <a:off x="12077700" y="2068711"/>
            <a:ext cx="19050" cy="2409825"/>
          </a:xfrm>
          <a:prstGeom prst="rect">
            <a:avLst/>
          </a:prstGeom>
          <a:solidFill>
            <a:srgbClr val="E2E8F0"/>
          </a:solidFill>
          <a:ln/>
        </p:spPr>
        <p:txBody>
          <a:bodyPr/>
          <a:lstStyle/>
          <a:p>
            <a:endParaRPr lang="en-GB"/>
          </a:p>
        </p:txBody>
      </p:sp>
      <p:sp>
        <p:nvSpPr>
          <p:cNvPr id="20" name="Shape 18">
            <a:extLst>
              <a:ext uri="{FF2B5EF4-FFF2-40B4-BE49-F238E27FC236}">
                <a16:creationId xmlns:a16="http://schemas.microsoft.com/office/drawing/2014/main" id="{003B3C2E-FC07-D421-9CD7-8A3D511270C3}"/>
              </a:ext>
            </a:extLst>
          </p:cNvPr>
          <p:cNvSpPr/>
          <p:nvPr/>
        </p:nvSpPr>
        <p:spPr>
          <a:xfrm>
            <a:off x="17316450" y="2068711"/>
            <a:ext cx="19050" cy="2409825"/>
          </a:xfrm>
          <a:prstGeom prst="rect">
            <a:avLst/>
          </a:prstGeom>
          <a:solidFill>
            <a:srgbClr val="E2E8F0"/>
          </a:solidFill>
          <a:ln/>
        </p:spPr>
        <p:txBody>
          <a:bodyPr/>
          <a:lstStyle/>
          <a:p>
            <a:endParaRPr lang="en-GB"/>
          </a:p>
        </p:txBody>
      </p:sp>
      <p:sp>
        <p:nvSpPr>
          <p:cNvPr id="21" name="Text 19">
            <a:extLst>
              <a:ext uri="{FF2B5EF4-FFF2-40B4-BE49-F238E27FC236}">
                <a16:creationId xmlns:a16="http://schemas.microsoft.com/office/drawing/2014/main" id="{358190F5-7F14-8D30-987D-4F1CC820E49F}"/>
              </a:ext>
            </a:extLst>
          </p:cNvPr>
          <p:cNvSpPr/>
          <p:nvPr/>
        </p:nvSpPr>
        <p:spPr>
          <a:xfrm>
            <a:off x="12439650" y="2430661"/>
            <a:ext cx="4987290" cy="314325"/>
          </a:xfrm>
          <a:prstGeom prst="rect">
            <a:avLst/>
          </a:prstGeom>
          <a:noFill/>
          <a:ln/>
        </p:spPr>
        <p:txBody>
          <a:bodyPr wrap="square" lIns="25400" tIns="25400" rIns="25400" bIns="25400" rtlCol="0" anchor="t">
            <a:normAutofit lnSpcReduction="10000"/>
          </a:bodyPr>
          <a:lstStyle/>
          <a:p>
            <a:pPr marL="0" indent="0" algn="l">
              <a:buNone/>
            </a:pPr>
            <a:r>
              <a:rPr lang="en-US" sz="1875" b="1">
                <a:solidFill>
                  <a:srgbClr val="1A1A2E"/>
                </a:solidFill>
                <a:latin typeface="Arial" pitchFamily="34" charset="0"/>
                <a:ea typeface="Arial" pitchFamily="34" charset="-122"/>
                <a:cs typeface="Arial" pitchFamily="34" charset="-120"/>
              </a:rPr>
              <a:t>3 · Two spatial resolutions</a:t>
            </a:r>
            <a:endParaRPr lang="en-US" sz="1875"/>
          </a:p>
        </p:txBody>
      </p:sp>
      <p:sp>
        <p:nvSpPr>
          <p:cNvPr id="22" name="Text 20">
            <a:extLst>
              <a:ext uri="{FF2B5EF4-FFF2-40B4-BE49-F238E27FC236}">
                <a16:creationId xmlns:a16="http://schemas.microsoft.com/office/drawing/2014/main" id="{6ED9AF6E-D6B0-4939-67C4-B4BF784EAC74}"/>
              </a:ext>
            </a:extLst>
          </p:cNvPr>
          <p:cNvSpPr/>
          <p:nvPr/>
        </p:nvSpPr>
        <p:spPr>
          <a:xfrm>
            <a:off x="12439650" y="2840236"/>
            <a:ext cx="4669917" cy="1070074"/>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725">
                <a:solidFill>
                  <a:srgbClr val="4A4A6A"/>
                </a:solidFill>
                <a:latin typeface="Arial" pitchFamily="34" charset="0"/>
                <a:ea typeface="Arial" pitchFamily="34" charset="-122"/>
                <a:cs typeface="Arial" pitchFamily="34" charset="-120"/>
              </a:rPr>
              <a:t>Europe clustered to 20 and 30 nodes → 10 and 17 German nodes. Reporting both checks that agreement is stable as the benchmark is refined; cell scores are pooled to the nearest node.</a:t>
            </a:r>
            <a:endParaRPr lang="en-US" sz="1725"/>
          </a:p>
        </p:txBody>
      </p:sp>
      <p:sp>
        <p:nvSpPr>
          <p:cNvPr id="23" name="Shape 21">
            <a:extLst>
              <a:ext uri="{FF2B5EF4-FFF2-40B4-BE49-F238E27FC236}">
                <a16:creationId xmlns:a16="http://schemas.microsoft.com/office/drawing/2014/main" id="{D8D995D3-6312-EFF6-A2BD-360532CEEF45}"/>
              </a:ext>
            </a:extLst>
          </p:cNvPr>
          <p:cNvSpPr/>
          <p:nvPr/>
        </p:nvSpPr>
        <p:spPr>
          <a:xfrm>
            <a:off x="952500" y="4859536"/>
            <a:ext cx="16383000" cy="1348680"/>
          </a:xfrm>
          <a:prstGeom prst="rect">
            <a:avLst/>
          </a:prstGeom>
          <a:solidFill>
            <a:srgbClr val="0F2A43"/>
          </a:solidFill>
          <a:ln/>
        </p:spPr>
        <p:txBody>
          <a:bodyPr/>
          <a:lstStyle/>
          <a:p>
            <a:endParaRPr lang="en-GB"/>
          </a:p>
        </p:txBody>
      </p:sp>
      <p:sp>
        <p:nvSpPr>
          <p:cNvPr id="24" name="Text 22">
            <a:extLst>
              <a:ext uri="{FF2B5EF4-FFF2-40B4-BE49-F238E27FC236}">
                <a16:creationId xmlns:a16="http://schemas.microsoft.com/office/drawing/2014/main" id="{741315A3-BD04-33A2-0FC1-CF6609219152}"/>
              </a:ext>
            </a:extLst>
          </p:cNvPr>
          <p:cNvSpPr/>
          <p:nvPr/>
        </p:nvSpPr>
        <p:spPr>
          <a:xfrm>
            <a:off x="3786336" y="5290989"/>
            <a:ext cx="4930646" cy="523875"/>
          </a:xfrm>
          <a:prstGeom prst="rect">
            <a:avLst/>
          </a:prstGeom>
          <a:noFill/>
          <a:ln/>
        </p:spPr>
        <p:txBody>
          <a:bodyPr wrap="square" lIns="25400" tIns="25400" rIns="25400" bIns="25400" rtlCol="0" anchor="t">
            <a:normAutofit/>
          </a:bodyPr>
          <a:lstStyle/>
          <a:p>
            <a:pPr marL="0" indent="0" algn="l">
              <a:buNone/>
            </a:pPr>
            <a:r>
              <a:rPr lang="en-US" sz="3000" i="1">
                <a:solidFill>
                  <a:srgbClr val="FFFFFF"/>
                </a:solidFill>
                <a:latin typeface="Georgia" pitchFamily="34" charset="0"/>
                <a:ea typeface="Georgia" pitchFamily="34" charset="-122"/>
                <a:cs typeface="Georgia" pitchFamily="34" charset="-120"/>
              </a:rPr>
              <a:t>Spearman ρ  ·  Kendall τ</a:t>
            </a:r>
            <a:endParaRPr lang="en-US" sz="3000"/>
          </a:p>
        </p:txBody>
      </p:sp>
      <p:sp>
        <p:nvSpPr>
          <p:cNvPr id="25" name="Text 23">
            <a:extLst>
              <a:ext uri="{FF2B5EF4-FFF2-40B4-BE49-F238E27FC236}">
                <a16:creationId xmlns:a16="http://schemas.microsoft.com/office/drawing/2014/main" id="{76DBFD27-8893-5539-EBFD-667AA1686CEF}"/>
              </a:ext>
            </a:extLst>
          </p:cNvPr>
          <p:cNvSpPr/>
          <p:nvPr/>
        </p:nvSpPr>
        <p:spPr>
          <a:xfrm>
            <a:off x="8840242" y="5202436"/>
            <a:ext cx="5831265" cy="70098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a:solidFill>
                  <a:srgbClr val="98C6EA"/>
                </a:solidFill>
                <a:latin typeface="Arial" pitchFamily="34" charset="0"/>
                <a:ea typeface="Arial" pitchFamily="34" charset="-122"/>
                <a:cs typeface="Arial" pitchFamily="34" charset="-120"/>
              </a:rPr>
              <a:t>Rank-correlate the two node orderings; also relate both to the nodal price spread (95th–5th pct), the primary driver of arbitrage value.</a:t>
            </a:r>
            <a:endParaRPr lang="en-US" sz="1800"/>
          </a:p>
        </p:txBody>
      </p:sp>
      <p:sp>
        <p:nvSpPr>
          <p:cNvPr id="26" name="Text 24">
            <a:extLst>
              <a:ext uri="{FF2B5EF4-FFF2-40B4-BE49-F238E27FC236}">
                <a16:creationId xmlns:a16="http://schemas.microsoft.com/office/drawing/2014/main" id="{3F8D310F-5C67-D1A5-1B64-5DAB3BCCCFAD}"/>
              </a:ext>
            </a:extLst>
          </p:cNvPr>
          <p:cNvSpPr/>
          <p:nvPr/>
        </p:nvSpPr>
        <p:spPr>
          <a:xfrm>
            <a:off x="952500" y="6513016"/>
            <a:ext cx="16874490" cy="6381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a:solidFill>
                  <a:srgbClr val="6B7280"/>
                </a:solidFill>
                <a:latin typeface="Arial" pitchFamily="34" charset="0"/>
                <a:ea typeface="Arial" pitchFamily="34" charset="-122"/>
                <a:cs typeface="Arial" pitchFamily="34" charset="-120"/>
              </a:rPr>
              <a:t>Caveat: system year 2025 (capacities, costs, CO₂ budget) is combined with weather year 2013 (renewables &amp; load). The comparison is purely ordinal — the spatial pattern of congestion matters, not calibrated price levels.</a:t>
            </a:r>
            <a:endParaRPr lang="en-US" sz="1575"/>
          </a:p>
        </p:txBody>
      </p:sp>
      <p:sp>
        <p:nvSpPr>
          <p:cNvPr id="27" name="Text 25">
            <a:extLst>
              <a:ext uri="{FF2B5EF4-FFF2-40B4-BE49-F238E27FC236}">
                <a16:creationId xmlns:a16="http://schemas.microsoft.com/office/drawing/2014/main" id="{0870333B-EC09-66CE-8522-F62DBE862853}"/>
              </a:ext>
            </a:extLst>
          </p:cNvPr>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8" name="Text 26">
            <a:extLst>
              <a:ext uri="{FF2B5EF4-FFF2-40B4-BE49-F238E27FC236}">
                <a16:creationId xmlns:a16="http://schemas.microsoft.com/office/drawing/2014/main" id="{2BB53B07-5C85-7FEA-A48A-078E25F76ED4}"/>
              </a:ext>
            </a:extLst>
          </p:cNvPr>
          <p:cNvSpPr/>
          <p:nvPr/>
        </p:nvSpPr>
        <p:spPr>
          <a:xfrm>
            <a:off x="17155269" y="9715500"/>
            <a:ext cx="256431"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10</a:t>
            </a:r>
            <a:endParaRPr lang="en-US" sz="1275"/>
          </a:p>
        </p:txBody>
      </p:sp>
      <p:sp>
        <p:nvSpPr>
          <p:cNvPr id="29" name="Rectangle 28">
            <a:extLst>
              <a:ext uri="{FF2B5EF4-FFF2-40B4-BE49-F238E27FC236}">
                <a16:creationId xmlns:a16="http://schemas.microsoft.com/office/drawing/2014/main" id="{CFBC4B66-2E35-A6D6-3CA0-99D28B7A9021}"/>
              </a:ext>
            </a:extLst>
          </p:cNvPr>
          <p:cNvSpPr/>
          <p:nvPr/>
        </p:nvSpPr>
        <p:spPr>
          <a:xfrm>
            <a:off x="1000000" y="8450000"/>
            <a:ext cx="6600000" cy="100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slide^:</a:t>
            </a:r>
          </a:p>
          <a:p>
            <a:pPr algn="ctr"/>
            <a:r>
              <a:rPr lang="en-US" b="1" dirty="0">
                <a:solidFill>
                  <a:srgbClr val="1A1A2E"/>
                </a:solidFill>
                <a:latin typeface="Arial"/>
                <a:cs typeface="Arial"/>
              </a:rPr>
              <a:t>Comparing to baseline</a:t>
            </a:r>
            <a:endParaRPr lang="en-US" dirty="0"/>
          </a:p>
          <a:p>
            <a:pPr algn="ctr"/>
            <a:endParaRPr lang="en-US" dirty="0"/>
          </a:p>
        </p:txBody>
      </p:sp>
    </p:spTree>
    <p:extLst>
      <p:ext uri="{BB962C8B-B14F-4D97-AF65-F5344CB8AC3E}">
        <p14:creationId xmlns:p14="http://schemas.microsoft.com/office/powerpoint/2010/main" val="3565082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41A6E-6333-AE25-9930-C21C1BE8D85A}"/>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27D596C-39C5-BF70-DF57-5D9B16AA761D}"/>
              </a:ext>
            </a:extLst>
          </p:cNvPr>
          <p:cNvSpPr/>
          <p:nvPr/>
        </p:nvSpPr>
        <p:spPr>
          <a:xfrm>
            <a:off x="-2" y="-2"/>
            <a:ext cx="18288000" cy="10287000"/>
          </a:xfrm>
          <a:prstGeom prst="rect">
            <a:avLst/>
          </a:prstGeom>
          <a:solidFill>
            <a:srgbClr val="005293">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gn="ctr">
              <a:lnSpc>
                <a:spcPct val="114000"/>
              </a:lnSpc>
            </a:pPr>
            <a:endParaRPr lang="en-US"/>
          </a:p>
        </p:txBody>
      </p:sp>
      <p:graphicFrame>
        <p:nvGraphicFramePr>
          <p:cNvPr id="6" name="think-cell data - do not delete" hidden="1">
            <a:extLst>
              <a:ext uri="{FF2B5EF4-FFF2-40B4-BE49-F238E27FC236}">
                <a16:creationId xmlns:a16="http://schemas.microsoft.com/office/drawing/2014/main" id="{523C6C50-F79E-DA92-301E-82B746A2C1BD}"/>
              </a:ext>
            </a:extLst>
          </p:cNvPr>
          <p:cNvGraphicFramePr>
            <a:graphicFrameLocks/>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404" imgH="403" progId="TCLayout.ActiveDocument.1">
                  <p:embed/>
                </p:oleObj>
              </mc:Choice>
              <mc:Fallback>
                <p:oleObj name="think-cell Slide" r:id="rId4" imgW="404" imgH="403" progId="TCLayout.ActiveDocument.1">
                  <p:embed/>
                  <p:pic>
                    <p:nvPicPr>
                      <p:cNvPr id="6" name="think-cell data - do not delete" hidden="1">
                        <a:extLst>
                          <a:ext uri="{FF2B5EF4-FFF2-40B4-BE49-F238E27FC236}">
                            <a16:creationId xmlns:a16="http://schemas.microsoft.com/office/drawing/2014/main" id="{523C6C50-F79E-DA92-301E-82B746A2C1BD}"/>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1026" name="Picture 2" descr="Offshore wind energy | RVO.nl">
            <a:extLst>
              <a:ext uri="{FF2B5EF4-FFF2-40B4-BE49-F238E27FC236}">
                <a16:creationId xmlns:a16="http://schemas.microsoft.com/office/drawing/2014/main" id="{526B5E17-E8D1-5112-BC74-34610FC0918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26325" b="35318"/>
          <a:stretch>
            <a:fillRect/>
          </a:stretch>
        </p:blipFill>
        <p:spPr bwMode="auto">
          <a:xfrm>
            <a:off x="0" y="-1"/>
            <a:ext cx="18288000" cy="10287002"/>
          </a:xfrm>
          <a:prstGeom prst="rect">
            <a:avLst/>
          </a:prstGeom>
          <a:noFill/>
        </p:spPr>
      </p:pic>
      <p:pic>
        <p:nvPicPr>
          <p:cNvPr id="11" name="Picture 10">
            <a:extLst>
              <a:ext uri="{FF2B5EF4-FFF2-40B4-BE49-F238E27FC236}">
                <a16:creationId xmlns:a16="http://schemas.microsoft.com/office/drawing/2014/main" id="{23C7489A-70A7-068A-237A-FC13EDA35B61}"/>
              </a:ext>
            </a:extLst>
          </p:cNvPr>
          <p:cNvPicPr>
            <a:picLocks noChangeAspect="1"/>
          </p:cNvPicPr>
          <p:nvPr/>
        </p:nvPicPr>
        <p:blipFill>
          <a:blip r:embed="rId7"/>
          <a:stretch>
            <a:fillRect/>
          </a:stretch>
        </p:blipFill>
        <p:spPr>
          <a:xfrm>
            <a:off x="16623018" y="531203"/>
            <a:ext cx="1059148" cy="965774"/>
          </a:xfrm>
          <a:prstGeom prst="rect">
            <a:avLst/>
          </a:prstGeom>
        </p:spPr>
      </p:pic>
      <p:sp>
        <p:nvSpPr>
          <p:cNvPr id="2" name="Titel 4">
            <a:extLst>
              <a:ext uri="{FF2B5EF4-FFF2-40B4-BE49-F238E27FC236}">
                <a16:creationId xmlns:a16="http://schemas.microsoft.com/office/drawing/2014/main" id="{6D48CE73-B274-A163-750C-E21ED661AA27}"/>
              </a:ext>
            </a:extLst>
          </p:cNvPr>
          <p:cNvSpPr txBox="1">
            <a:spLocks/>
          </p:cNvSpPr>
          <p:nvPr/>
        </p:nvSpPr>
        <p:spPr>
          <a:xfrm>
            <a:off x="942981" y="2248798"/>
            <a:ext cx="17017998" cy="200840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14999"/>
              </a:lnSpc>
              <a:spcBef>
                <a:spcPts val="0"/>
              </a:spcBef>
              <a:spcAft>
                <a:spcPts val="0"/>
              </a:spcAft>
            </a:pPr>
            <a:r>
              <a:rPr lang="en-US" sz="6400" b="1" dirty="0">
                <a:solidFill>
                  <a:srgbClr val="0070C0"/>
                </a:solidFill>
                <a:latin typeface="Arial Nova"/>
                <a:cs typeface="Arial"/>
              </a:rPr>
              <a:t>Chapter 4:</a:t>
            </a:r>
          </a:p>
          <a:p>
            <a:pPr>
              <a:lnSpc>
                <a:spcPct val="114999"/>
              </a:lnSpc>
              <a:spcBef>
                <a:spcPts val="0"/>
              </a:spcBef>
              <a:spcAft>
                <a:spcPts val="0"/>
              </a:spcAft>
            </a:pPr>
            <a:r>
              <a:rPr lang="en-US" sz="6400" b="1" dirty="0">
                <a:solidFill>
                  <a:srgbClr val="0070C0"/>
                </a:solidFill>
                <a:latin typeface="Arial Nova"/>
                <a:cs typeface="Arial"/>
              </a:rPr>
              <a:t>Results</a:t>
            </a:r>
            <a:endParaRPr lang="en-US" sz="7200" b="1" dirty="0">
              <a:latin typeface="Arial Nova" panose="020F0502020204030204" pitchFamily="34" charset="0"/>
            </a:endParaRPr>
          </a:p>
        </p:txBody>
      </p:sp>
    </p:spTree>
    <p:extLst>
      <p:ext uri="{BB962C8B-B14F-4D97-AF65-F5344CB8AC3E}">
        <p14:creationId xmlns:p14="http://schemas.microsoft.com/office/powerpoint/2010/main" val="1387392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3826416"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04 · RESULTS — MATCHING</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4099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3300" b="1">
                <a:solidFill>
                  <a:srgbClr val="1A1A2E"/>
                </a:solidFill>
                <a:latin typeface="Arial" pitchFamily="34" charset="0"/>
                <a:ea typeface="Arial" pitchFamily="34" charset="-122"/>
                <a:cs typeface="Arial" pitchFamily="34" charset="-120"/>
              </a:rPr>
              <a:t>Three quarters of all events matched with confidence above 0.8</a:t>
            </a:r>
            <a:endParaRPr lang="en-US" sz="3300"/>
          </a:p>
        </p:txBody>
      </p:sp>
      <p:sp>
        <p:nvSpPr>
          <p:cNvPr id="5" name="Shape 3"/>
          <p:cNvSpPr/>
          <p:nvPr/>
        </p:nvSpPr>
        <p:spPr>
          <a:xfrm>
            <a:off x="952500" y="1950690"/>
            <a:ext cx="8020050" cy="3612059"/>
          </a:xfrm>
          <a:prstGeom prst="rect">
            <a:avLst/>
          </a:prstGeom>
          <a:ln w="9525">
            <a:solidFill>
              <a:srgbClr val="E2E8F0"/>
            </a:solidFill>
            <a:prstDash val="solid"/>
          </a:ln>
        </p:spPr>
        <p:txBody>
          <a:bodyPr/>
          <a:lstStyle/>
          <a:p>
            <a:endParaRPr lang="en-GB"/>
          </a:p>
        </p:txBody>
      </p:sp>
      <p:pic>
        <p:nvPicPr>
          <p:cNvPr id="6" name="Image 0" descr="preencoded.png"/>
          <p:cNvPicPr>
            <a:picLocks noChangeAspect="1"/>
          </p:cNvPicPr>
          <p:nvPr/>
        </p:nvPicPr>
        <p:blipFill>
          <a:blip r:embed="rId3"/>
          <a:stretch>
            <a:fillRect/>
          </a:stretch>
        </p:blipFill>
        <p:spPr>
          <a:xfrm>
            <a:off x="952500" y="1950690"/>
            <a:ext cx="8020050" cy="3612059"/>
          </a:xfrm>
          <a:prstGeom prst="rect">
            <a:avLst/>
          </a:prstGeom>
        </p:spPr>
      </p:pic>
      <p:sp>
        <p:nvSpPr>
          <p:cNvPr id="7" name="Text 4"/>
          <p:cNvSpPr/>
          <p:nvPr/>
        </p:nvSpPr>
        <p:spPr>
          <a:xfrm>
            <a:off x="952500" y="5677049"/>
            <a:ext cx="8801100" cy="257175"/>
          </a:xfrm>
          <a:prstGeom prst="rect">
            <a:avLst/>
          </a:prstGeom>
          <a:noFill/>
          <a:ln/>
        </p:spPr>
        <p:txBody>
          <a:bodyPr wrap="square" lIns="25400" tIns="25400" rIns="25400" bIns="25400" rtlCol="0" anchor="t">
            <a:normAutofit lnSpcReduction="10000"/>
          </a:bodyPr>
          <a:lstStyle/>
          <a:p>
            <a:pPr marL="0" indent="0" algn="l">
              <a:buNone/>
            </a:pPr>
            <a:r>
              <a:rPr lang="en-US" sz="1500">
                <a:solidFill>
                  <a:srgbClr val="6B7280"/>
                </a:solidFill>
                <a:latin typeface="Arial" pitchFamily="34" charset="0"/>
                <a:ea typeface="Arial" pitchFamily="34" charset="-122"/>
                <a:cs typeface="Arial" pitchFamily="34" charset="-120"/>
              </a:rPr>
              <a:t>Final confidence scores — 56,216 events in (0.95, 1.0], 20,553 in (0.8, 0.95]</a:t>
            </a:r>
            <a:endParaRPr lang="en-US" sz="1500"/>
          </a:p>
        </p:txBody>
      </p:sp>
      <p:sp>
        <p:nvSpPr>
          <p:cNvPr id="8" name="Shape 5"/>
          <p:cNvSpPr/>
          <p:nvPr/>
        </p:nvSpPr>
        <p:spPr>
          <a:xfrm>
            <a:off x="9334500" y="1950690"/>
            <a:ext cx="8020050" cy="3612059"/>
          </a:xfrm>
          <a:prstGeom prst="rect">
            <a:avLst/>
          </a:prstGeom>
          <a:ln w="9525">
            <a:solidFill>
              <a:srgbClr val="E2E8F0"/>
            </a:solidFill>
            <a:prstDash val="solid"/>
          </a:ln>
        </p:spPr>
        <p:txBody>
          <a:bodyPr/>
          <a:lstStyle/>
          <a:p>
            <a:endParaRPr lang="en-GB"/>
          </a:p>
        </p:txBody>
      </p:sp>
      <p:pic>
        <p:nvPicPr>
          <p:cNvPr id="9" name="Image 1" descr="preencoded.png"/>
          <p:cNvPicPr>
            <a:picLocks noChangeAspect="1"/>
          </p:cNvPicPr>
          <p:nvPr/>
        </p:nvPicPr>
        <p:blipFill>
          <a:blip r:embed="rId4"/>
          <a:stretch>
            <a:fillRect/>
          </a:stretch>
        </p:blipFill>
        <p:spPr>
          <a:xfrm>
            <a:off x="9334500" y="1950690"/>
            <a:ext cx="8020050" cy="3612059"/>
          </a:xfrm>
          <a:prstGeom prst="rect">
            <a:avLst/>
          </a:prstGeom>
        </p:spPr>
      </p:pic>
      <p:sp>
        <p:nvSpPr>
          <p:cNvPr id="10" name="Text 6"/>
          <p:cNvSpPr/>
          <p:nvPr/>
        </p:nvSpPr>
        <p:spPr>
          <a:xfrm>
            <a:off x="9334500" y="5677049"/>
            <a:ext cx="8241030" cy="476250"/>
          </a:xfrm>
          <a:prstGeom prst="rect">
            <a:avLst/>
          </a:prstGeom>
          <a:noFill/>
          <a:ln/>
        </p:spPr>
        <p:txBody>
          <a:bodyPr wrap="square" lIns="25400" tIns="25400" rIns="25400" bIns="25400" rtlCol="0" anchor="t">
            <a:normAutofit lnSpcReduction="10000"/>
          </a:bodyPr>
          <a:lstStyle/>
          <a:p>
            <a:pPr marL="0" indent="0" algn="l">
              <a:buNone/>
            </a:pPr>
            <a:r>
              <a:rPr lang="en-US" sz="1500">
                <a:solidFill>
                  <a:srgbClr val="6B7280"/>
                </a:solidFill>
                <a:latin typeface="Arial" pitchFamily="34" charset="0"/>
                <a:ea typeface="Arial" pitchFamily="34" charset="-122"/>
                <a:cs typeface="Arial" pitchFamily="34" charset="-120"/>
              </a:rPr>
              <a:t>Resolution source — opsd_exact dominates (50,493), then Wikipedia (10,168) and psa_exact (9,278)</a:t>
            </a:r>
            <a:endParaRPr lang="en-US" sz="1500"/>
          </a:p>
        </p:txBody>
      </p:sp>
      <p:sp>
        <p:nvSpPr>
          <p:cNvPr id="11" name="Shape 7"/>
          <p:cNvSpPr/>
          <p:nvPr/>
        </p:nvSpPr>
        <p:spPr>
          <a:xfrm>
            <a:off x="952500" y="6362849"/>
            <a:ext cx="16383000" cy="750540"/>
          </a:xfrm>
          <a:prstGeom prst="rect">
            <a:avLst/>
          </a:prstGeom>
          <a:solidFill>
            <a:srgbClr val="F0F6FB"/>
          </a:solidFill>
          <a:ln/>
        </p:spPr>
        <p:txBody>
          <a:bodyPr/>
          <a:lstStyle/>
          <a:p>
            <a:endParaRPr lang="en-GB"/>
          </a:p>
        </p:txBody>
      </p:sp>
      <p:sp>
        <p:nvSpPr>
          <p:cNvPr id="12" name="Shape 8"/>
          <p:cNvSpPr/>
          <p:nvPr/>
        </p:nvSpPr>
        <p:spPr>
          <a:xfrm>
            <a:off x="952500" y="6362849"/>
            <a:ext cx="57150" cy="750540"/>
          </a:xfrm>
          <a:prstGeom prst="rect">
            <a:avLst/>
          </a:prstGeom>
          <a:solidFill>
            <a:srgbClr val="0065BD"/>
          </a:solidFill>
          <a:ln/>
        </p:spPr>
        <p:txBody>
          <a:bodyPr/>
          <a:lstStyle/>
          <a:p>
            <a:endParaRPr lang="en-GB"/>
          </a:p>
        </p:txBody>
      </p:sp>
      <p:sp>
        <p:nvSpPr>
          <p:cNvPr id="13" name="Text 9"/>
          <p:cNvSpPr/>
          <p:nvPr/>
        </p:nvSpPr>
        <p:spPr>
          <a:xfrm>
            <a:off x="1333500" y="6572399"/>
            <a:ext cx="16169640" cy="36954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a:solidFill>
                  <a:srgbClr val="1A1A2E"/>
                </a:solidFill>
                <a:latin typeface="Arial" pitchFamily="34" charset="0"/>
                <a:ea typeface="Arial" pitchFamily="34" charset="-122"/>
                <a:cs typeface="Arial" pitchFamily="34" charset="-120"/>
              </a:rPr>
              <a:t>High-precision exact-match sources carry the bulk of the volume → the matched core of the dataset is reliable.</a:t>
            </a:r>
            <a:endParaRPr lang="en-US" sz="1800"/>
          </a:p>
        </p:txBody>
      </p:sp>
      <p:sp>
        <p:nvSpPr>
          <p:cNvPr id="14" name="Text 10"/>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15" name="Text 11"/>
          <p:cNvSpPr/>
          <p:nvPr/>
        </p:nvSpPr>
        <p:spPr>
          <a:xfrm>
            <a:off x="17167324" y="9715500"/>
            <a:ext cx="244376"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11</a:t>
            </a:r>
            <a:endParaRPr lang="en-US" sz="12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3826416"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04 · RESULTS — MATCHING</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4099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3300" b="1">
                <a:solidFill>
                  <a:srgbClr val="1A1A2E"/>
                </a:solidFill>
                <a:latin typeface="Arial" pitchFamily="34" charset="0"/>
                <a:ea typeface="Arial" pitchFamily="34" charset="-122"/>
                <a:cs typeface="Arial" pitchFamily="34" charset="-120"/>
              </a:rPr>
              <a:t>Dropped volume is dominated by structurally unmatchable market measures</a:t>
            </a:r>
            <a:endParaRPr lang="en-US" sz="3300"/>
          </a:p>
        </p:txBody>
      </p:sp>
      <p:sp>
        <p:nvSpPr>
          <p:cNvPr id="5" name="Shape 3"/>
          <p:cNvSpPr/>
          <p:nvPr/>
        </p:nvSpPr>
        <p:spPr>
          <a:xfrm>
            <a:off x="952500" y="1950690"/>
            <a:ext cx="9211568" cy="3543002"/>
          </a:xfrm>
          <a:prstGeom prst="rect">
            <a:avLst/>
          </a:prstGeom>
          <a:ln w="9525">
            <a:solidFill>
              <a:srgbClr val="E2E8F0"/>
            </a:solidFill>
            <a:prstDash val="solid"/>
          </a:ln>
        </p:spPr>
        <p:txBody>
          <a:bodyPr/>
          <a:lstStyle/>
          <a:p>
            <a:endParaRPr lang="en-GB"/>
          </a:p>
        </p:txBody>
      </p:sp>
      <p:pic>
        <p:nvPicPr>
          <p:cNvPr id="6" name="Image 0" descr="preencoded.png"/>
          <p:cNvPicPr>
            <a:picLocks noChangeAspect="1"/>
          </p:cNvPicPr>
          <p:nvPr/>
        </p:nvPicPr>
        <p:blipFill>
          <a:blip r:embed="rId3"/>
          <a:stretch>
            <a:fillRect/>
          </a:stretch>
        </p:blipFill>
        <p:spPr>
          <a:xfrm>
            <a:off x="952500" y="1950690"/>
            <a:ext cx="9211568" cy="3543002"/>
          </a:xfrm>
          <a:prstGeom prst="rect">
            <a:avLst/>
          </a:prstGeom>
        </p:spPr>
      </p:pic>
      <p:sp>
        <p:nvSpPr>
          <p:cNvPr id="7" name="Text 4"/>
          <p:cNvSpPr/>
          <p:nvPr/>
        </p:nvSpPr>
        <p:spPr>
          <a:xfrm>
            <a:off x="952500" y="5607993"/>
            <a:ext cx="10111770" cy="257175"/>
          </a:xfrm>
          <a:prstGeom prst="rect">
            <a:avLst/>
          </a:prstGeom>
          <a:noFill/>
          <a:ln/>
        </p:spPr>
        <p:txBody>
          <a:bodyPr wrap="square" lIns="25400" tIns="25400" rIns="25400" bIns="25400" rtlCol="0" anchor="t">
            <a:normAutofit lnSpcReduction="10000"/>
          </a:bodyPr>
          <a:lstStyle/>
          <a:p>
            <a:pPr marL="0" indent="0" algn="l">
              <a:buNone/>
            </a:pPr>
            <a:r>
              <a:rPr lang="en-US" sz="1500">
                <a:solidFill>
                  <a:srgbClr val="6B7280"/>
                </a:solidFill>
                <a:latin typeface="Arial" pitchFamily="34" charset="0"/>
                <a:ea typeface="Arial" pitchFamily="34" charset="-122"/>
                <a:cs typeface="Arial" pitchFamily="34" charset="-120"/>
              </a:rPr>
              <a:t>36,801 excluded events: by count low-confidence leads (52%); by energy, market measures (28,580 GWh)</a:t>
            </a:r>
            <a:endParaRPr lang="en-US" sz="1500"/>
          </a:p>
        </p:txBody>
      </p:sp>
      <p:sp>
        <p:nvSpPr>
          <p:cNvPr id="8" name="Shape 5"/>
          <p:cNvSpPr/>
          <p:nvPr/>
        </p:nvSpPr>
        <p:spPr>
          <a:xfrm>
            <a:off x="10526018" y="1950690"/>
            <a:ext cx="6828532" cy="3764905"/>
          </a:xfrm>
          <a:prstGeom prst="rect">
            <a:avLst/>
          </a:prstGeom>
          <a:ln w="9525">
            <a:solidFill>
              <a:srgbClr val="E2E8F0"/>
            </a:solidFill>
            <a:prstDash val="solid"/>
          </a:ln>
        </p:spPr>
        <p:txBody>
          <a:bodyPr/>
          <a:lstStyle/>
          <a:p>
            <a:endParaRPr lang="en-GB"/>
          </a:p>
        </p:txBody>
      </p:sp>
      <p:pic>
        <p:nvPicPr>
          <p:cNvPr id="9" name="Image 1" descr="preencoded.png"/>
          <p:cNvPicPr>
            <a:picLocks noChangeAspect="1"/>
          </p:cNvPicPr>
          <p:nvPr/>
        </p:nvPicPr>
        <p:blipFill>
          <a:blip r:embed="rId4"/>
          <a:stretch>
            <a:fillRect/>
          </a:stretch>
        </p:blipFill>
        <p:spPr>
          <a:xfrm>
            <a:off x="10526018" y="1950690"/>
            <a:ext cx="6828532" cy="3764905"/>
          </a:xfrm>
          <a:prstGeom prst="rect">
            <a:avLst/>
          </a:prstGeom>
        </p:spPr>
      </p:pic>
      <p:sp>
        <p:nvSpPr>
          <p:cNvPr id="10" name="Text 6"/>
          <p:cNvSpPr/>
          <p:nvPr/>
        </p:nvSpPr>
        <p:spPr>
          <a:xfrm>
            <a:off x="10526018" y="5829895"/>
            <a:ext cx="7013766" cy="476250"/>
          </a:xfrm>
          <a:prstGeom prst="rect">
            <a:avLst/>
          </a:prstGeom>
          <a:noFill/>
          <a:ln/>
        </p:spPr>
        <p:txBody>
          <a:bodyPr wrap="square" lIns="25400" tIns="25400" rIns="25400" bIns="25400" rtlCol="0" anchor="t">
            <a:normAutofit lnSpcReduction="10000"/>
          </a:bodyPr>
          <a:lstStyle/>
          <a:p>
            <a:pPr marL="0" indent="0" algn="l">
              <a:buNone/>
            </a:pPr>
            <a:r>
              <a:rPr lang="en-US" sz="1500">
                <a:solidFill>
                  <a:srgbClr val="6B7280"/>
                </a:solidFill>
                <a:latin typeface="Arial" pitchFamily="34" charset="0"/>
                <a:ea typeface="Arial" pitchFamily="34" charset="-122"/>
                <a:cs typeface="Arial" pitchFamily="34" charset="-120"/>
              </a:rPr>
              <a:t>Börse / countertrade volume is concentrated almost entirely under TenneT DE (13.7% of total)</a:t>
            </a:r>
            <a:endParaRPr lang="en-US" sz="1500"/>
          </a:p>
        </p:txBody>
      </p:sp>
      <p:sp>
        <p:nvSpPr>
          <p:cNvPr id="11" name="Shape 7"/>
          <p:cNvSpPr/>
          <p:nvPr/>
        </p:nvSpPr>
        <p:spPr>
          <a:xfrm>
            <a:off x="952500" y="6515695"/>
            <a:ext cx="16383000" cy="750540"/>
          </a:xfrm>
          <a:prstGeom prst="rect">
            <a:avLst/>
          </a:prstGeom>
          <a:solidFill>
            <a:srgbClr val="F0F6FB"/>
          </a:solidFill>
          <a:ln/>
        </p:spPr>
        <p:txBody>
          <a:bodyPr/>
          <a:lstStyle/>
          <a:p>
            <a:endParaRPr lang="en-GB"/>
          </a:p>
        </p:txBody>
      </p:sp>
      <p:sp>
        <p:nvSpPr>
          <p:cNvPr id="12" name="Shape 8"/>
          <p:cNvSpPr/>
          <p:nvPr/>
        </p:nvSpPr>
        <p:spPr>
          <a:xfrm>
            <a:off x="952500" y="6515695"/>
            <a:ext cx="57150" cy="750540"/>
          </a:xfrm>
          <a:prstGeom prst="rect">
            <a:avLst/>
          </a:prstGeom>
          <a:solidFill>
            <a:srgbClr val="0065BD"/>
          </a:solidFill>
          <a:ln/>
        </p:spPr>
        <p:txBody>
          <a:bodyPr/>
          <a:lstStyle/>
          <a:p>
            <a:endParaRPr lang="en-GB"/>
          </a:p>
        </p:txBody>
      </p:sp>
      <p:sp>
        <p:nvSpPr>
          <p:cNvPr id="13" name="Text 9"/>
          <p:cNvSpPr/>
          <p:nvPr/>
        </p:nvSpPr>
        <p:spPr>
          <a:xfrm>
            <a:off x="1333500" y="6725245"/>
            <a:ext cx="16169640" cy="36954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a:solidFill>
                  <a:srgbClr val="1A1A2E"/>
                </a:solidFill>
                <a:highlight>
                  <a:srgbClr val="F0F6FB"/>
                </a:highlight>
                <a:latin typeface="Arial" pitchFamily="34" charset="0"/>
                <a:ea typeface="Arial" pitchFamily="34" charset="-122"/>
                <a:cs typeface="Arial" pitchFamily="34" charset="-120"/>
              </a:rPr>
              <a:t>Market measures and multi-plant bundles identify </a:t>
            </a:r>
            <a:r>
              <a:rPr lang="en-US" sz="1800" b="1">
                <a:solidFill>
                  <a:srgbClr val="1A1A2E"/>
                </a:solidFill>
                <a:latin typeface="Arial" pitchFamily="34" charset="0"/>
                <a:ea typeface="Arial" pitchFamily="34" charset="-122"/>
                <a:cs typeface="Arial" pitchFamily="34" charset="-120"/>
              </a:rPr>
              <a:t>no location by construction </a:t>
            </a:r>
            <a:r>
              <a:rPr lang="en-US" sz="1800">
                <a:solidFill>
                  <a:srgbClr val="1A1A2E"/>
                </a:solidFill>
                <a:highlight>
                  <a:srgbClr val="F0F6FB"/>
                </a:highlight>
                <a:latin typeface="Arial" pitchFamily="34" charset="0"/>
                <a:ea typeface="Arial" pitchFamily="34" charset="-122"/>
                <a:cs typeface="Arial" pitchFamily="34" charset="-120"/>
              </a:rPr>
              <a:t>— the genuinely addressable gap is the low-confidence category.</a:t>
            </a:r>
            <a:endParaRPr lang="en-US" sz="1800"/>
          </a:p>
        </p:txBody>
      </p:sp>
      <p:sp>
        <p:nvSpPr>
          <p:cNvPr id="14" name="Text 10"/>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15" name="Text 11"/>
          <p:cNvSpPr/>
          <p:nvPr/>
        </p:nvSpPr>
        <p:spPr>
          <a:xfrm>
            <a:off x="17155269" y="9715500"/>
            <a:ext cx="256431"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12</a:t>
            </a:r>
            <a:endParaRPr lang="en-US" sz="127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3826416"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04 · RESULTS — MATCHING</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4099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3300" b="1">
                <a:solidFill>
                  <a:srgbClr val="1A1A2E"/>
                </a:solidFill>
                <a:latin typeface="Arial" pitchFamily="34" charset="0"/>
                <a:ea typeface="Arial" pitchFamily="34" charset="-122"/>
                <a:cs typeface="Arial" pitchFamily="34" charset="-120"/>
              </a:rPr>
              <a:t>Match quality differs by TSO — TenneT structural, 50Hertz a real gap</a:t>
            </a:r>
            <a:endParaRPr lang="en-US" sz="3300"/>
          </a:p>
        </p:txBody>
      </p:sp>
      <p:sp>
        <p:nvSpPr>
          <p:cNvPr id="5" name="Shape 3"/>
          <p:cNvSpPr/>
          <p:nvPr/>
        </p:nvSpPr>
        <p:spPr>
          <a:xfrm>
            <a:off x="952500" y="1950690"/>
            <a:ext cx="9574411" cy="4743896"/>
          </a:xfrm>
          <a:prstGeom prst="rect">
            <a:avLst/>
          </a:prstGeom>
          <a:ln w="9525">
            <a:solidFill>
              <a:srgbClr val="E2E8F0"/>
            </a:solidFill>
            <a:prstDash val="solid"/>
          </a:ln>
        </p:spPr>
        <p:txBody>
          <a:bodyPr/>
          <a:lstStyle/>
          <a:p>
            <a:endParaRPr lang="en-GB"/>
          </a:p>
        </p:txBody>
      </p:sp>
      <p:pic>
        <p:nvPicPr>
          <p:cNvPr id="6" name="Image 0" descr="preencoded.png"/>
          <p:cNvPicPr>
            <a:picLocks noChangeAspect="1"/>
          </p:cNvPicPr>
          <p:nvPr/>
        </p:nvPicPr>
        <p:blipFill>
          <a:blip r:embed="rId3"/>
          <a:stretch>
            <a:fillRect/>
          </a:stretch>
        </p:blipFill>
        <p:spPr>
          <a:xfrm>
            <a:off x="952500" y="1950690"/>
            <a:ext cx="9574411" cy="4743896"/>
          </a:xfrm>
          <a:prstGeom prst="rect">
            <a:avLst/>
          </a:prstGeom>
        </p:spPr>
      </p:pic>
      <p:sp>
        <p:nvSpPr>
          <p:cNvPr id="7" name="Text 4"/>
          <p:cNvSpPr/>
          <p:nvPr/>
        </p:nvSpPr>
        <p:spPr>
          <a:xfrm>
            <a:off x="952500" y="6808887"/>
            <a:ext cx="10510897" cy="257175"/>
          </a:xfrm>
          <a:prstGeom prst="rect">
            <a:avLst/>
          </a:prstGeom>
          <a:noFill/>
          <a:ln/>
        </p:spPr>
        <p:txBody>
          <a:bodyPr wrap="square" lIns="25400" tIns="25400" rIns="25400" bIns="25400" rtlCol="0" anchor="t">
            <a:normAutofit lnSpcReduction="10000"/>
          </a:bodyPr>
          <a:lstStyle/>
          <a:p>
            <a:pPr marL="0" indent="0" algn="l">
              <a:buNone/>
            </a:pPr>
            <a:r>
              <a:rPr lang="en-US" sz="1500">
                <a:solidFill>
                  <a:srgbClr val="6B7280"/>
                </a:solidFill>
                <a:latin typeface="Arial" pitchFamily="34" charset="0"/>
                <a:ea typeface="Arial" pitchFamily="34" charset="-122"/>
                <a:cs typeface="Arial" pitchFamily="34" charset="-120"/>
              </a:rPr>
              <a:t>Share matched to a location (confidence &gt; 0.4), per instructing TSO — events / plants / MWh</a:t>
            </a:r>
            <a:endParaRPr lang="en-US" sz="1500"/>
          </a:p>
        </p:txBody>
      </p:sp>
      <p:sp>
        <p:nvSpPr>
          <p:cNvPr id="8" name="Shape 5"/>
          <p:cNvSpPr/>
          <p:nvPr/>
        </p:nvSpPr>
        <p:spPr>
          <a:xfrm>
            <a:off x="10965061" y="1950690"/>
            <a:ext cx="6370290" cy="1483816"/>
          </a:xfrm>
          <a:prstGeom prst="rect">
            <a:avLst/>
          </a:prstGeom>
          <a:ln w="19050">
            <a:solidFill>
              <a:srgbClr val="E2E8F0"/>
            </a:solidFill>
            <a:prstDash val="solid"/>
          </a:ln>
        </p:spPr>
        <p:txBody>
          <a:bodyPr/>
          <a:lstStyle/>
          <a:p>
            <a:endParaRPr lang="en-GB"/>
          </a:p>
        </p:txBody>
      </p:sp>
      <p:sp>
        <p:nvSpPr>
          <p:cNvPr id="9" name="Text 6"/>
          <p:cNvSpPr/>
          <p:nvPr/>
        </p:nvSpPr>
        <p:spPr>
          <a:xfrm>
            <a:off x="11288911" y="2217390"/>
            <a:ext cx="6294849" cy="304800"/>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A1A2E"/>
                </a:solidFill>
                <a:latin typeface="Arial" pitchFamily="34" charset="0"/>
                <a:ea typeface="Arial" pitchFamily="34" charset="-122"/>
                <a:cs typeface="Arial" pitchFamily="34" charset="-120"/>
              </a:rPr>
              <a:t>Amprion &amp; TransnetBW</a:t>
            </a:r>
            <a:endParaRPr lang="en-US" sz="1800"/>
          </a:p>
        </p:txBody>
      </p:sp>
      <p:sp>
        <p:nvSpPr>
          <p:cNvPr id="10" name="Text 7"/>
          <p:cNvSpPr/>
          <p:nvPr/>
        </p:nvSpPr>
        <p:spPr>
          <a:xfrm>
            <a:off x="11288911" y="2560290"/>
            <a:ext cx="5894268" cy="645616"/>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a:solidFill>
                  <a:srgbClr val="4A4A6A"/>
                </a:solidFill>
                <a:latin typeface="Arial" pitchFamily="34" charset="0"/>
                <a:ea typeface="Arial" pitchFamily="34" charset="-122"/>
                <a:cs typeface="Arial" pitchFamily="34" charset="-120"/>
              </a:rPr>
              <a:t>Strong across events, plants and MWh (up to 91% of volume matched).</a:t>
            </a:r>
            <a:endParaRPr lang="en-US" sz="1650"/>
          </a:p>
        </p:txBody>
      </p:sp>
      <p:sp>
        <p:nvSpPr>
          <p:cNvPr id="11" name="Shape 8"/>
          <p:cNvSpPr/>
          <p:nvPr/>
        </p:nvSpPr>
        <p:spPr>
          <a:xfrm>
            <a:off x="10965061" y="3644057"/>
            <a:ext cx="6370290" cy="1483816"/>
          </a:xfrm>
          <a:prstGeom prst="rect">
            <a:avLst/>
          </a:prstGeom>
          <a:ln w="19050">
            <a:solidFill>
              <a:srgbClr val="E2E8F0"/>
            </a:solidFill>
            <a:prstDash val="solid"/>
          </a:ln>
        </p:spPr>
        <p:txBody>
          <a:bodyPr/>
          <a:lstStyle/>
          <a:p>
            <a:endParaRPr lang="en-GB"/>
          </a:p>
        </p:txBody>
      </p:sp>
      <p:sp>
        <p:nvSpPr>
          <p:cNvPr id="12" name="Text 9"/>
          <p:cNvSpPr/>
          <p:nvPr/>
        </p:nvSpPr>
        <p:spPr>
          <a:xfrm>
            <a:off x="11288911" y="3910757"/>
            <a:ext cx="6294849" cy="304800"/>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A1A2E"/>
                </a:solidFill>
                <a:latin typeface="Arial" pitchFamily="34" charset="0"/>
                <a:ea typeface="Arial" pitchFamily="34" charset="-122"/>
                <a:cs typeface="Arial" pitchFamily="34" charset="-120"/>
              </a:rPr>
              <a:t>TenneT DE</a:t>
            </a:r>
            <a:endParaRPr lang="en-US" sz="1800"/>
          </a:p>
        </p:txBody>
      </p:sp>
      <p:sp>
        <p:nvSpPr>
          <p:cNvPr id="13" name="Text 10"/>
          <p:cNvSpPr/>
          <p:nvPr/>
        </p:nvSpPr>
        <p:spPr>
          <a:xfrm>
            <a:off x="11288911" y="4253657"/>
            <a:ext cx="5894268" cy="645616"/>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a:solidFill>
                  <a:srgbClr val="4A4A6A"/>
                </a:solidFill>
                <a:latin typeface="Arial" pitchFamily="34" charset="0"/>
                <a:ea typeface="Arial" pitchFamily="34" charset="-122"/>
                <a:cs typeface="Arial" pitchFamily="34" charset="-120"/>
              </a:rPr>
              <a:t>Low rates are largely an </a:t>
            </a:r>
            <a:r>
              <a:rPr lang="en-US" sz="1650" b="1">
                <a:solidFill>
                  <a:srgbClr val="4A4A6A"/>
                </a:solidFill>
                <a:latin typeface="Arial" pitchFamily="34" charset="0"/>
                <a:ea typeface="Arial" pitchFamily="34" charset="-122"/>
                <a:cs typeface="Arial" pitchFamily="34" charset="-120"/>
              </a:rPr>
              <a:t>artefact of its heavy countertrade use </a:t>
            </a:r>
            <a:r>
              <a:rPr lang="en-US" sz="1650">
                <a:solidFill>
                  <a:srgbClr val="4A4A6A"/>
                </a:solidFill>
                <a:latin typeface="Arial" pitchFamily="34" charset="0"/>
                <a:ea typeface="Arial" pitchFamily="34" charset="-122"/>
                <a:cs typeface="Arial" pitchFamily="34" charset="-120"/>
              </a:rPr>
              <a:t>— real but irreducible.</a:t>
            </a:r>
            <a:endParaRPr lang="en-US" sz="1650"/>
          </a:p>
        </p:txBody>
      </p:sp>
      <p:sp>
        <p:nvSpPr>
          <p:cNvPr id="14" name="Shape 11"/>
          <p:cNvSpPr/>
          <p:nvPr/>
        </p:nvSpPr>
        <p:spPr>
          <a:xfrm>
            <a:off x="10965061" y="7105948"/>
            <a:ext cx="6370290" cy="19050"/>
          </a:xfrm>
          <a:prstGeom prst="rect">
            <a:avLst/>
          </a:prstGeom>
          <a:solidFill>
            <a:srgbClr val="E2E8F0"/>
          </a:solidFill>
          <a:ln/>
        </p:spPr>
        <p:txBody>
          <a:bodyPr/>
          <a:lstStyle/>
          <a:p>
            <a:endParaRPr lang="en-GB"/>
          </a:p>
        </p:txBody>
      </p:sp>
      <p:sp>
        <p:nvSpPr>
          <p:cNvPr id="15" name="Shape 12"/>
          <p:cNvSpPr/>
          <p:nvPr/>
        </p:nvSpPr>
        <p:spPr>
          <a:xfrm>
            <a:off x="10965061" y="5337423"/>
            <a:ext cx="6370290" cy="19050"/>
          </a:xfrm>
          <a:prstGeom prst="rect">
            <a:avLst/>
          </a:prstGeom>
          <a:solidFill>
            <a:srgbClr val="E2E8F0"/>
          </a:solidFill>
          <a:ln/>
        </p:spPr>
        <p:txBody>
          <a:bodyPr/>
          <a:lstStyle/>
          <a:p>
            <a:endParaRPr lang="en-GB"/>
          </a:p>
        </p:txBody>
      </p:sp>
      <p:sp>
        <p:nvSpPr>
          <p:cNvPr id="16" name="Shape 13"/>
          <p:cNvSpPr/>
          <p:nvPr/>
        </p:nvSpPr>
        <p:spPr>
          <a:xfrm>
            <a:off x="10965061" y="5337423"/>
            <a:ext cx="57150" cy="1787575"/>
          </a:xfrm>
          <a:prstGeom prst="rect">
            <a:avLst/>
          </a:prstGeom>
          <a:solidFill>
            <a:srgbClr val="E37222"/>
          </a:solidFill>
          <a:ln/>
        </p:spPr>
        <p:txBody>
          <a:bodyPr/>
          <a:lstStyle/>
          <a:p>
            <a:endParaRPr lang="en-GB"/>
          </a:p>
        </p:txBody>
      </p:sp>
      <p:sp>
        <p:nvSpPr>
          <p:cNvPr id="17" name="Shape 14"/>
          <p:cNvSpPr/>
          <p:nvPr/>
        </p:nvSpPr>
        <p:spPr>
          <a:xfrm>
            <a:off x="17316301" y="5337423"/>
            <a:ext cx="19050" cy="1787575"/>
          </a:xfrm>
          <a:prstGeom prst="rect">
            <a:avLst/>
          </a:prstGeom>
          <a:solidFill>
            <a:srgbClr val="E2E8F0"/>
          </a:solidFill>
          <a:ln/>
        </p:spPr>
        <p:txBody>
          <a:bodyPr/>
          <a:lstStyle/>
          <a:p>
            <a:endParaRPr lang="en-GB"/>
          </a:p>
        </p:txBody>
      </p:sp>
      <p:sp>
        <p:nvSpPr>
          <p:cNvPr id="18" name="Text 15"/>
          <p:cNvSpPr/>
          <p:nvPr/>
        </p:nvSpPr>
        <p:spPr>
          <a:xfrm>
            <a:off x="11327011" y="5604123"/>
            <a:ext cx="6252939" cy="304800"/>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A1A2E"/>
                </a:solidFill>
                <a:latin typeface="Arial" pitchFamily="34" charset="0"/>
                <a:ea typeface="Arial" pitchFamily="34" charset="-122"/>
                <a:cs typeface="Arial" pitchFamily="34" charset="-120"/>
              </a:rPr>
              <a:t>50Hertz</a:t>
            </a:r>
            <a:endParaRPr lang="en-US" sz="1800"/>
          </a:p>
        </p:txBody>
      </p:sp>
      <p:sp>
        <p:nvSpPr>
          <p:cNvPr id="19" name="Text 16"/>
          <p:cNvSpPr/>
          <p:nvPr/>
        </p:nvSpPr>
        <p:spPr>
          <a:xfrm>
            <a:off x="11327011" y="5947023"/>
            <a:ext cx="5855025" cy="94937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a:solidFill>
                  <a:srgbClr val="4A4A6A"/>
                </a:solidFill>
                <a:latin typeface="Arial" pitchFamily="34" charset="0"/>
                <a:ea typeface="Arial" pitchFamily="34" charset="-122"/>
                <a:cs typeface="Arial" pitchFamily="34" charset="-120"/>
              </a:rPr>
              <a:t>Almost no market volume → the low plant match rate is a </a:t>
            </a:r>
            <a:r>
              <a:rPr lang="en-US" sz="1650" b="1">
                <a:solidFill>
                  <a:srgbClr val="4A4A6A"/>
                </a:solidFill>
                <a:latin typeface="Arial" pitchFamily="34" charset="0"/>
                <a:ea typeface="Arial" pitchFamily="34" charset="-122"/>
                <a:cs typeface="Arial" pitchFamily="34" charset="-120"/>
              </a:rPr>
              <a:t>genuine coverage limitation </a:t>
            </a:r>
            <a:r>
              <a:rPr lang="en-US" sz="1650">
                <a:solidFill>
                  <a:srgbClr val="4A4A6A"/>
                </a:solidFill>
                <a:latin typeface="Arial" pitchFamily="34" charset="0"/>
                <a:ea typeface="Arial" pitchFamily="34" charset="-122"/>
                <a:cs typeface="Arial" pitchFamily="34" charset="-120"/>
              </a:rPr>
              <a:t>: the north-east is systematically underrepresented.</a:t>
            </a:r>
            <a:endParaRPr lang="en-US" sz="1650"/>
          </a:p>
        </p:txBody>
      </p:sp>
      <p:sp>
        <p:nvSpPr>
          <p:cNvPr id="20" name="Text 17"/>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1" name="Text 18"/>
          <p:cNvSpPr/>
          <p:nvPr/>
        </p:nvSpPr>
        <p:spPr>
          <a:xfrm>
            <a:off x="17155269" y="9715500"/>
            <a:ext cx="256431"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13</a:t>
            </a:r>
            <a:endParaRPr lang="en-US" sz="1275"/>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4232746"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04 · RESULTS — DESCRIPTIVE</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4099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3300" b="1">
                <a:solidFill>
                  <a:srgbClr val="1A1A2E"/>
                </a:solidFill>
                <a:latin typeface="Arial" pitchFamily="34" charset="0"/>
                <a:ea typeface="Arial" pitchFamily="34" charset="-122"/>
                <a:cs typeface="Arial" pitchFamily="34" charset="-120"/>
              </a:rPr>
              <a:t>The data reproduces the north–south congestion pattern</a:t>
            </a:r>
            <a:endParaRPr lang="en-US" sz="3300"/>
          </a:p>
        </p:txBody>
      </p:sp>
      <p:sp>
        <p:nvSpPr>
          <p:cNvPr id="5" name="Shape 3"/>
          <p:cNvSpPr/>
          <p:nvPr/>
        </p:nvSpPr>
        <p:spPr>
          <a:xfrm>
            <a:off x="952500" y="1950690"/>
            <a:ext cx="9819531" cy="3354884"/>
          </a:xfrm>
          <a:prstGeom prst="rect">
            <a:avLst/>
          </a:prstGeom>
          <a:ln w="9525">
            <a:solidFill>
              <a:srgbClr val="E2E8F0"/>
            </a:solidFill>
            <a:prstDash val="solid"/>
          </a:ln>
        </p:spPr>
        <p:txBody>
          <a:bodyPr/>
          <a:lstStyle/>
          <a:p>
            <a:endParaRPr lang="en-GB"/>
          </a:p>
        </p:txBody>
      </p:sp>
      <p:pic>
        <p:nvPicPr>
          <p:cNvPr id="6" name="Image 0" descr="preencoded.png"/>
          <p:cNvPicPr>
            <a:picLocks noChangeAspect="1"/>
          </p:cNvPicPr>
          <p:nvPr/>
        </p:nvPicPr>
        <p:blipFill>
          <a:blip r:embed="rId3"/>
          <a:stretch>
            <a:fillRect/>
          </a:stretch>
        </p:blipFill>
        <p:spPr>
          <a:xfrm>
            <a:off x="952500" y="1950690"/>
            <a:ext cx="9819531" cy="3354884"/>
          </a:xfrm>
          <a:prstGeom prst="rect">
            <a:avLst/>
          </a:prstGeom>
        </p:spPr>
      </p:pic>
      <p:sp>
        <p:nvSpPr>
          <p:cNvPr id="7" name="Text 4"/>
          <p:cNvSpPr/>
          <p:nvPr/>
        </p:nvSpPr>
        <p:spPr>
          <a:xfrm>
            <a:off x="952500" y="5419874"/>
            <a:ext cx="10780529" cy="257175"/>
          </a:xfrm>
          <a:prstGeom prst="rect">
            <a:avLst/>
          </a:prstGeom>
          <a:noFill/>
          <a:ln/>
        </p:spPr>
        <p:txBody>
          <a:bodyPr wrap="square" lIns="25400" tIns="25400" rIns="25400" bIns="25400" rtlCol="0" anchor="t">
            <a:normAutofit lnSpcReduction="10000"/>
          </a:bodyPr>
          <a:lstStyle/>
          <a:p>
            <a:pPr marL="0" indent="0" algn="l">
              <a:buNone/>
            </a:pPr>
            <a:r>
              <a:rPr lang="en-US" sz="1500">
                <a:solidFill>
                  <a:srgbClr val="6B7280"/>
                </a:solidFill>
                <a:latin typeface="Arial" pitchFamily="34" charset="0"/>
                <a:ea typeface="Arial" pitchFamily="34" charset="-122"/>
                <a:cs typeface="Arial" pitchFamily="34" charset="-120"/>
              </a:rPr>
              <a:t>Redispatch events (left) and energy (right) by region × direction, 2013–2025</a:t>
            </a:r>
            <a:endParaRPr lang="en-US" sz="1500"/>
          </a:p>
        </p:txBody>
      </p:sp>
      <p:sp>
        <p:nvSpPr>
          <p:cNvPr id="8" name="Shape 5"/>
          <p:cNvSpPr/>
          <p:nvPr/>
        </p:nvSpPr>
        <p:spPr>
          <a:xfrm>
            <a:off x="11210181" y="4015532"/>
            <a:ext cx="6125319" cy="19050"/>
          </a:xfrm>
          <a:prstGeom prst="rect">
            <a:avLst/>
          </a:prstGeom>
          <a:solidFill>
            <a:srgbClr val="E2E8F0"/>
          </a:solidFill>
          <a:ln/>
        </p:spPr>
        <p:txBody>
          <a:bodyPr/>
          <a:lstStyle/>
          <a:p>
            <a:endParaRPr lang="en-GB"/>
          </a:p>
        </p:txBody>
      </p:sp>
      <p:sp>
        <p:nvSpPr>
          <p:cNvPr id="9" name="Shape 6"/>
          <p:cNvSpPr/>
          <p:nvPr/>
        </p:nvSpPr>
        <p:spPr>
          <a:xfrm>
            <a:off x="11210181" y="1950690"/>
            <a:ext cx="6125319" cy="57150"/>
          </a:xfrm>
          <a:prstGeom prst="rect">
            <a:avLst/>
          </a:prstGeom>
          <a:solidFill>
            <a:srgbClr val="E37222"/>
          </a:solidFill>
          <a:ln/>
        </p:spPr>
        <p:txBody>
          <a:bodyPr/>
          <a:lstStyle/>
          <a:p>
            <a:endParaRPr lang="en-GB"/>
          </a:p>
        </p:txBody>
      </p:sp>
      <p:sp>
        <p:nvSpPr>
          <p:cNvPr id="10" name="Shape 7"/>
          <p:cNvSpPr/>
          <p:nvPr/>
        </p:nvSpPr>
        <p:spPr>
          <a:xfrm>
            <a:off x="11210181" y="1950690"/>
            <a:ext cx="19050" cy="2083891"/>
          </a:xfrm>
          <a:prstGeom prst="rect">
            <a:avLst/>
          </a:prstGeom>
          <a:solidFill>
            <a:srgbClr val="E2E8F0"/>
          </a:solidFill>
          <a:ln/>
        </p:spPr>
        <p:txBody>
          <a:bodyPr/>
          <a:lstStyle/>
          <a:p>
            <a:endParaRPr lang="en-GB"/>
          </a:p>
        </p:txBody>
      </p:sp>
      <p:sp>
        <p:nvSpPr>
          <p:cNvPr id="11" name="Shape 8"/>
          <p:cNvSpPr/>
          <p:nvPr/>
        </p:nvSpPr>
        <p:spPr>
          <a:xfrm>
            <a:off x="17316450" y="1950690"/>
            <a:ext cx="19050" cy="2083891"/>
          </a:xfrm>
          <a:prstGeom prst="rect">
            <a:avLst/>
          </a:prstGeom>
          <a:solidFill>
            <a:srgbClr val="E2E8F0"/>
          </a:solidFill>
          <a:ln/>
        </p:spPr>
        <p:txBody>
          <a:bodyPr/>
          <a:lstStyle/>
          <a:p>
            <a:endParaRPr lang="en-GB"/>
          </a:p>
        </p:txBody>
      </p:sp>
      <p:sp>
        <p:nvSpPr>
          <p:cNvPr id="12" name="Text 9"/>
          <p:cNvSpPr/>
          <p:nvPr/>
        </p:nvSpPr>
        <p:spPr>
          <a:xfrm>
            <a:off x="11553081" y="2274540"/>
            <a:ext cx="5983471" cy="304800"/>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A1A2E"/>
                </a:solidFill>
                <a:latin typeface="Arial" pitchFamily="34" charset="0"/>
                <a:ea typeface="Arial" pitchFamily="34" charset="-122"/>
                <a:cs typeface="Arial" pitchFamily="34" charset="-120"/>
              </a:rPr>
              <a:t>North: curtailment</a:t>
            </a:r>
            <a:endParaRPr lang="en-US" sz="1800"/>
          </a:p>
        </p:txBody>
      </p:sp>
      <p:sp>
        <p:nvSpPr>
          <p:cNvPr id="13" name="Text 10"/>
          <p:cNvSpPr/>
          <p:nvPr/>
        </p:nvSpPr>
        <p:spPr>
          <a:xfrm>
            <a:off x="11553081" y="2636490"/>
            <a:ext cx="5983471" cy="466725"/>
          </a:xfrm>
          <a:prstGeom prst="rect">
            <a:avLst/>
          </a:prstGeom>
          <a:noFill/>
          <a:ln/>
        </p:spPr>
        <p:txBody>
          <a:bodyPr wrap="square" lIns="25400" tIns="25400" rIns="25400" bIns="25400" rtlCol="0" anchor="t">
            <a:normAutofit lnSpcReduction="10000"/>
          </a:bodyPr>
          <a:lstStyle/>
          <a:p>
            <a:pPr marL="0" indent="0" algn="l">
              <a:buNone/>
            </a:pPr>
            <a:r>
              <a:rPr lang="en-US" sz="3000" b="1">
                <a:solidFill>
                  <a:srgbClr val="E37222"/>
                </a:solidFill>
                <a:latin typeface="Arial" pitchFamily="34" charset="0"/>
                <a:ea typeface="Arial" pitchFamily="34" charset="-122"/>
                <a:cs typeface="Arial" pitchFamily="34" charset="-120"/>
              </a:rPr>
              <a:t>↓ ~40,000 GWh</a:t>
            </a:r>
            <a:endParaRPr lang="en-US" sz="3000"/>
          </a:p>
        </p:txBody>
      </p:sp>
      <p:sp>
        <p:nvSpPr>
          <p:cNvPr id="14" name="Text 11"/>
          <p:cNvSpPr/>
          <p:nvPr/>
        </p:nvSpPr>
        <p:spPr>
          <a:xfrm>
            <a:off x="11553081" y="3141315"/>
            <a:ext cx="5602705" cy="645616"/>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a:solidFill>
                  <a:srgbClr val="4A4A6A"/>
                </a:solidFill>
                <a:latin typeface="Arial" pitchFamily="34" charset="0"/>
                <a:ea typeface="Arial" pitchFamily="34" charset="-122"/>
                <a:cs typeface="Arial" pitchFamily="34" charset="-120"/>
              </a:rPr>
              <a:t>~27,800 downward events — surplus wind that cannot be exported</a:t>
            </a:r>
            <a:endParaRPr lang="en-US" sz="1650"/>
          </a:p>
        </p:txBody>
      </p:sp>
      <p:sp>
        <p:nvSpPr>
          <p:cNvPr id="15" name="Shape 12"/>
          <p:cNvSpPr/>
          <p:nvPr/>
        </p:nvSpPr>
        <p:spPr>
          <a:xfrm>
            <a:off x="11210181" y="6347073"/>
            <a:ext cx="6125319" cy="19050"/>
          </a:xfrm>
          <a:prstGeom prst="rect">
            <a:avLst/>
          </a:prstGeom>
          <a:solidFill>
            <a:srgbClr val="E2E8F0"/>
          </a:solidFill>
          <a:ln/>
        </p:spPr>
        <p:txBody>
          <a:bodyPr/>
          <a:lstStyle/>
          <a:p>
            <a:endParaRPr lang="en-GB"/>
          </a:p>
        </p:txBody>
      </p:sp>
      <p:sp>
        <p:nvSpPr>
          <p:cNvPr id="16" name="Shape 13"/>
          <p:cNvSpPr/>
          <p:nvPr/>
        </p:nvSpPr>
        <p:spPr>
          <a:xfrm>
            <a:off x="11210181" y="4282232"/>
            <a:ext cx="6125319" cy="57150"/>
          </a:xfrm>
          <a:prstGeom prst="rect">
            <a:avLst/>
          </a:prstGeom>
          <a:solidFill>
            <a:srgbClr val="005293"/>
          </a:solidFill>
          <a:ln/>
        </p:spPr>
        <p:txBody>
          <a:bodyPr/>
          <a:lstStyle/>
          <a:p>
            <a:endParaRPr lang="en-GB"/>
          </a:p>
        </p:txBody>
      </p:sp>
      <p:sp>
        <p:nvSpPr>
          <p:cNvPr id="17" name="Shape 14"/>
          <p:cNvSpPr/>
          <p:nvPr/>
        </p:nvSpPr>
        <p:spPr>
          <a:xfrm>
            <a:off x="11210181" y="4282232"/>
            <a:ext cx="19050" cy="2083891"/>
          </a:xfrm>
          <a:prstGeom prst="rect">
            <a:avLst/>
          </a:prstGeom>
          <a:solidFill>
            <a:srgbClr val="E2E8F0"/>
          </a:solidFill>
          <a:ln/>
        </p:spPr>
        <p:txBody>
          <a:bodyPr/>
          <a:lstStyle/>
          <a:p>
            <a:endParaRPr lang="en-GB"/>
          </a:p>
        </p:txBody>
      </p:sp>
      <p:sp>
        <p:nvSpPr>
          <p:cNvPr id="18" name="Shape 15"/>
          <p:cNvSpPr/>
          <p:nvPr/>
        </p:nvSpPr>
        <p:spPr>
          <a:xfrm>
            <a:off x="17316450" y="4282232"/>
            <a:ext cx="19050" cy="2083891"/>
          </a:xfrm>
          <a:prstGeom prst="rect">
            <a:avLst/>
          </a:prstGeom>
          <a:solidFill>
            <a:srgbClr val="E2E8F0"/>
          </a:solidFill>
          <a:ln/>
        </p:spPr>
        <p:txBody>
          <a:bodyPr/>
          <a:lstStyle/>
          <a:p>
            <a:endParaRPr lang="en-GB"/>
          </a:p>
        </p:txBody>
      </p:sp>
      <p:sp>
        <p:nvSpPr>
          <p:cNvPr id="19" name="Text 16"/>
          <p:cNvSpPr/>
          <p:nvPr/>
        </p:nvSpPr>
        <p:spPr>
          <a:xfrm>
            <a:off x="11553081" y="4606082"/>
            <a:ext cx="5983471" cy="304800"/>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A1A2E"/>
                </a:solidFill>
                <a:latin typeface="Arial" pitchFamily="34" charset="0"/>
                <a:ea typeface="Arial" pitchFamily="34" charset="-122"/>
                <a:cs typeface="Arial" pitchFamily="34" charset="-120"/>
              </a:rPr>
              <a:t>South: ramp-up</a:t>
            </a:r>
            <a:endParaRPr lang="en-US" sz="1800"/>
          </a:p>
        </p:txBody>
      </p:sp>
      <p:sp>
        <p:nvSpPr>
          <p:cNvPr id="20" name="Text 17"/>
          <p:cNvSpPr/>
          <p:nvPr/>
        </p:nvSpPr>
        <p:spPr>
          <a:xfrm>
            <a:off x="11553081" y="4968032"/>
            <a:ext cx="5983471" cy="466725"/>
          </a:xfrm>
          <a:prstGeom prst="rect">
            <a:avLst/>
          </a:prstGeom>
          <a:noFill/>
          <a:ln/>
        </p:spPr>
        <p:txBody>
          <a:bodyPr wrap="square" lIns="25400" tIns="25400" rIns="25400" bIns="25400" rtlCol="0" anchor="t">
            <a:normAutofit lnSpcReduction="10000"/>
          </a:bodyPr>
          <a:lstStyle/>
          <a:p>
            <a:pPr marL="0" indent="0" algn="l">
              <a:buNone/>
            </a:pPr>
            <a:r>
              <a:rPr lang="en-US" sz="3000" b="1">
                <a:solidFill>
                  <a:srgbClr val="005293"/>
                </a:solidFill>
                <a:latin typeface="Arial" pitchFamily="34" charset="0"/>
                <a:ea typeface="Arial" pitchFamily="34" charset="-122"/>
                <a:cs typeface="Arial" pitchFamily="34" charset="-120"/>
              </a:rPr>
              <a:t>↑ ~36,000 GWh</a:t>
            </a:r>
            <a:endParaRPr lang="en-US" sz="3000"/>
          </a:p>
        </p:txBody>
      </p:sp>
      <p:sp>
        <p:nvSpPr>
          <p:cNvPr id="21" name="Text 18"/>
          <p:cNvSpPr/>
          <p:nvPr/>
        </p:nvSpPr>
        <p:spPr>
          <a:xfrm>
            <a:off x="11553081" y="5472857"/>
            <a:ext cx="5602705" cy="645616"/>
          </a:xfrm>
          <a:prstGeom prst="rect">
            <a:avLst/>
          </a:prstGeom>
          <a:noFill/>
          <a:ln/>
        </p:spPr>
        <p:txBody>
          <a:bodyPr wrap="square" lIns="25400" tIns="25400" rIns="25400" bIns="25400" rtlCol="0" anchor="t">
            <a:normAutofit/>
          </a:bodyPr>
          <a:lstStyle/>
          <a:p>
            <a:pPr marL="0" indent="0" algn="l">
              <a:lnSpc>
                <a:spcPct val="145000"/>
              </a:lnSpc>
              <a:buNone/>
            </a:pPr>
            <a:r>
              <a:rPr lang="en-US" sz="1650">
                <a:solidFill>
                  <a:srgbClr val="4A4A6A"/>
                </a:solidFill>
                <a:latin typeface="Arial" pitchFamily="34" charset="0"/>
                <a:ea typeface="Arial" pitchFamily="34" charset="-122"/>
                <a:cs typeface="Arial" pitchFamily="34" charset="-120"/>
              </a:rPr>
              <a:t>~25,900 upward events — generation behind the bottleneck</a:t>
            </a:r>
            <a:endParaRPr lang="en-US" sz="1650"/>
          </a:p>
        </p:txBody>
      </p:sp>
      <p:sp>
        <p:nvSpPr>
          <p:cNvPr id="22" name="Text 19"/>
          <p:cNvSpPr/>
          <p:nvPr/>
        </p:nvSpPr>
        <p:spPr>
          <a:xfrm>
            <a:off x="11210181" y="6613773"/>
            <a:ext cx="6309079" cy="645616"/>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650">
                <a:solidFill>
                  <a:srgbClr val="6B7280"/>
                </a:solidFill>
                <a:latin typeface="Arial" pitchFamily="34" charset="0"/>
                <a:ea typeface="Arial" pitchFamily="34" charset="-122"/>
                <a:cs typeface="Arial" pitchFamily="34" charset="-120"/>
              </a:rPr>
              <a:t>Mirror image across the dominant north–south corridors → dataset is representative.</a:t>
            </a:r>
            <a:endParaRPr lang="en-US" sz="1650"/>
          </a:p>
        </p:txBody>
      </p:sp>
      <p:sp>
        <p:nvSpPr>
          <p:cNvPr id="23" name="Text 20"/>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4" name="Text 21"/>
          <p:cNvSpPr/>
          <p:nvPr/>
        </p:nvSpPr>
        <p:spPr>
          <a:xfrm>
            <a:off x="17155269" y="9715500"/>
            <a:ext cx="256431"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14</a:t>
            </a:r>
            <a:endParaRPr lang="en-US" sz="1275"/>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4232746"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04 · RESULTS — DESCRIPTIVE</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4099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3300" b="1">
                <a:solidFill>
                  <a:srgbClr val="1A1A2E"/>
                </a:solidFill>
                <a:latin typeface="Arial" pitchFamily="34" charset="0"/>
                <a:ea typeface="Arial" pitchFamily="34" charset="-122"/>
                <a:cs typeface="Arial" pitchFamily="34" charset="-120"/>
              </a:rPr>
              <a:t>Redispatch 2.0: more, smaller, shorter events — driven by renewable curtailment</a:t>
            </a:r>
            <a:endParaRPr lang="en-US" sz="3300"/>
          </a:p>
        </p:txBody>
      </p:sp>
      <p:sp>
        <p:nvSpPr>
          <p:cNvPr id="5" name="Shape 3"/>
          <p:cNvSpPr/>
          <p:nvPr/>
        </p:nvSpPr>
        <p:spPr>
          <a:xfrm>
            <a:off x="952500" y="1950690"/>
            <a:ext cx="7461796" cy="3398937"/>
          </a:xfrm>
          <a:prstGeom prst="rect">
            <a:avLst/>
          </a:prstGeom>
          <a:ln w="9525">
            <a:solidFill>
              <a:srgbClr val="E2E8F0"/>
            </a:solidFill>
            <a:prstDash val="solid"/>
          </a:ln>
        </p:spPr>
        <p:txBody>
          <a:bodyPr/>
          <a:lstStyle/>
          <a:p>
            <a:endParaRPr lang="en-GB"/>
          </a:p>
        </p:txBody>
      </p:sp>
      <p:pic>
        <p:nvPicPr>
          <p:cNvPr id="6" name="Image 0" descr="preencoded.png"/>
          <p:cNvPicPr>
            <a:picLocks noChangeAspect="1"/>
          </p:cNvPicPr>
          <p:nvPr/>
        </p:nvPicPr>
        <p:blipFill>
          <a:blip r:embed="rId3"/>
          <a:stretch>
            <a:fillRect/>
          </a:stretch>
        </p:blipFill>
        <p:spPr>
          <a:xfrm>
            <a:off x="952500" y="1950690"/>
            <a:ext cx="7461796" cy="3398937"/>
          </a:xfrm>
          <a:prstGeom prst="rect">
            <a:avLst/>
          </a:prstGeom>
        </p:spPr>
      </p:pic>
      <p:sp>
        <p:nvSpPr>
          <p:cNvPr id="7" name="Text 4"/>
          <p:cNvSpPr/>
          <p:nvPr/>
        </p:nvSpPr>
        <p:spPr>
          <a:xfrm>
            <a:off x="952500" y="5463927"/>
            <a:ext cx="7666028" cy="476250"/>
          </a:xfrm>
          <a:prstGeom prst="rect">
            <a:avLst/>
          </a:prstGeom>
          <a:noFill/>
          <a:ln/>
        </p:spPr>
        <p:txBody>
          <a:bodyPr wrap="square" lIns="25400" tIns="25400" rIns="25400" bIns="25400" rtlCol="0" anchor="t">
            <a:normAutofit lnSpcReduction="10000"/>
          </a:bodyPr>
          <a:lstStyle/>
          <a:p>
            <a:pPr marL="0" indent="0" algn="l">
              <a:buNone/>
            </a:pPr>
            <a:r>
              <a:rPr lang="en-US" sz="1500">
                <a:solidFill>
                  <a:srgbClr val="6B7280"/>
                </a:solidFill>
                <a:latin typeface="Arial" pitchFamily="34" charset="0"/>
                <a:ea typeface="Arial" pitchFamily="34" charset="-122"/>
                <a:cs typeface="Arial" pitchFamily="34" charset="-120"/>
              </a:rPr>
              <a:t>Indexed to 2013: energy peaks 2023 and declines; events rise steadily while mean duration &amp; power fall</a:t>
            </a:r>
            <a:endParaRPr lang="en-US" sz="1500"/>
          </a:p>
        </p:txBody>
      </p:sp>
      <p:sp>
        <p:nvSpPr>
          <p:cNvPr id="8" name="Shape 5"/>
          <p:cNvSpPr/>
          <p:nvPr/>
        </p:nvSpPr>
        <p:spPr>
          <a:xfrm>
            <a:off x="8776246" y="1950690"/>
            <a:ext cx="8578155" cy="3122861"/>
          </a:xfrm>
          <a:prstGeom prst="rect">
            <a:avLst/>
          </a:prstGeom>
          <a:ln w="9525">
            <a:solidFill>
              <a:srgbClr val="E2E8F0"/>
            </a:solidFill>
            <a:prstDash val="solid"/>
          </a:ln>
        </p:spPr>
        <p:txBody>
          <a:bodyPr/>
          <a:lstStyle/>
          <a:p>
            <a:endParaRPr lang="en-GB"/>
          </a:p>
        </p:txBody>
      </p:sp>
      <p:pic>
        <p:nvPicPr>
          <p:cNvPr id="9" name="Image 1" descr="preencoded.png"/>
          <p:cNvPicPr>
            <a:picLocks noChangeAspect="1"/>
          </p:cNvPicPr>
          <p:nvPr/>
        </p:nvPicPr>
        <p:blipFill>
          <a:blip r:embed="rId4"/>
          <a:stretch>
            <a:fillRect/>
          </a:stretch>
        </p:blipFill>
        <p:spPr>
          <a:xfrm>
            <a:off x="8776246" y="1950690"/>
            <a:ext cx="8578155" cy="3122861"/>
          </a:xfrm>
          <a:prstGeom prst="rect">
            <a:avLst/>
          </a:prstGeom>
        </p:spPr>
      </p:pic>
      <p:sp>
        <p:nvSpPr>
          <p:cNvPr id="10" name="Text 6"/>
          <p:cNvSpPr/>
          <p:nvPr/>
        </p:nvSpPr>
        <p:spPr>
          <a:xfrm>
            <a:off x="8776246" y="5187851"/>
            <a:ext cx="8815879" cy="476250"/>
          </a:xfrm>
          <a:prstGeom prst="rect">
            <a:avLst/>
          </a:prstGeom>
          <a:noFill/>
          <a:ln/>
        </p:spPr>
        <p:txBody>
          <a:bodyPr wrap="square" lIns="25400" tIns="25400" rIns="25400" bIns="25400" rtlCol="0" anchor="t">
            <a:normAutofit/>
          </a:bodyPr>
          <a:lstStyle/>
          <a:p>
            <a:pPr marL="0" indent="0" algn="l">
              <a:buNone/>
            </a:pPr>
            <a:r>
              <a:rPr lang="en-US" sz="1500">
                <a:solidFill>
                  <a:srgbClr val="6B7280"/>
                </a:solidFill>
                <a:latin typeface="Arial" pitchFamily="34" charset="0"/>
                <a:ea typeface="Arial" pitchFamily="34" charset="-122"/>
                <a:cs typeface="Arial" pitchFamily="34" charset="-120"/>
              </a:rPr>
              <a:t>Split by direction: the post-2021 surge in event counts is concentrated on the negative (curtailment) side</a:t>
            </a:r>
            <a:endParaRPr lang="en-US" sz="1500"/>
          </a:p>
        </p:txBody>
      </p:sp>
      <p:sp>
        <p:nvSpPr>
          <p:cNvPr id="11" name="Shape 7"/>
          <p:cNvSpPr/>
          <p:nvPr/>
        </p:nvSpPr>
        <p:spPr>
          <a:xfrm>
            <a:off x="952500" y="6149727"/>
            <a:ext cx="16383000" cy="1081980"/>
          </a:xfrm>
          <a:prstGeom prst="rect">
            <a:avLst/>
          </a:prstGeom>
          <a:solidFill>
            <a:srgbClr val="F0F6FB"/>
          </a:solidFill>
          <a:ln/>
        </p:spPr>
        <p:txBody>
          <a:bodyPr/>
          <a:lstStyle/>
          <a:p>
            <a:endParaRPr lang="en-GB"/>
          </a:p>
        </p:txBody>
      </p:sp>
      <p:sp>
        <p:nvSpPr>
          <p:cNvPr id="12" name="Shape 8"/>
          <p:cNvSpPr/>
          <p:nvPr/>
        </p:nvSpPr>
        <p:spPr>
          <a:xfrm>
            <a:off x="952500" y="6149727"/>
            <a:ext cx="57150" cy="1081980"/>
          </a:xfrm>
          <a:prstGeom prst="rect">
            <a:avLst/>
          </a:prstGeom>
          <a:solidFill>
            <a:srgbClr val="0065BD"/>
          </a:solidFill>
          <a:ln/>
        </p:spPr>
        <p:txBody>
          <a:bodyPr/>
          <a:lstStyle/>
          <a:p>
            <a:endParaRPr lang="en-GB"/>
          </a:p>
        </p:txBody>
      </p:sp>
      <p:sp>
        <p:nvSpPr>
          <p:cNvPr id="13" name="Text 9"/>
          <p:cNvSpPr/>
          <p:nvPr/>
        </p:nvSpPr>
        <p:spPr>
          <a:xfrm>
            <a:off x="1333500" y="6359277"/>
            <a:ext cx="16169640" cy="70098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800">
                <a:solidFill>
                  <a:srgbClr val="1A1A2E"/>
                </a:solidFill>
                <a:latin typeface="Arial" pitchFamily="34" charset="0"/>
                <a:ea typeface="Arial" pitchFamily="34" charset="-122"/>
                <a:cs typeface="Arial" pitchFamily="34" charset="-120"/>
              </a:rPr>
              <a:t>Since renewables entered the mechanism (Redispatch 2.0, Oct 2021), many small downward events push counts up while mean duration and power per event fall.</a:t>
            </a:r>
            <a:endParaRPr lang="en-US" sz="1800"/>
          </a:p>
        </p:txBody>
      </p:sp>
      <p:sp>
        <p:nvSpPr>
          <p:cNvPr id="14" name="Text 10"/>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15" name="Text 11"/>
          <p:cNvSpPr/>
          <p:nvPr/>
        </p:nvSpPr>
        <p:spPr>
          <a:xfrm>
            <a:off x="17155269" y="9715500"/>
            <a:ext cx="256431"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15</a:t>
            </a:r>
            <a:endParaRPr lang="en-US" sz="1275"/>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4232746"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04 · RESULTS — DESCRIPTIVE</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4099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3300" b="1">
                <a:solidFill>
                  <a:srgbClr val="1A1A2E"/>
                </a:solidFill>
                <a:latin typeface="Arial" pitchFamily="34" charset="0"/>
                <a:ea typeface="Arial" pitchFamily="34" charset="-122"/>
                <a:cs typeface="Arial" pitchFamily="34" charset="-120"/>
              </a:rPr>
              <a:t>Winter wind drives the largest and longest redispatch events</a:t>
            </a:r>
            <a:endParaRPr lang="en-US" sz="3300"/>
          </a:p>
        </p:txBody>
      </p:sp>
      <p:sp>
        <p:nvSpPr>
          <p:cNvPr id="5" name="Shape 3"/>
          <p:cNvSpPr/>
          <p:nvPr/>
        </p:nvSpPr>
        <p:spPr>
          <a:xfrm>
            <a:off x="952500" y="1950690"/>
            <a:ext cx="10046345" cy="3823395"/>
          </a:xfrm>
          <a:prstGeom prst="rect">
            <a:avLst/>
          </a:prstGeom>
          <a:ln w="9525">
            <a:solidFill>
              <a:srgbClr val="E2E8F0"/>
            </a:solidFill>
            <a:prstDash val="solid"/>
          </a:ln>
        </p:spPr>
        <p:txBody>
          <a:bodyPr/>
          <a:lstStyle/>
          <a:p>
            <a:endParaRPr lang="en-GB"/>
          </a:p>
        </p:txBody>
      </p:sp>
      <p:pic>
        <p:nvPicPr>
          <p:cNvPr id="6" name="Image 0" descr="preencoded.png"/>
          <p:cNvPicPr>
            <a:picLocks noChangeAspect="1"/>
          </p:cNvPicPr>
          <p:nvPr/>
        </p:nvPicPr>
        <p:blipFill>
          <a:blip r:embed="rId3"/>
          <a:stretch>
            <a:fillRect/>
          </a:stretch>
        </p:blipFill>
        <p:spPr>
          <a:xfrm>
            <a:off x="952500" y="1950690"/>
            <a:ext cx="10046345" cy="3823395"/>
          </a:xfrm>
          <a:prstGeom prst="rect">
            <a:avLst/>
          </a:prstGeom>
        </p:spPr>
      </p:pic>
      <p:sp>
        <p:nvSpPr>
          <p:cNvPr id="7" name="Text 4"/>
          <p:cNvSpPr/>
          <p:nvPr/>
        </p:nvSpPr>
        <p:spPr>
          <a:xfrm>
            <a:off x="952500" y="5888385"/>
            <a:ext cx="11030024" cy="257175"/>
          </a:xfrm>
          <a:prstGeom prst="rect">
            <a:avLst/>
          </a:prstGeom>
          <a:noFill/>
          <a:ln/>
        </p:spPr>
        <p:txBody>
          <a:bodyPr wrap="square" lIns="25400" tIns="25400" rIns="25400" bIns="25400" rtlCol="0" anchor="t">
            <a:normAutofit lnSpcReduction="10000"/>
          </a:bodyPr>
          <a:lstStyle/>
          <a:p>
            <a:pPr marL="0" indent="0" algn="l">
              <a:buNone/>
            </a:pPr>
            <a:r>
              <a:rPr lang="en-US" sz="1500">
                <a:solidFill>
                  <a:srgbClr val="6B7280"/>
                </a:solidFill>
                <a:latin typeface="Arial" pitchFamily="34" charset="0"/>
                <a:ea typeface="Arial" pitchFamily="34" charset="-122"/>
                <a:cs typeface="Arial" pitchFamily="34" charset="-120"/>
              </a:rPr>
              <a:t>Share of yearly total by calendar month, 2013–2025 pooled — events vs. volume</a:t>
            </a:r>
            <a:endParaRPr lang="en-US" sz="1500"/>
          </a:p>
        </p:txBody>
      </p:sp>
      <p:sp>
        <p:nvSpPr>
          <p:cNvPr id="8" name="Text 5"/>
          <p:cNvSpPr/>
          <p:nvPr/>
        </p:nvSpPr>
        <p:spPr>
          <a:xfrm>
            <a:off x="11436995" y="1950690"/>
            <a:ext cx="6075460"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a:solidFill>
                  <a:srgbClr val="1A1A2E"/>
                </a:solidFill>
                <a:latin typeface="Arial" pitchFamily="34" charset="0"/>
                <a:ea typeface="Arial" pitchFamily="34" charset="-122"/>
                <a:cs typeface="Arial" pitchFamily="34" charset="-120"/>
              </a:rPr>
              <a:t>Jan / Feb / Nov / Dec </a:t>
            </a:r>
            <a:r>
              <a:rPr lang="en-US" sz="1875">
                <a:solidFill>
                  <a:srgbClr val="1A1A2E"/>
                </a:solidFill>
                <a:latin typeface="Arial" pitchFamily="34" charset="0"/>
                <a:ea typeface="Arial" pitchFamily="34" charset="-122"/>
                <a:cs typeface="Arial" pitchFamily="34" charset="-120"/>
              </a:rPr>
              <a:t>lead in both counts and volume — on- and offshore wind production peaks in winter.</a:t>
            </a:r>
            <a:endParaRPr lang="en-US" sz="1875"/>
          </a:p>
        </p:txBody>
      </p:sp>
      <p:sp>
        <p:nvSpPr>
          <p:cNvPr id="9" name="Text 6"/>
          <p:cNvSpPr/>
          <p:nvPr/>
        </p:nvSpPr>
        <p:spPr>
          <a:xfrm>
            <a:off x="11436995" y="2893665"/>
            <a:ext cx="6075460"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a:solidFill>
                  <a:srgbClr val="1A1A2E"/>
                </a:solidFill>
                <a:latin typeface="Arial" pitchFamily="34" charset="0"/>
                <a:ea typeface="Arial" pitchFamily="34" charset="-122"/>
                <a:cs typeface="Arial" pitchFamily="34" charset="-120"/>
              </a:rPr>
              <a:t>Volume share exceeds event share in winter → </a:t>
            </a:r>
            <a:r>
              <a:rPr lang="en-US" sz="1875" b="1">
                <a:solidFill>
                  <a:srgbClr val="1A1A2E"/>
                </a:solidFill>
                <a:latin typeface="Arial" pitchFamily="34" charset="0"/>
                <a:ea typeface="Arial" pitchFamily="34" charset="-122"/>
                <a:cs typeface="Arial" pitchFamily="34" charset="-120"/>
              </a:rPr>
              <a:t>winter events are larger and longer </a:t>
            </a:r>
            <a:r>
              <a:rPr lang="en-US" sz="1875">
                <a:solidFill>
                  <a:srgbClr val="1A1A2E"/>
                </a:solidFill>
                <a:latin typeface="Arial" pitchFamily="34" charset="0"/>
                <a:ea typeface="Arial" pitchFamily="34" charset="-122"/>
                <a:cs typeface="Arial" pitchFamily="34" charset="-120"/>
              </a:rPr>
              <a:t>.</a:t>
            </a:r>
            <a:endParaRPr lang="en-US" sz="1875"/>
          </a:p>
        </p:txBody>
      </p:sp>
      <p:sp>
        <p:nvSpPr>
          <p:cNvPr id="10" name="Text 7"/>
          <p:cNvSpPr/>
          <p:nvPr/>
        </p:nvSpPr>
        <p:spPr>
          <a:xfrm>
            <a:off x="11436995" y="3836640"/>
            <a:ext cx="6075460" cy="6953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a:solidFill>
                  <a:srgbClr val="6B7280"/>
                </a:solidFill>
                <a:latin typeface="Arial" pitchFamily="34" charset="0"/>
                <a:ea typeface="Arial" pitchFamily="34" charset="-122"/>
                <a:cs typeface="Arial" pitchFamily="34" charset="-120"/>
              </a:rPr>
              <a:t>PV-driven summer events: shorter, smaller, more distributed and closer to demand centres.</a:t>
            </a:r>
            <a:endParaRPr lang="en-US" sz="1725"/>
          </a:p>
        </p:txBody>
      </p:sp>
      <p:sp>
        <p:nvSpPr>
          <p:cNvPr id="11" name="Text 8"/>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12" name="Text 9"/>
          <p:cNvSpPr/>
          <p:nvPr/>
        </p:nvSpPr>
        <p:spPr>
          <a:xfrm>
            <a:off x="17155269" y="9715500"/>
            <a:ext cx="256431"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16</a:t>
            </a:r>
            <a:endParaRPr lang="en-US" sz="1275"/>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236726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04 · RESULTS — SCORING</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52450"/>
          </a:xfrm>
          <a:prstGeom prst="rect">
            <a:avLst/>
          </a:prstGeom>
          <a:noFill/>
          <a:ln/>
        </p:spPr>
        <p:txBody>
          <a:bodyPr wrap="square" lIns="25400" tIns="25400" rIns="25400" bIns="25400" rtlCol="0" anchor="t">
            <a:normAutofit lnSpcReduction="10000"/>
          </a:bodyPr>
          <a:lstStyle/>
          <a:p>
            <a:pPr marL="0" indent="0" algn="l">
              <a:buNone/>
            </a:pPr>
            <a:r>
              <a:rPr lang="en-US" sz="3450" b="1">
                <a:solidFill>
                  <a:srgbClr val="1A1A2E"/>
                </a:solidFill>
                <a:latin typeface="Arial" pitchFamily="34" charset="0"/>
                <a:ea typeface="Arial" pitchFamily="34" charset="-122"/>
                <a:cs typeface="Arial" pitchFamily="34" charset="-120"/>
              </a:rPr>
              <a:t>Our score reproduces the PyPSA-Eur nodal ranking</a:t>
            </a:r>
            <a:endParaRPr lang="en-US" sz="3450"/>
          </a:p>
        </p:txBody>
      </p:sp>
      <p:sp>
        <p:nvSpPr>
          <p:cNvPr id="5" name="Shape 3"/>
          <p:cNvSpPr/>
          <p:nvPr/>
        </p:nvSpPr>
        <p:spPr>
          <a:xfrm>
            <a:off x="952500" y="2057400"/>
            <a:ext cx="5283101" cy="2673548"/>
          </a:xfrm>
          <a:prstGeom prst="rect">
            <a:avLst/>
          </a:prstGeom>
          <a:ln w="19050">
            <a:solidFill>
              <a:srgbClr val="E2E8F0"/>
            </a:solidFill>
            <a:prstDash val="solid"/>
          </a:ln>
        </p:spPr>
        <p:txBody>
          <a:bodyPr/>
          <a:lstStyle/>
          <a:p>
            <a:endParaRPr lang="en-GB"/>
          </a:p>
        </p:txBody>
      </p:sp>
      <p:sp>
        <p:nvSpPr>
          <p:cNvPr id="6" name="Text 4"/>
          <p:cNvSpPr/>
          <p:nvPr/>
        </p:nvSpPr>
        <p:spPr>
          <a:xfrm>
            <a:off x="1295400" y="2362200"/>
            <a:ext cx="5057031" cy="409575"/>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98C6EA"/>
                </a:solidFill>
                <a:latin typeface="Arial" pitchFamily="34" charset="0"/>
                <a:ea typeface="Arial" pitchFamily="34" charset="-122"/>
                <a:cs typeface="Arial" pitchFamily="34" charset="-120"/>
              </a:rPr>
              <a:t>01</a:t>
            </a:r>
            <a:endParaRPr lang="en-US" sz="2550"/>
          </a:p>
        </p:txBody>
      </p:sp>
      <p:sp>
        <p:nvSpPr>
          <p:cNvPr id="7" name="Text 5"/>
          <p:cNvSpPr/>
          <p:nvPr/>
        </p:nvSpPr>
        <p:spPr>
          <a:xfrm>
            <a:off x="1295400" y="2847975"/>
            <a:ext cx="5057031"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a:solidFill>
                  <a:srgbClr val="1A1A2E"/>
                </a:solidFill>
                <a:latin typeface="Arial" pitchFamily="34" charset="0"/>
                <a:ea typeface="Arial" pitchFamily="34" charset="-122"/>
                <a:cs typeface="Arial" pitchFamily="34" charset="-120"/>
              </a:rPr>
              <a:t>Rankings agree — ρ = 0.65</a:t>
            </a:r>
            <a:endParaRPr lang="en-US" sz="1800"/>
          </a:p>
        </p:txBody>
      </p:sp>
      <p:sp>
        <p:nvSpPr>
          <p:cNvPr id="8" name="Text 6"/>
          <p:cNvSpPr/>
          <p:nvPr/>
        </p:nvSpPr>
        <p:spPr>
          <a:xfrm>
            <a:off x="1295400" y="3259336"/>
            <a:ext cx="4735220" cy="90785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a:solidFill>
                  <a:srgbClr val="4A4A6A"/>
                </a:solidFill>
                <a:latin typeface="Arial" pitchFamily="34" charset="0"/>
                <a:ea typeface="Arial" pitchFamily="34" charset="-122"/>
                <a:cs typeface="Arial" pitchFamily="34" charset="-120"/>
              </a:rPr>
              <a:t>Across the 17 German nodes of the 30-node solve, our redispatch score and the PyPSA-Eur ranking agree at Spearman ρ = 0.65 (Kendall τ = 0.43, p = 0.005). Same heuristic on both sides → the agreement is due to the price signal alone.</a:t>
            </a:r>
            <a:endParaRPr lang="en-US" sz="1575"/>
          </a:p>
        </p:txBody>
      </p:sp>
      <p:sp>
        <p:nvSpPr>
          <p:cNvPr id="9" name="Shape 7"/>
          <p:cNvSpPr/>
          <p:nvPr/>
        </p:nvSpPr>
        <p:spPr>
          <a:xfrm>
            <a:off x="6502301" y="2057400"/>
            <a:ext cx="5283250" cy="2673548"/>
          </a:xfrm>
          <a:prstGeom prst="rect">
            <a:avLst/>
          </a:prstGeom>
          <a:ln w="19050">
            <a:solidFill>
              <a:srgbClr val="E2E8F0"/>
            </a:solidFill>
            <a:prstDash val="solid"/>
          </a:ln>
        </p:spPr>
        <p:txBody>
          <a:bodyPr/>
          <a:lstStyle/>
          <a:p>
            <a:endParaRPr lang="en-GB"/>
          </a:p>
        </p:txBody>
      </p:sp>
      <p:sp>
        <p:nvSpPr>
          <p:cNvPr id="10" name="Text 8"/>
          <p:cNvSpPr/>
          <p:nvPr/>
        </p:nvSpPr>
        <p:spPr>
          <a:xfrm>
            <a:off x="6845201" y="2362200"/>
            <a:ext cx="5057195" cy="409575"/>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98C6EA"/>
                </a:solidFill>
                <a:latin typeface="Arial" pitchFamily="34" charset="0"/>
                <a:ea typeface="Arial" pitchFamily="34" charset="-122"/>
                <a:cs typeface="Arial" pitchFamily="34" charset="-120"/>
              </a:rPr>
              <a:t>02</a:t>
            </a:r>
            <a:endParaRPr lang="en-US" sz="2550"/>
          </a:p>
        </p:txBody>
      </p:sp>
      <p:sp>
        <p:nvSpPr>
          <p:cNvPr id="11" name="Text 9"/>
          <p:cNvSpPr/>
          <p:nvPr/>
        </p:nvSpPr>
        <p:spPr>
          <a:xfrm>
            <a:off x="6845201" y="2847975"/>
            <a:ext cx="5057195"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a:solidFill>
                  <a:srgbClr val="1A1A2E"/>
                </a:solidFill>
                <a:latin typeface="Arial" pitchFamily="34" charset="0"/>
                <a:ea typeface="Arial" pitchFamily="34" charset="-122"/>
                <a:cs typeface="Arial" pitchFamily="34" charset="-120"/>
              </a:rPr>
              <a:t>Positive, but not sharp</a:t>
            </a:r>
            <a:endParaRPr lang="en-US" sz="1800"/>
          </a:p>
        </p:txBody>
      </p:sp>
      <p:sp>
        <p:nvSpPr>
          <p:cNvPr id="12" name="Text 10"/>
          <p:cNvSpPr/>
          <p:nvPr/>
        </p:nvSpPr>
        <p:spPr>
          <a:xfrm>
            <a:off x="6845201" y="3259336"/>
            <a:ext cx="4735373" cy="90785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a:solidFill>
                  <a:srgbClr val="4A4A6A"/>
                </a:solidFill>
                <a:latin typeface="Arial" pitchFamily="34" charset="0"/>
                <a:ea typeface="Arial" pitchFamily="34" charset="-122"/>
                <a:cs typeface="Arial" pitchFamily="34" charset="-120"/>
              </a:rPr>
              <a:t>With only 17 nodes the estimate is noisy: a node bootstrap gives a 95% CI of [0.24, 0.85], and leave-one-out keeps ρ in 0.58–0.71 — no single node drives the result.</a:t>
            </a:r>
            <a:endParaRPr lang="en-US" sz="1575"/>
          </a:p>
        </p:txBody>
      </p:sp>
      <p:sp>
        <p:nvSpPr>
          <p:cNvPr id="13" name="Shape 11"/>
          <p:cNvSpPr/>
          <p:nvPr/>
        </p:nvSpPr>
        <p:spPr>
          <a:xfrm>
            <a:off x="12052250" y="2057400"/>
            <a:ext cx="5283250" cy="2673548"/>
          </a:xfrm>
          <a:prstGeom prst="rect">
            <a:avLst/>
          </a:prstGeom>
          <a:ln w="19050">
            <a:solidFill>
              <a:srgbClr val="E2E8F0"/>
            </a:solidFill>
            <a:prstDash val="solid"/>
          </a:ln>
        </p:spPr>
        <p:txBody>
          <a:bodyPr/>
          <a:lstStyle/>
          <a:p>
            <a:endParaRPr lang="en-GB"/>
          </a:p>
        </p:txBody>
      </p:sp>
      <p:sp>
        <p:nvSpPr>
          <p:cNvPr id="14" name="Text 12"/>
          <p:cNvSpPr/>
          <p:nvPr/>
        </p:nvSpPr>
        <p:spPr>
          <a:xfrm>
            <a:off x="12395150" y="2362200"/>
            <a:ext cx="5057195" cy="409575"/>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98C6EA"/>
                </a:solidFill>
                <a:latin typeface="Arial" pitchFamily="34" charset="0"/>
                <a:ea typeface="Arial" pitchFamily="34" charset="-122"/>
                <a:cs typeface="Arial" pitchFamily="34" charset="-120"/>
              </a:rPr>
              <a:t>03</a:t>
            </a:r>
            <a:endParaRPr lang="en-US" sz="2550"/>
          </a:p>
        </p:txBody>
      </p:sp>
      <p:sp>
        <p:nvSpPr>
          <p:cNvPr id="15" name="Text 13"/>
          <p:cNvSpPr/>
          <p:nvPr/>
        </p:nvSpPr>
        <p:spPr>
          <a:xfrm>
            <a:off x="12395150" y="2847975"/>
            <a:ext cx="4735373" cy="632222"/>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a:solidFill>
                  <a:srgbClr val="1A1A2E"/>
                </a:solidFill>
                <a:latin typeface="Arial" pitchFamily="34" charset="0"/>
                <a:ea typeface="Arial" pitchFamily="34" charset="-122"/>
                <a:cs typeface="Arial" pitchFamily="34" charset="-120"/>
              </a:rPr>
              <a:t>Converges and is robust</a:t>
            </a:r>
            <a:endParaRPr lang="en-US" sz="1800"/>
          </a:p>
        </p:txBody>
      </p:sp>
      <p:sp>
        <p:nvSpPr>
          <p:cNvPr id="16" name="Text 14"/>
          <p:cNvSpPr/>
          <p:nvPr/>
        </p:nvSpPr>
        <p:spPr>
          <a:xfrm>
            <a:off x="12395150" y="3556397"/>
            <a:ext cx="4735373" cy="90785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a:solidFill>
                  <a:srgbClr val="4A4A6A"/>
                </a:solidFill>
                <a:latin typeface="Arial" pitchFamily="34" charset="0"/>
                <a:ea typeface="Arial" pitchFamily="34" charset="-122"/>
                <a:cs typeface="Arial" pitchFamily="34" charset="-120"/>
              </a:rPr>
              <a:t>Refining the benchmark 10 → 17 nodes raises agreement (ρ = 0.48 → 0.65): the methods converge as resolution improves. Re-valuing with round-trip losses (η = 0.85) leaves ρ = 0.65.</a:t>
            </a:r>
            <a:endParaRPr lang="en-US" sz="1575"/>
          </a:p>
        </p:txBody>
      </p:sp>
      <p:sp>
        <p:nvSpPr>
          <p:cNvPr id="17" name="Shape 15"/>
          <p:cNvSpPr/>
          <p:nvPr/>
        </p:nvSpPr>
        <p:spPr>
          <a:xfrm>
            <a:off x="952500" y="4997648"/>
            <a:ext cx="5283101" cy="2376488"/>
          </a:xfrm>
          <a:prstGeom prst="rect">
            <a:avLst/>
          </a:prstGeom>
          <a:ln w="19050">
            <a:solidFill>
              <a:srgbClr val="E2E8F0"/>
            </a:solidFill>
            <a:prstDash val="solid"/>
          </a:ln>
        </p:spPr>
        <p:txBody>
          <a:bodyPr/>
          <a:lstStyle/>
          <a:p>
            <a:endParaRPr lang="en-GB"/>
          </a:p>
        </p:txBody>
      </p:sp>
      <p:sp>
        <p:nvSpPr>
          <p:cNvPr id="18" name="Text 16"/>
          <p:cNvSpPr/>
          <p:nvPr/>
        </p:nvSpPr>
        <p:spPr>
          <a:xfrm>
            <a:off x="1295400" y="5302448"/>
            <a:ext cx="5057031" cy="409575"/>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98C6EA"/>
                </a:solidFill>
                <a:latin typeface="Arial" pitchFamily="34" charset="0"/>
                <a:ea typeface="Arial" pitchFamily="34" charset="-122"/>
                <a:cs typeface="Arial" pitchFamily="34" charset="-120"/>
              </a:rPr>
              <a:t>04</a:t>
            </a:r>
            <a:endParaRPr lang="en-US" sz="2550"/>
          </a:p>
        </p:txBody>
      </p:sp>
      <p:sp>
        <p:nvSpPr>
          <p:cNvPr id="19" name="Text 17"/>
          <p:cNvSpPr/>
          <p:nvPr/>
        </p:nvSpPr>
        <p:spPr>
          <a:xfrm>
            <a:off x="1295400" y="5788223"/>
            <a:ext cx="5057031"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a:solidFill>
                  <a:srgbClr val="1A1A2E"/>
                </a:solidFill>
                <a:latin typeface="Arial" pitchFamily="34" charset="0"/>
                <a:ea typeface="Arial" pitchFamily="34" charset="-122"/>
                <a:cs typeface="Arial" pitchFamily="34" charset="-120"/>
              </a:rPr>
              <a:t>It is the spread, not the level</a:t>
            </a:r>
            <a:endParaRPr lang="en-US" sz="1800"/>
          </a:p>
        </p:txBody>
      </p:sp>
      <p:sp>
        <p:nvSpPr>
          <p:cNvPr id="20" name="Text 18"/>
          <p:cNvSpPr/>
          <p:nvPr/>
        </p:nvSpPr>
        <p:spPr>
          <a:xfrm>
            <a:off x="1295400" y="6199584"/>
            <a:ext cx="4735220" cy="90785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a:solidFill>
                  <a:srgbClr val="4A4A6A"/>
                </a:solidFill>
                <a:latin typeface="Arial" pitchFamily="34" charset="0"/>
                <a:ea typeface="Arial" pitchFamily="34" charset="-122"/>
                <a:cs typeface="Arial" pitchFamily="34" charset="-120"/>
              </a:rPr>
              <a:t>Value is driven by the intraday price spread (siting vs. spread ρ = 0.60); a naïve |congestion| proxy from mean-price deviation shows nothing (ρ = −0.17, p = 0.50). The score tracks what monetises.</a:t>
            </a:r>
            <a:endParaRPr lang="en-US" sz="1575"/>
          </a:p>
        </p:txBody>
      </p:sp>
      <p:sp>
        <p:nvSpPr>
          <p:cNvPr id="21" name="Shape 19"/>
          <p:cNvSpPr/>
          <p:nvPr/>
        </p:nvSpPr>
        <p:spPr>
          <a:xfrm>
            <a:off x="6502301" y="4997648"/>
            <a:ext cx="5283250" cy="2376488"/>
          </a:xfrm>
          <a:prstGeom prst="rect">
            <a:avLst/>
          </a:prstGeom>
          <a:ln w="19050">
            <a:solidFill>
              <a:srgbClr val="E2E8F0"/>
            </a:solidFill>
            <a:prstDash val="solid"/>
          </a:ln>
        </p:spPr>
        <p:txBody>
          <a:bodyPr/>
          <a:lstStyle/>
          <a:p>
            <a:endParaRPr lang="en-GB"/>
          </a:p>
        </p:txBody>
      </p:sp>
      <p:sp>
        <p:nvSpPr>
          <p:cNvPr id="22" name="Text 20"/>
          <p:cNvSpPr/>
          <p:nvPr/>
        </p:nvSpPr>
        <p:spPr>
          <a:xfrm>
            <a:off x="6845201" y="5302448"/>
            <a:ext cx="5057195" cy="409575"/>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98C6EA"/>
                </a:solidFill>
                <a:latin typeface="Arial" pitchFamily="34" charset="0"/>
                <a:ea typeface="Arial" pitchFamily="34" charset="-122"/>
                <a:cs typeface="Arial" pitchFamily="34" charset="-120"/>
              </a:rPr>
              <a:t>05</a:t>
            </a:r>
            <a:endParaRPr lang="en-US" sz="2550"/>
          </a:p>
        </p:txBody>
      </p:sp>
      <p:sp>
        <p:nvSpPr>
          <p:cNvPr id="23" name="Text 21"/>
          <p:cNvSpPr/>
          <p:nvPr/>
        </p:nvSpPr>
        <p:spPr>
          <a:xfrm>
            <a:off x="6845201" y="5788223"/>
            <a:ext cx="5057195"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a:solidFill>
                  <a:srgbClr val="1A1A2E"/>
                </a:solidFill>
                <a:latin typeface="Arial" pitchFamily="34" charset="0"/>
                <a:ea typeface="Arial" pitchFamily="34" charset="-122"/>
                <a:cs typeface="Arial" pitchFamily="34" charset="-120"/>
              </a:rPr>
              <a:t>Regions yes, buses not yet</a:t>
            </a:r>
            <a:endParaRPr lang="en-US" sz="1800"/>
          </a:p>
        </p:txBody>
      </p:sp>
      <p:sp>
        <p:nvSpPr>
          <p:cNvPr id="24" name="Text 22"/>
          <p:cNvSpPr/>
          <p:nvPr/>
        </p:nvSpPr>
        <p:spPr>
          <a:xfrm>
            <a:off x="6845201" y="6199584"/>
            <a:ext cx="4735373" cy="907852"/>
          </a:xfrm>
          <a:prstGeom prst="rect">
            <a:avLst/>
          </a:prstGeom>
          <a:noFill/>
          <a:ln/>
        </p:spPr>
        <p:txBody>
          <a:bodyPr wrap="square" lIns="25400" tIns="25400" rIns="25400" bIns="25400" rtlCol="0" anchor="t">
            <a:normAutofit/>
          </a:bodyPr>
          <a:lstStyle/>
          <a:p>
            <a:pPr marL="0" indent="0" algn="l">
              <a:lnSpc>
                <a:spcPct val="145000"/>
              </a:lnSpc>
              <a:buNone/>
            </a:pPr>
            <a:r>
              <a:rPr lang="en-US" sz="1550">
                <a:solidFill>
                  <a:srgbClr val="4A4A6A"/>
                </a:solidFill>
                <a:latin typeface="Arial"/>
                <a:ea typeface="Arial" pitchFamily="34" charset="-122"/>
                <a:cs typeface="Arial"/>
              </a:rPr>
              <a:t>Agreement holds across node regions but weakens at individual buses (ρ = 0.30) — a limit of the 17-node benchmark, which assigns one flat value per region, not of the finer within-region signal our score resolves.</a:t>
            </a:r>
            <a:endParaRPr lang="en-US" sz="1550">
              <a:latin typeface="Arial"/>
              <a:cs typeface="Arial"/>
            </a:endParaRPr>
          </a:p>
        </p:txBody>
      </p:sp>
      <p:sp>
        <p:nvSpPr>
          <p:cNvPr id="25" name="Shape 23"/>
          <p:cNvSpPr/>
          <p:nvPr/>
        </p:nvSpPr>
        <p:spPr>
          <a:xfrm>
            <a:off x="12052250" y="4997648"/>
            <a:ext cx="5283250" cy="2376488"/>
          </a:xfrm>
          <a:prstGeom prst="rect">
            <a:avLst/>
          </a:prstGeom>
          <a:solidFill>
            <a:srgbClr val="F0F6FB"/>
          </a:solidFill>
          <a:ln/>
        </p:spPr>
        <p:txBody>
          <a:bodyPr/>
          <a:lstStyle/>
          <a:p>
            <a:endParaRPr lang="en-GB"/>
          </a:p>
        </p:txBody>
      </p:sp>
      <p:sp>
        <p:nvSpPr>
          <p:cNvPr id="26" name="Shape 24"/>
          <p:cNvSpPr/>
          <p:nvPr/>
        </p:nvSpPr>
        <p:spPr>
          <a:xfrm>
            <a:off x="12052250" y="4997648"/>
            <a:ext cx="57150" cy="2376488"/>
          </a:xfrm>
          <a:prstGeom prst="rect">
            <a:avLst/>
          </a:prstGeom>
          <a:solidFill>
            <a:srgbClr val="0065BD"/>
          </a:solidFill>
          <a:ln/>
        </p:spPr>
        <p:txBody>
          <a:bodyPr/>
          <a:lstStyle/>
          <a:p>
            <a:endParaRPr lang="en-GB"/>
          </a:p>
        </p:txBody>
      </p:sp>
      <p:sp>
        <p:nvSpPr>
          <p:cNvPr id="27" name="Text 25"/>
          <p:cNvSpPr/>
          <p:nvPr/>
        </p:nvSpPr>
        <p:spPr>
          <a:xfrm>
            <a:off x="12433250" y="5528667"/>
            <a:ext cx="4715752" cy="1352550"/>
          </a:xfrm>
          <a:prstGeom prst="rect">
            <a:avLst/>
          </a:prstGeom>
          <a:noFill/>
          <a:ln/>
        </p:spPr>
        <p:txBody>
          <a:bodyPr wrap="square" lIns="25400" tIns="25400" rIns="25400" bIns="25400" rtlCol="0" anchor="t">
            <a:normAutofit/>
          </a:bodyPr>
          <a:lstStyle/>
          <a:p>
            <a:pPr marL="0" indent="0" algn="l">
              <a:lnSpc>
                <a:spcPct val="150000"/>
              </a:lnSpc>
              <a:buNone/>
            </a:pPr>
            <a:r>
              <a:rPr lang="en-US" sz="1725">
                <a:solidFill>
                  <a:srgbClr val="1A1A2E"/>
                </a:solidFill>
                <a:latin typeface="Arial" pitchFamily="34" charset="0"/>
                <a:ea typeface="Arial" pitchFamily="34" charset="-122"/>
                <a:cs typeface="Arial" pitchFamily="34" charset="-120"/>
              </a:rPr>
              <a:t>A redispatch-based score with no nodal prices reproduces a physics-based nodal ranking — the locational signal really is recoverable from observed redispatch.</a:t>
            </a:r>
            <a:endParaRPr lang="en-US" sz="1725"/>
          </a:p>
        </p:txBody>
      </p:sp>
      <p:sp>
        <p:nvSpPr>
          <p:cNvPr id="28" name="Text 26"/>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9" name="Text 27"/>
          <p:cNvSpPr/>
          <p:nvPr/>
        </p:nvSpPr>
        <p:spPr>
          <a:xfrm>
            <a:off x="17155269" y="9715500"/>
            <a:ext cx="256431"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17</a:t>
            </a:r>
            <a:endParaRPr lang="en-US" sz="1275"/>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3341F-A2A0-9CEF-FDE6-9A84ED6C107C}"/>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CDECFF7A-236D-9B6E-2F82-F226AFBC6581}"/>
              </a:ext>
            </a:extLst>
          </p:cNvPr>
          <p:cNvSpPr/>
          <p:nvPr/>
        </p:nvSpPr>
        <p:spPr>
          <a:xfrm>
            <a:off x="-2" y="-2"/>
            <a:ext cx="18288000" cy="10287000"/>
          </a:xfrm>
          <a:prstGeom prst="rect">
            <a:avLst/>
          </a:prstGeom>
          <a:solidFill>
            <a:srgbClr val="005293">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91440" rIns="182880" bIns="91440" numCol="1" spcCol="0" rtlCol="0" fromWordArt="0" anchor="t" anchorCtr="0" forceAA="0" compatLnSpc="1">
            <a:prstTxWarp prst="textNoShape">
              <a:avLst/>
            </a:prstTxWarp>
            <a:noAutofit/>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gn="ctr">
              <a:lnSpc>
                <a:spcPct val="114000"/>
              </a:lnSpc>
            </a:pPr>
            <a:endParaRPr lang="en-US"/>
          </a:p>
        </p:txBody>
      </p:sp>
      <p:graphicFrame>
        <p:nvGraphicFramePr>
          <p:cNvPr id="6" name="think-cell data - do not delete" hidden="1">
            <a:extLst>
              <a:ext uri="{FF2B5EF4-FFF2-40B4-BE49-F238E27FC236}">
                <a16:creationId xmlns:a16="http://schemas.microsoft.com/office/drawing/2014/main" id="{244F1E5E-99AC-2B48-7E3C-AD2FDD6F6136}"/>
              </a:ext>
            </a:extLst>
          </p:cNvPr>
          <p:cNvGraphicFramePr>
            <a:graphicFrameLocks/>
          </p:cNvGraphicFramePr>
          <p:nvPr>
            <p:custDataLst>
              <p:tags r:id="rId1"/>
            </p:custDataLst>
          </p:nvPr>
        </p:nvGraphicFramePr>
        <p:xfrm>
          <a:off x="3176" y="3176"/>
          <a:ext cx="3176" cy="3176"/>
        </p:xfrm>
        <a:graphic>
          <a:graphicData uri="http://schemas.openxmlformats.org/presentationml/2006/ole">
            <mc:AlternateContent xmlns:mc="http://schemas.openxmlformats.org/markup-compatibility/2006">
              <mc:Choice xmlns:v="urn:schemas-microsoft-com:vml" Requires="v">
                <p:oleObj name="think-cell Slide" r:id="rId4" imgW="404" imgH="403" progId="TCLayout.ActiveDocument.1">
                  <p:embed/>
                </p:oleObj>
              </mc:Choice>
              <mc:Fallback>
                <p:oleObj name="think-cell Slide" r:id="rId4" imgW="404" imgH="403" progId="TCLayout.ActiveDocument.1">
                  <p:embed/>
                  <p:pic>
                    <p:nvPicPr>
                      <p:cNvPr id="6" name="think-cell data - do not delete" hidden="1">
                        <a:extLst>
                          <a:ext uri="{FF2B5EF4-FFF2-40B4-BE49-F238E27FC236}">
                            <a16:creationId xmlns:a16="http://schemas.microsoft.com/office/drawing/2014/main" id="{244F1E5E-99AC-2B48-7E3C-AD2FDD6F6136}"/>
                          </a:ext>
                        </a:extLst>
                      </p:cNvPr>
                      <p:cNvPicPr/>
                      <p:nvPr/>
                    </p:nvPicPr>
                    <p:blipFill>
                      <a:blip r:embed="rId5"/>
                      <a:stretch>
                        <a:fillRect/>
                      </a:stretch>
                    </p:blipFill>
                    <p:spPr>
                      <a:xfrm>
                        <a:off x="3176" y="3176"/>
                        <a:ext cx="3176" cy="3176"/>
                      </a:xfrm>
                      <a:prstGeom prst="rect">
                        <a:avLst/>
                      </a:prstGeom>
                    </p:spPr>
                  </p:pic>
                </p:oleObj>
              </mc:Fallback>
            </mc:AlternateContent>
          </a:graphicData>
        </a:graphic>
      </p:graphicFrame>
      <p:pic>
        <p:nvPicPr>
          <p:cNvPr id="1026" name="Picture 2" descr="Offshore wind energy | RVO.nl">
            <a:extLst>
              <a:ext uri="{FF2B5EF4-FFF2-40B4-BE49-F238E27FC236}">
                <a16:creationId xmlns:a16="http://schemas.microsoft.com/office/drawing/2014/main" id="{D705ABE3-BF10-44E3-46DD-4CE5F4EC4D2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26325" b="35318"/>
          <a:stretch>
            <a:fillRect/>
          </a:stretch>
        </p:blipFill>
        <p:spPr bwMode="auto">
          <a:xfrm>
            <a:off x="0" y="-1"/>
            <a:ext cx="18288000" cy="10287002"/>
          </a:xfrm>
          <a:prstGeom prst="rect">
            <a:avLst/>
          </a:prstGeom>
          <a:noFill/>
        </p:spPr>
      </p:pic>
      <p:pic>
        <p:nvPicPr>
          <p:cNvPr id="11" name="Picture 10">
            <a:extLst>
              <a:ext uri="{FF2B5EF4-FFF2-40B4-BE49-F238E27FC236}">
                <a16:creationId xmlns:a16="http://schemas.microsoft.com/office/drawing/2014/main" id="{A70AEE9B-43BE-4A63-59A5-26BCE33A0BB6}"/>
              </a:ext>
            </a:extLst>
          </p:cNvPr>
          <p:cNvPicPr>
            <a:picLocks noChangeAspect="1"/>
          </p:cNvPicPr>
          <p:nvPr/>
        </p:nvPicPr>
        <p:blipFill>
          <a:blip r:embed="rId7"/>
          <a:stretch>
            <a:fillRect/>
          </a:stretch>
        </p:blipFill>
        <p:spPr>
          <a:xfrm>
            <a:off x="16623018" y="531203"/>
            <a:ext cx="1059148" cy="965774"/>
          </a:xfrm>
          <a:prstGeom prst="rect">
            <a:avLst/>
          </a:prstGeom>
        </p:spPr>
      </p:pic>
      <p:sp>
        <p:nvSpPr>
          <p:cNvPr id="2" name="Titel 4">
            <a:extLst>
              <a:ext uri="{FF2B5EF4-FFF2-40B4-BE49-F238E27FC236}">
                <a16:creationId xmlns:a16="http://schemas.microsoft.com/office/drawing/2014/main" id="{2E05A3A1-174E-0969-CD10-A7FDBCD551F1}"/>
              </a:ext>
            </a:extLst>
          </p:cNvPr>
          <p:cNvSpPr txBox="1">
            <a:spLocks/>
          </p:cNvSpPr>
          <p:nvPr/>
        </p:nvSpPr>
        <p:spPr>
          <a:xfrm>
            <a:off x="942981" y="2248798"/>
            <a:ext cx="17017998" cy="200840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914400" algn="l" rtl="0" fontAlgn="base">
              <a:spcBef>
                <a:spcPct val="0"/>
              </a:spcBef>
              <a:spcAft>
                <a:spcPct val="0"/>
              </a:spcAft>
              <a:defRPr kern="1200">
                <a:solidFill>
                  <a:schemeClr val="tx1"/>
                </a:solidFill>
                <a:latin typeface="Arial" charset="0"/>
                <a:ea typeface="+mn-ea"/>
                <a:cs typeface="Arial" charset="0"/>
              </a:defRPr>
            </a:lvl2pPr>
            <a:lvl3pPr marL="1828800" algn="l" rtl="0" fontAlgn="base">
              <a:spcBef>
                <a:spcPct val="0"/>
              </a:spcBef>
              <a:spcAft>
                <a:spcPct val="0"/>
              </a:spcAft>
              <a:defRPr kern="1200">
                <a:solidFill>
                  <a:schemeClr val="tx1"/>
                </a:solidFill>
                <a:latin typeface="Arial" charset="0"/>
                <a:ea typeface="+mn-ea"/>
                <a:cs typeface="Arial" charset="0"/>
              </a:defRPr>
            </a:lvl3pPr>
            <a:lvl4pPr marL="2743200" algn="l" rtl="0" fontAlgn="base">
              <a:spcBef>
                <a:spcPct val="0"/>
              </a:spcBef>
              <a:spcAft>
                <a:spcPct val="0"/>
              </a:spcAft>
              <a:defRPr kern="1200">
                <a:solidFill>
                  <a:schemeClr val="tx1"/>
                </a:solidFill>
                <a:latin typeface="Arial" charset="0"/>
                <a:ea typeface="+mn-ea"/>
                <a:cs typeface="Arial" charset="0"/>
              </a:defRPr>
            </a:lvl4pPr>
            <a:lvl5pPr marL="3657600" algn="l" rtl="0" fontAlgn="base">
              <a:spcBef>
                <a:spcPct val="0"/>
              </a:spcBef>
              <a:spcAft>
                <a:spcPct val="0"/>
              </a:spcAft>
              <a:defRPr kern="1200">
                <a:solidFill>
                  <a:schemeClr val="tx1"/>
                </a:solidFill>
                <a:latin typeface="Arial" charset="0"/>
                <a:ea typeface="+mn-ea"/>
                <a:cs typeface="Arial" charset="0"/>
              </a:defRPr>
            </a:lvl5pPr>
            <a:lvl6pPr marL="4572000" algn="l" defTabSz="1828800" rtl="0" eaLnBrk="1" latinLnBrk="0" hangingPunct="1">
              <a:defRPr kern="1200">
                <a:solidFill>
                  <a:schemeClr val="tx1"/>
                </a:solidFill>
                <a:latin typeface="Arial" charset="0"/>
                <a:ea typeface="+mn-ea"/>
                <a:cs typeface="Arial" charset="0"/>
              </a:defRPr>
            </a:lvl6pPr>
            <a:lvl7pPr marL="5486400" algn="l" defTabSz="1828800" rtl="0" eaLnBrk="1" latinLnBrk="0" hangingPunct="1">
              <a:defRPr kern="1200">
                <a:solidFill>
                  <a:schemeClr val="tx1"/>
                </a:solidFill>
                <a:latin typeface="Arial" charset="0"/>
                <a:ea typeface="+mn-ea"/>
                <a:cs typeface="Arial" charset="0"/>
              </a:defRPr>
            </a:lvl7pPr>
            <a:lvl8pPr marL="6400800" algn="l" defTabSz="1828800" rtl="0" eaLnBrk="1" latinLnBrk="0" hangingPunct="1">
              <a:defRPr kern="1200">
                <a:solidFill>
                  <a:schemeClr val="tx1"/>
                </a:solidFill>
                <a:latin typeface="Arial" charset="0"/>
                <a:ea typeface="+mn-ea"/>
                <a:cs typeface="Arial" charset="0"/>
              </a:defRPr>
            </a:lvl8pPr>
            <a:lvl9pPr marL="7315200" algn="l" defTabSz="1828800" rtl="0" eaLnBrk="1" latinLnBrk="0" hangingPunct="1">
              <a:defRPr kern="1200">
                <a:solidFill>
                  <a:schemeClr val="tx1"/>
                </a:solidFill>
                <a:latin typeface="Arial" charset="0"/>
                <a:ea typeface="+mn-ea"/>
                <a:cs typeface="Arial" charset="0"/>
              </a:defRPr>
            </a:lvl9pPr>
          </a:lstStyle>
          <a:p>
            <a:pPr>
              <a:lnSpc>
                <a:spcPct val="114999"/>
              </a:lnSpc>
              <a:spcBef>
                <a:spcPts val="0"/>
              </a:spcBef>
              <a:spcAft>
                <a:spcPts val="0"/>
              </a:spcAft>
            </a:pPr>
            <a:r>
              <a:rPr lang="en-US" sz="6400" b="1" dirty="0">
                <a:solidFill>
                  <a:srgbClr val="0070C0"/>
                </a:solidFill>
                <a:latin typeface="Arial Nova"/>
                <a:cs typeface="Arial"/>
              </a:rPr>
              <a:t>Chapter 5:</a:t>
            </a:r>
          </a:p>
          <a:p>
            <a:pPr>
              <a:lnSpc>
                <a:spcPct val="114999"/>
              </a:lnSpc>
              <a:spcBef>
                <a:spcPts val="0"/>
              </a:spcBef>
              <a:spcAft>
                <a:spcPts val="0"/>
              </a:spcAft>
            </a:pPr>
            <a:r>
              <a:rPr lang="en-US" sz="6400" b="1" dirty="0">
                <a:solidFill>
                  <a:srgbClr val="0070C0"/>
                </a:solidFill>
                <a:latin typeface="Arial Nova"/>
                <a:cs typeface="Arial"/>
              </a:rPr>
              <a:t>Discussion</a:t>
            </a:r>
            <a:endParaRPr lang="en-US" sz="7200" b="1" dirty="0">
              <a:latin typeface="Arial Nova" panose="020F0502020204030204" pitchFamily="34" charset="0"/>
            </a:endParaRPr>
          </a:p>
        </p:txBody>
      </p:sp>
    </p:spTree>
    <p:extLst>
      <p:ext uri="{BB962C8B-B14F-4D97-AF65-F5344CB8AC3E}">
        <p14:creationId xmlns:p14="http://schemas.microsoft.com/office/powerpoint/2010/main" val="984419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236726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05 · DISCUSSION</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52450"/>
          </a:xfrm>
          <a:prstGeom prst="rect">
            <a:avLst/>
          </a:prstGeom>
          <a:noFill/>
          <a:ln/>
        </p:spPr>
        <p:txBody>
          <a:bodyPr wrap="square" lIns="25400" tIns="25400" rIns="25400" bIns="25400" rtlCol="0" anchor="t">
            <a:normAutofit lnSpcReduction="10000"/>
          </a:bodyPr>
          <a:lstStyle/>
          <a:p>
            <a:pPr marL="0" indent="0" algn="l">
              <a:buNone/>
            </a:pPr>
            <a:r>
              <a:rPr lang="en-US" sz="3450" b="1">
                <a:solidFill>
                  <a:srgbClr val="1A1A2E"/>
                </a:solidFill>
                <a:latin typeface="Arial" pitchFamily="34" charset="0"/>
                <a:ea typeface="Arial" pitchFamily="34" charset="-122"/>
                <a:cs typeface="Arial" pitchFamily="34" charset="-120"/>
              </a:rPr>
              <a:t>Limitations of the scoring</a:t>
            </a:r>
            <a:endParaRPr lang="en-US" sz="3450"/>
          </a:p>
        </p:txBody>
      </p:sp>
      <p:sp>
        <p:nvSpPr>
          <p:cNvPr id="5" name="Shape 3"/>
          <p:cNvSpPr/>
          <p:nvPr/>
        </p:nvSpPr>
        <p:spPr>
          <a:xfrm>
            <a:off x="952500" y="2057400"/>
            <a:ext cx="5283101" cy="2673548"/>
          </a:xfrm>
          <a:prstGeom prst="rect">
            <a:avLst/>
          </a:prstGeom>
          <a:ln w="19050">
            <a:solidFill>
              <a:srgbClr val="E2E8F0"/>
            </a:solidFill>
            <a:prstDash val="solid"/>
          </a:ln>
        </p:spPr>
        <p:txBody>
          <a:bodyPr/>
          <a:lstStyle/>
          <a:p>
            <a:endParaRPr lang="en-GB"/>
          </a:p>
        </p:txBody>
      </p:sp>
      <p:sp>
        <p:nvSpPr>
          <p:cNvPr id="6" name="Text 4"/>
          <p:cNvSpPr/>
          <p:nvPr/>
        </p:nvSpPr>
        <p:spPr>
          <a:xfrm>
            <a:off x="1295400" y="2362200"/>
            <a:ext cx="5057031" cy="409575"/>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98C6EA"/>
                </a:solidFill>
                <a:latin typeface="Arial" pitchFamily="34" charset="0"/>
                <a:ea typeface="Arial" pitchFamily="34" charset="-122"/>
                <a:cs typeface="Arial" pitchFamily="34" charset="-120"/>
              </a:rPr>
              <a:t>01</a:t>
            </a:r>
            <a:endParaRPr lang="en-US" sz="2550"/>
          </a:p>
        </p:txBody>
      </p:sp>
      <p:sp>
        <p:nvSpPr>
          <p:cNvPr id="7" name="Text 5"/>
          <p:cNvSpPr/>
          <p:nvPr/>
        </p:nvSpPr>
        <p:spPr>
          <a:xfrm>
            <a:off x="1295400" y="2847975"/>
            <a:ext cx="5057031"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a:solidFill>
                  <a:srgbClr val="1A1A2E"/>
                </a:solidFill>
                <a:latin typeface="Arial" pitchFamily="34" charset="0"/>
                <a:ea typeface="Arial" pitchFamily="34" charset="-122"/>
                <a:cs typeface="Arial" pitchFamily="34" charset="-120"/>
              </a:rPr>
              <a:t>Signal anchored to plants, not constraints</a:t>
            </a:r>
            <a:endParaRPr lang="en-US" sz="1800"/>
          </a:p>
        </p:txBody>
      </p:sp>
      <p:sp>
        <p:nvSpPr>
          <p:cNvPr id="8" name="Text 6"/>
          <p:cNvSpPr/>
          <p:nvPr/>
        </p:nvSpPr>
        <p:spPr>
          <a:xfrm>
            <a:off x="1295400" y="3259336"/>
            <a:ext cx="4735220" cy="90785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a:solidFill>
                  <a:srgbClr val="4A4A6A"/>
                </a:solidFill>
                <a:latin typeface="Arial" pitchFamily="34" charset="0"/>
                <a:ea typeface="Arial" pitchFamily="34" charset="-122"/>
                <a:cs typeface="Arial" pitchFamily="34" charset="-120"/>
              </a:rPr>
              <a:t>The wedge sits at the redispatched plant — the actuator — not at the binding line. PTDF mitigates, but cannot relocate a mislocated signal.</a:t>
            </a:r>
            <a:endParaRPr lang="en-US" sz="1575"/>
          </a:p>
        </p:txBody>
      </p:sp>
      <p:sp>
        <p:nvSpPr>
          <p:cNvPr id="9" name="Shape 7"/>
          <p:cNvSpPr/>
          <p:nvPr/>
        </p:nvSpPr>
        <p:spPr>
          <a:xfrm>
            <a:off x="6502301" y="2057400"/>
            <a:ext cx="5283250" cy="2673548"/>
          </a:xfrm>
          <a:prstGeom prst="rect">
            <a:avLst/>
          </a:prstGeom>
          <a:ln w="19050">
            <a:solidFill>
              <a:srgbClr val="E2E8F0"/>
            </a:solidFill>
            <a:prstDash val="solid"/>
          </a:ln>
        </p:spPr>
        <p:txBody>
          <a:bodyPr/>
          <a:lstStyle/>
          <a:p>
            <a:endParaRPr lang="en-GB"/>
          </a:p>
        </p:txBody>
      </p:sp>
      <p:sp>
        <p:nvSpPr>
          <p:cNvPr id="10" name="Text 8"/>
          <p:cNvSpPr/>
          <p:nvPr/>
        </p:nvSpPr>
        <p:spPr>
          <a:xfrm>
            <a:off x="6845201" y="2362200"/>
            <a:ext cx="5057195" cy="409575"/>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98C6EA"/>
                </a:solidFill>
                <a:latin typeface="Arial" pitchFamily="34" charset="0"/>
                <a:ea typeface="Arial" pitchFamily="34" charset="-122"/>
                <a:cs typeface="Arial" pitchFamily="34" charset="-120"/>
              </a:rPr>
              <a:t>02</a:t>
            </a:r>
            <a:endParaRPr lang="en-US" sz="2550"/>
          </a:p>
        </p:txBody>
      </p:sp>
      <p:sp>
        <p:nvSpPr>
          <p:cNvPr id="11" name="Text 9"/>
          <p:cNvSpPr/>
          <p:nvPr/>
        </p:nvSpPr>
        <p:spPr>
          <a:xfrm>
            <a:off x="6845201" y="2847975"/>
            <a:ext cx="5057195"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a:solidFill>
                  <a:srgbClr val="1A1A2E"/>
                </a:solidFill>
                <a:latin typeface="Arial" pitchFamily="34" charset="0"/>
                <a:ea typeface="Arial" pitchFamily="34" charset="-122"/>
                <a:cs typeface="Arial" pitchFamily="34" charset="-120"/>
              </a:rPr>
              <a:t>Transmission level only</a:t>
            </a:r>
            <a:endParaRPr lang="en-US" sz="1800"/>
          </a:p>
        </p:txBody>
      </p:sp>
      <p:sp>
        <p:nvSpPr>
          <p:cNvPr id="12" name="Text 10"/>
          <p:cNvSpPr/>
          <p:nvPr/>
        </p:nvSpPr>
        <p:spPr>
          <a:xfrm>
            <a:off x="6845201" y="3259336"/>
            <a:ext cx="4735373" cy="90785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a:solidFill>
                  <a:srgbClr val="4A4A6A"/>
                </a:solidFill>
                <a:latin typeface="Arial" pitchFamily="34" charset="0"/>
                <a:ea typeface="Arial" pitchFamily="34" charset="-122"/>
                <a:cs typeface="Arial" pitchFamily="34" charset="-120"/>
              </a:rPr>
              <a:t>DSO-level congestion is invisible — a battery relieving distribution grids can score poorly despite being well placed.</a:t>
            </a:r>
            <a:endParaRPr lang="en-US" sz="1575"/>
          </a:p>
        </p:txBody>
      </p:sp>
      <p:sp>
        <p:nvSpPr>
          <p:cNvPr id="13" name="Shape 11"/>
          <p:cNvSpPr/>
          <p:nvPr/>
        </p:nvSpPr>
        <p:spPr>
          <a:xfrm>
            <a:off x="12052250" y="2057400"/>
            <a:ext cx="5283250" cy="2673548"/>
          </a:xfrm>
          <a:prstGeom prst="rect">
            <a:avLst/>
          </a:prstGeom>
          <a:ln w="19050">
            <a:solidFill>
              <a:srgbClr val="E2E8F0"/>
            </a:solidFill>
            <a:prstDash val="solid"/>
          </a:ln>
        </p:spPr>
        <p:txBody>
          <a:bodyPr/>
          <a:lstStyle/>
          <a:p>
            <a:endParaRPr lang="en-GB"/>
          </a:p>
        </p:txBody>
      </p:sp>
      <p:sp>
        <p:nvSpPr>
          <p:cNvPr id="14" name="Text 12"/>
          <p:cNvSpPr/>
          <p:nvPr/>
        </p:nvSpPr>
        <p:spPr>
          <a:xfrm>
            <a:off x="12395150" y="2362200"/>
            <a:ext cx="5057195" cy="409575"/>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98C6EA"/>
                </a:solidFill>
                <a:latin typeface="Arial" pitchFamily="34" charset="0"/>
                <a:ea typeface="Arial" pitchFamily="34" charset="-122"/>
                <a:cs typeface="Arial" pitchFamily="34" charset="-120"/>
              </a:rPr>
              <a:t>03</a:t>
            </a:r>
            <a:endParaRPr lang="en-US" sz="2550"/>
          </a:p>
        </p:txBody>
      </p:sp>
      <p:sp>
        <p:nvSpPr>
          <p:cNvPr id="15" name="Text 13"/>
          <p:cNvSpPr/>
          <p:nvPr/>
        </p:nvSpPr>
        <p:spPr>
          <a:xfrm>
            <a:off x="12395150" y="2847975"/>
            <a:ext cx="4735373" cy="632222"/>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a:solidFill>
                  <a:srgbClr val="1A1A2E"/>
                </a:solidFill>
                <a:latin typeface="Arial" pitchFamily="34" charset="0"/>
                <a:ea typeface="Arial" pitchFamily="34" charset="-122"/>
                <a:cs typeface="Arial" pitchFamily="34" charset="-120"/>
              </a:rPr>
              <a:t>~30% of volume unobserved — and not at random</a:t>
            </a:r>
            <a:endParaRPr lang="en-US" sz="1800"/>
          </a:p>
        </p:txBody>
      </p:sp>
      <p:sp>
        <p:nvSpPr>
          <p:cNvPr id="16" name="Text 14"/>
          <p:cNvSpPr/>
          <p:nvPr/>
        </p:nvSpPr>
        <p:spPr>
          <a:xfrm>
            <a:off x="12395150" y="3556397"/>
            <a:ext cx="4735373" cy="90785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a:solidFill>
                  <a:srgbClr val="4A4A6A"/>
                </a:solidFill>
                <a:latin typeface="Arial" pitchFamily="34" charset="0"/>
                <a:ea typeface="Arial" pitchFamily="34" charset="-122"/>
                <a:cs typeface="Arial" pitchFamily="34" charset="-120"/>
              </a:rPr>
              <a:t>Countertrading and unmatched plants cluster in space; the north (50Hertz, TenneT) is structurally underrepresented in the effective price.</a:t>
            </a:r>
            <a:endParaRPr lang="en-US" sz="1575"/>
          </a:p>
        </p:txBody>
      </p:sp>
      <p:sp>
        <p:nvSpPr>
          <p:cNvPr id="17" name="Shape 15"/>
          <p:cNvSpPr/>
          <p:nvPr/>
        </p:nvSpPr>
        <p:spPr>
          <a:xfrm>
            <a:off x="952500" y="4997648"/>
            <a:ext cx="5283101" cy="2376488"/>
          </a:xfrm>
          <a:prstGeom prst="rect">
            <a:avLst/>
          </a:prstGeom>
          <a:ln w="19050">
            <a:solidFill>
              <a:srgbClr val="E2E8F0"/>
            </a:solidFill>
            <a:prstDash val="solid"/>
          </a:ln>
        </p:spPr>
        <p:txBody>
          <a:bodyPr/>
          <a:lstStyle/>
          <a:p>
            <a:endParaRPr lang="en-GB"/>
          </a:p>
        </p:txBody>
      </p:sp>
      <p:sp>
        <p:nvSpPr>
          <p:cNvPr id="18" name="Text 16"/>
          <p:cNvSpPr/>
          <p:nvPr/>
        </p:nvSpPr>
        <p:spPr>
          <a:xfrm>
            <a:off x="1295400" y="5302448"/>
            <a:ext cx="5057031" cy="409575"/>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98C6EA"/>
                </a:solidFill>
                <a:latin typeface="Arial" pitchFamily="34" charset="0"/>
                <a:ea typeface="Arial" pitchFamily="34" charset="-122"/>
                <a:cs typeface="Arial" pitchFamily="34" charset="-120"/>
              </a:rPr>
              <a:t>04</a:t>
            </a:r>
            <a:endParaRPr lang="en-US" sz="2550"/>
          </a:p>
        </p:txBody>
      </p:sp>
      <p:sp>
        <p:nvSpPr>
          <p:cNvPr id="19" name="Text 17"/>
          <p:cNvSpPr/>
          <p:nvPr/>
        </p:nvSpPr>
        <p:spPr>
          <a:xfrm>
            <a:off x="1295400" y="5788223"/>
            <a:ext cx="5057031"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a:solidFill>
                  <a:srgbClr val="1A1A2E"/>
                </a:solidFill>
                <a:latin typeface="Arial" pitchFamily="34" charset="0"/>
                <a:ea typeface="Arial" pitchFamily="34" charset="-122"/>
                <a:cs typeface="Arial" pitchFamily="34" charset="-120"/>
              </a:rPr>
              <a:t>Co-located batteries under-ranked</a:t>
            </a:r>
            <a:endParaRPr lang="en-US" sz="1800"/>
          </a:p>
        </p:txBody>
      </p:sp>
      <p:sp>
        <p:nvSpPr>
          <p:cNvPr id="20" name="Text 18"/>
          <p:cNvSpPr/>
          <p:nvPr/>
        </p:nvSpPr>
        <p:spPr>
          <a:xfrm>
            <a:off x="1295400" y="6199584"/>
            <a:ext cx="4735220" cy="90785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a:solidFill>
                  <a:srgbClr val="4A4A6A"/>
                </a:solidFill>
                <a:latin typeface="Arial" pitchFamily="34" charset="0"/>
                <a:ea typeface="Arial" pitchFamily="34" charset="-122"/>
                <a:cs typeface="Arial" pitchFamily="34" charset="-120"/>
              </a:rPr>
              <a:t>Batteries at PV / wind sites help the grid almost by construction, but the pure arbitrage score gives no credit for avoided curtailment.</a:t>
            </a:r>
            <a:endParaRPr lang="en-US" sz="1575"/>
          </a:p>
        </p:txBody>
      </p:sp>
      <p:sp>
        <p:nvSpPr>
          <p:cNvPr id="21" name="Shape 19"/>
          <p:cNvSpPr/>
          <p:nvPr/>
        </p:nvSpPr>
        <p:spPr>
          <a:xfrm>
            <a:off x="6502301" y="4997648"/>
            <a:ext cx="5283250" cy="2376488"/>
          </a:xfrm>
          <a:prstGeom prst="rect">
            <a:avLst/>
          </a:prstGeom>
          <a:ln w="19050">
            <a:solidFill>
              <a:srgbClr val="E2E8F0"/>
            </a:solidFill>
            <a:prstDash val="solid"/>
          </a:ln>
        </p:spPr>
        <p:txBody>
          <a:bodyPr/>
          <a:lstStyle/>
          <a:p>
            <a:endParaRPr lang="en-GB"/>
          </a:p>
        </p:txBody>
      </p:sp>
      <p:sp>
        <p:nvSpPr>
          <p:cNvPr id="22" name="Text 20"/>
          <p:cNvSpPr/>
          <p:nvPr/>
        </p:nvSpPr>
        <p:spPr>
          <a:xfrm>
            <a:off x="6845201" y="5302448"/>
            <a:ext cx="5057195" cy="409575"/>
          </a:xfrm>
          <a:prstGeom prst="rect">
            <a:avLst/>
          </a:prstGeom>
          <a:noFill/>
          <a:ln/>
        </p:spPr>
        <p:txBody>
          <a:bodyPr wrap="square" lIns="25400" tIns="25400" rIns="25400" bIns="25400" rtlCol="0" anchor="t">
            <a:normAutofit lnSpcReduction="10000"/>
          </a:bodyPr>
          <a:lstStyle/>
          <a:p>
            <a:pPr marL="0" indent="0" algn="l">
              <a:buNone/>
            </a:pPr>
            <a:r>
              <a:rPr lang="en-US" sz="2550" b="1">
                <a:solidFill>
                  <a:srgbClr val="98C6EA"/>
                </a:solidFill>
                <a:latin typeface="Arial" pitchFamily="34" charset="0"/>
                <a:ea typeface="Arial" pitchFamily="34" charset="-122"/>
                <a:cs typeface="Arial" pitchFamily="34" charset="-120"/>
              </a:rPr>
              <a:t>05</a:t>
            </a:r>
            <a:endParaRPr lang="en-US" sz="2550"/>
          </a:p>
        </p:txBody>
      </p:sp>
      <p:sp>
        <p:nvSpPr>
          <p:cNvPr id="23" name="Text 21"/>
          <p:cNvSpPr/>
          <p:nvPr/>
        </p:nvSpPr>
        <p:spPr>
          <a:xfrm>
            <a:off x="6845201" y="5788223"/>
            <a:ext cx="5057195"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a:solidFill>
                  <a:srgbClr val="1A1A2E"/>
                </a:solidFill>
                <a:latin typeface="Arial" pitchFamily="34" charset="0"/>
                <a:ea typeface="Arial" pitchFamily="34" charset="-122"/>
                <a:cs typeface="Arial" pitchFamily="34" charset="-120"/>
              </a:rPr>
              <a:t>Today’s congestion, tomorrow’s grid</a:t>
            </a:r>
            <a:endParaRPr lang="en-US" sz="1800"/>
          </a:p>
        </p:txBody>
      </p:sp>
      <p:sp>
        <p:nvSpPr>
          <p:cNvPr id="24" name="Text 22"/>
          <p:cNvSpPr/>
          <p:nvPr/>
        </p:nvSpPr>
        <p:spPr>
          <a:xfrm>
            <a:off x="6845201" y="6199584"/>
            <a:ext cx="4735373" cy="907852"/>
          </a:xfrm>
          <a:prstGeom prst="rect">
            <a:avLst/>
          </a:prstGeom>
          <a:noFill/>
          <a:ln/>
        </p:spPr>
        <p:txBody>
          <a:bodyPr wrap="square" lIns="25400" tIns="25400" rIns="25400" bIns="25400" rtlCol="0" anchor="t">
            <a:normAutofit/>
          </a:bodyPr>
          <a:lstStyle/>
          <a:p>
            <a:pPr marL="0" indent="0" algn="l">
              <a:lnSpc>
                <a:spcPct val="145000"/>
              </a:lnSpc>
              <a:buNone/>
            </a:pPr>
            <a:r>
              <a:rPr lang="en-US" sz="1550">
                <a:solidFill>
                  <a:srgbClr val="4A4A6A"/>
                </a:solidFill>
                <a:latin typeface="Arial"/>
                <a:ea typeface="Arial" pitchFamily="34" charset="-122"/>
                <a:cs typeface="Arial"/>
              </a:rPr>
              <a:t>ΔV reflects present-day congestion; </a:t>
            </a:r>
            <a:r>
              <a:rPr lang="en-US" sz="1550" err="1">
                <a:solidFill>
                  <a:srgbClr val="4A4A6A"/>
                </a:solidFill>
                <a:latin typeface="Arial"/>
                <a:ea typeface="Arial" pitchFamily="34" charset="-122"/>
                <a:cs typeface="Arial"/>
              </a:rPr>
              <a:t>SuedLink</a:t>
            </a:r>
            <a:r>
              <a:rPr lang="en-US" sz="1550">
                <a:solidFill>
                  <a:srgbClr val="4A4A6A"/>
                </a:solidFill>
                <a:latin typeface="Arial"/>
                <a:ea typeface="Arial" pitchFamily="34" charset="-122"/>
                <a:cs typeface="Arial"/>
              </a:rPr>
              <a:t> &amp; </a:t>
            </a:r>
            <a:r>
              <a:rPr lang="en-US" sz="1550" err="1">
                <a:solidFill>
                  <a:srgbClr val="4A4A6A"/>
                </a:solidFill>
                <a:latin typeface="Arial"/>
                <a:ea typeface="Arial" pitchFamily="34" charset="-122"/>
                <a:cs typeface="Arial"/>
              </a:rPr>
              <a:t>SuedOstLink</a:t>
            </a:r>
            <a:r>
              <a:rPr lang="en-US" sz="1550">
                <a:solidFill>
                  <a:srgbClr val="4A4A6A"/>
                </a:solidFill>
                <a:latin typeface="Arial"/>
                <a:ea typeface="Arial" pitchFamily="34" charset="-122"/>
                <a:cs typeface="Arial"/>
              </a:rPr>
              <a:t> will reshape it within a battery’s lifetime.</a:t>
            </a:r>
            <a:endParaRPr lang="en-US" sz="1550">
              <a:latin typeface="Arial"/>
              <a:cs typeface="Arial"/>
            </a:endParaRPr>
          </a:p>
        </p:txBody>
      </p:sp>
      <p:sp>
        <p:nvSpPr>
          <p:cNvPr id="25" name="Shape 23"/>
          <p:cNvSpPr/>
          <p:nvPr/>
        </p:nvSpPr>
        <p:spPr>
          <a:xfrm>
            <a:off x="12052250" y="4997648"/>
            <a:ext cx="5283250" cy="2376488"/>
          </a:xfrm>
          <a:prstGeom prst="rect">
            <a:avLst/>
          </a:prstGeom>
          <a:solidFill>
            <a:srgbClr val="F0F6FB"/>
          </a:solidFill>
          <a:ln/>
        </p:spPr>
        <p:txBody>
          <a:bodyPr/>
          <a:lstStyle/>
          <a:p>
            <a:endParaRPr lang="en-GB"/>
          </a:p>
        </p:txBody>
      </p:sp>
      <p:sp>
        <p:nvSpPr>
          <p:cNvPr id="26" name="Shape 24"/>
          <p:cNvSpPr/>
          <p:nvPr/>
        </p:nvSpPr>
        <p:spPr>
          <a:xfrm>
            <a:off x="12052250" y="4997648"/>
            <a:ext cx="57150" cy="2376488"/>
          </a:xfrm>
          <a:prstGeom prst="rect">
            <a:avLst/>
          </a:prstGeom>
          <a:solidFill>
            <a:srgbClr val="0065BD"/>
          </a:solidFill>
          <a:ln/>
        </p:spPr>
        <p:txBody>
          <a:bodyPr/>
          <a:lstStyle/>
          <a:p>
            <a:endParaRPr lang="en-GB"/>
          </a:p>
        </p:txBody>
      </p:sp>
      <p:sp>
        <p:nvSpPr>
          <p:cNvPr id="27" name="Text 25"/>
          <p:cNvSpPr/>
          <p:nvPr/>
        </p:nvSpPr>
        <p:spPr>
          <a:xfrm>
            <a:off x="12433250" y="5528667"/>
            <a:ext cx="4715752" cy="1352550"/>
          </a:xfrm>
          <a:prstGeom prst="rect">
            <a:avLst/>
          </a:prstGeom>
          <a:noFill/>
          <a:ln/>
        </p:spPr>
        <p:txBody>
          <a:bodyPr wrap="square" lIns="25400" tIns="25400" rIns="25400" bIns="25400" rtlCol="0" anchor="t">
            <a:normAutofit/>
          </a:bodyPr>
          <a:lstStyle/>
          <a:p>
            <a:pPr marL="0" indent="0" algn="l">
              <a:lnSpc>
                <a:spcPct val="150000"/>
              </a:lnSpc>
              <a:buNone/>
            </a:pPr>
            <a:r>
              <a:rPr lang="en-US" sz="1725">
                <a:solidFill>
                  <a:srgbClr val="1A1A2E"/>
                </a:solidFill>
                <a:latin typeface="Arial" pitchFamily="34" charset="0"/>
                <a:ea typeface="Arial" pitchFamily="34" charset="-122"/>
                <a:cs typeface="Arial" pitchFamily="34" charset="-120"/>
              </a:rPr>
              <a:t>Read the scores as a </a:t>
            </a:r>
            <a:r>
              <a:rPr lang="en-US" sz="1725" b="1">
                <a:solidFill>
                  <a:srgbClr val="1A1A2E"/>
                </a:solidFill>
                <a:latin typeface="Arial" pitchFamily="34" charset="0"/>
                <a:ea typeface="Arial" pitchFamily="34" charset="-122"/>
                <a:cs typeface="Arial" pitchFamily="34" charset="-120"/>
              </a:rPr>
              <a:t>relative, transmission-level ranking </a:t>
            </a:r>
            <a:r>
              <a:rPr lang="en-US" sz="1725">
                <a:solidFill>
                  <a:srgbClr val="1A1A2E"/>
                </a:solidFill>
                <a:latin typeface="Arial" pitchFamily="34" charset="0"/>
                <a:ea typeface="Arial" pitchFamily="34" charset="-122"/>
                <a:cs typeface="Arial" pitchFamily="34" charset="-120"/>
              </a:rPr>
              <a:t>against observable redispatch — not an absolute node-level verdict on any site.</a:t>
            </a:r>
            <a:endParaRPr lang="en-US" sz="1725"/>
          </a:p>
        </p:txBody>
      </p:sp>
      <p:sp>
        <p:nvSpPr>
          <p:cNvPr id="28" name="Text 26"/>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9" name="Text 27"/>
          <p:cNvSpPr/>
          <p:nvPr/>
        </p:nvSpPr>
        <p:spPr>
          <a:xfrm>
            <a:off x="17155269" y="9715500"/>
            <a:ext cx="256431"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18</a:t>
            </a:r>
            <a:endParaRPr lang="en-US" sz="1275"/>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666750"/>
            <a:ext cx="236726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a:solidFill>
                  <a:srgbClr val="005293"/>
                </a:solidFill>
                <a:latin typeface="Arial" pitchFamily="34" charset="0"/>
                <a:ea typeface="Arial" pitchFamily="34" charset="-122"/>
                <a:cs typeface="Arial" pitchFamily="34" charset="-120"/>
              </a:rPr>
              <a:t>05 · DISCUSSION</a:t>
            </a:r>
            <a:endParaRPr lang="en-US" sz="1650"/>
          </a:p>
        </p:txBody>
      </p:sp>
      <p:sp>
        <p:nvSpPr>
          <p:cNvPr id="3" name="Text 1"/>
          <p:cNvSpPr/>
          <p:nvPr/>
        </p:nvSpPr>
        <p:spPr>
          <a:xfrm>
            <a:off x="16630799" y="666750"/>
            <a:ext cx="780901" cy="361950"/>
          </a:xfrm>
          <a:prstGeom prst="rect">
            <a:avLst/>
          </a:prstGeom>
          <a:noFill/>
          <a:ln/>
        </p:spPr>
        <p:txBody>
          <a:bodyPr wrap="square" lIns="25400" tIns="25400" rIns="25400" bIns="25400" rtlCol="0" anchor="t">
            <a:normAutofit lnSpcReduction="10000"/>
          </a:bodyPr>
          <a:lstStyle/>
          <a:p>
            <a:pPr marL="0" indent="0" algn="l">
              <a:buNone/>
            </a:pPr>
            <a:r>
              <a:rPr lang="en-US" sz="2250" b="1" kern="0" spc="225">
                <a:solidFill>
                  <a:srgbClr val="0065BD"/>
                </a:solidFill>
                <a:latin typeface="Arial" pitchFamily="34" charset="0"/>
                <a:ea typeface="Arial" pitchFamily="34" charset="-122"/>
                <a:cs typeface="Arial" pitchFamily="34" charset="-120"/>
              </a:rPr>
              <a:t>TUM</a:t>
            </a:r>
            <a:endParaRPr lang="en-US" sz="2250"/>
          </a:p>
        </p:txBody>
      </p:sp>
      <p:sp>
        <p:nvSpPr>
          <p:cNvPr id="4" name="Text 2"/>
          <p:cNvSpPr/>
          <p:nvPr/>
        </p:nvSpPr>
        <p:spPr>
          <a:xfrm>
            <a:off x="952500" y="1123950"/>
            <a:ext cx="18021300" cy="552450"/>
          </a:xfrm>
          <a:prstGeom prst="rect">
            <a:avLst/>
          </a:prstGeom>
          <a:noFill/>
          <a:ln/>
        </p:spPr>
        <p:txBody>
          <a:bodyPr wrap="square" lIns="25400" tIns="25400" rIns="25400" bIns="25400" rtlCol="0" anchor="t">
            <a:normAutofit lnSpcReduction="10000"/>
          </a:bodyPr>
          <a:lstStyle/>
          <a:p>
            <a:pPr marL="0" indent="0" algn="l">
              <a:buNone/>
            </a:pPr>
            <a:r>
              <a:rPr lang="en-US" sz="3450" b="1">
                <a:solidFill>
                  <a:srgbClr val="1A1A2E"/>
                </a:solidFill>
                <a:latin typeface="Arial" pitchFamily="34" charset="0"/>
                <a:ea typeface="Arial" pitchFamily="34" charset="-122"/>
                <a:cs typeface="Arial" pitchFamily="34" charset="-120"/>
              </a:rPr>
              <a:t>What we take away so far</a:t>
            </a:r>
            <a:endParaRPr lang="en-US" sz="3450"/>
          </a:p>
        </p:txBody>
      </p:sp>
      <p:sp>
        <p:nvSpPr>
          <p:cNvPr id="5" name="Shape 3"/>
          <p:cNvSpPr/>
          <p:nvPr/>
        </p:nvSpPr>
        <p:spPr>
          <a:xfrm>
            <a:off x="952500" y="4852988"/>
            <a:ext cx="5257800" cy="19050"/>
          </a:xfrm>
          <a:prstGeom prst="rect">
            <a:avLst/>
          </a:prstGeom>
          <a:solidFill>
            <a:srgbClr val="E2E8F0"/>
          </a:solidFill>
          <a:ln/>
        </p:spPr>
        <p:txBody>
          <a:bodyPr/>
          <a:lstStyle/>
          <a:p>
            <a:endParaRPr lang="en-GB"/>
          </a:p>
        </p:txBody>
      </p:sp>
      <p:sp>
        <p:nvSpPr>
          <p:cNvPr id="6" name="Shape 4"/>
          <p:cNvSpPr/>
          <p:nvPr/>
        </p:nvSpPr>
        <p:spPr>
          <a:xfrm>
            <a:off x="952500" y="2057400"/>
            <a:ext cx="5257800" cy="57150"/>
          </a:xfrm>
          <a:prstGeom prst="rect">
            <a:avLst/>
          </a:prstGeom>
          <a:solidFill>
            <a:srgbClr val="A2AD00"/>
          </a:solidFill>
          <a:ln/>
        </p:spPr>
        <p:txBody>
          <a:bodyPr/>
          <a:lstStyle/>
          <a:p>
            <a:endParaRPr lang="en-GB"/>
          </a:p>
        </p:txBody>
      </p:sp>
      <p:sp>
        <p:nvSpPr>
          <p:cNvPr id="7" name="Shape 5"/>
          <p:cNvSpPr/>
          <p:nvPr/>
        </p:nvSpPr>
        <p:spPr>
          <a:xfrm>
            <a:off x="952500" y="2057400"/>
            <a:ext cx="19050" cy="2814638"/>
          </a:xfrm>
          <a:prstGeom prst="rect">
            <a:avLst/>
          </a:prstGeom>
          <a:solidFill>
            <a:srgbClr val="E2E8F0"/>
          </a:solidFill>
          <a:ln/>
        </p:spPr>
        <p:txBody>
          <a:bodyPr/>
          <a:lstStyle/>
          <a:p>
            <a:endParaRPr lang="en-GB"/>
          </a:p>
        </p:txBody>
      </p:sp>
      <p:sp>
        <p:nvSpPr>
          <p:cNvPr id="8" name="Shape 6"/>
          <p:cNvSpPr/>
          <p:nvPr/>
        </p:nvSpPr>
        <p:spPr>
          <a:xfrm>
            <a:off x="6191250" y="2057400"/>
            <a:ext cx="19050" cy="2814638"/>
          </a:xfrm>
          <a:prstGeom prst="rect">
            <a:avLst/>
          </a:prstGeom>
          <a:solidFill>
            <a:srgbClr val="E2E8F0"/>
          </a:solidFill>
          <a:ln/>
        </p:spPr>
        <p:txBody>
          <a:bodyPr/>
          <a:lstStyle/>
          <a:p>
            <a:endParaRPr lang="en-GB"/>
          </a:p>
        </p:txBody>
      </p:sp>
      <p:sp>
        <p:nvSpPr>
          <p:cNvPr id="9" name="Text 7"/>
          <p:cNvSpPr/>
          <p:nvPr/>
        </p:nvSpPr>
        <p:spPr>
          <a:xfrm>
            <a:off x="1333500" y="2438400"/>
            <a:ext cx="4945380" cy="333375"/>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1A1A2E"/>
                </a:solidFill>
                <a:latin typeface="Arial" pitchFamily="34" charset="0"/>
                <a:ea typeface="Arial" pitchFamily="34" charset="-122"/>
                <a:cs typeface="Arial" pitchFamily="34" charset="-120"/>
              </a:rPr>
              <a:t>Matching algorithm</a:t>
            </a:r>
            <a:endParaRPr lang="en-US" sz="1950"/>
          </a:p>
        </p:txBody>
      </p:sp>
      <p:sp>
        <p:nvSpPr>
          <p:cNvPr id="10" name="Text 8"/>
          <p:cNvSpPr/>
          <p:nvPr/>
        </p:nvSpPr>
        <p:spPr>
          <a:xfrm>
            <a:off x="1333500" y="2886075"/>
            <a:ext cx="4630674" cy="13525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a:solidFill>
                  <a:srgbClr val="4A4A6A"/>
                </a:solidFill>
                <a:latin typeface="Arial" pitchFamily="34" charset="0"/>
                <a:ea typeface="Arial" pitchFamily="34" charset="-122"/>
                <a:cs typeface="Arial" pitchFamily="34" charset="-120"/>
              </a:rPr>
              <a:t>A majority of events matched confidently → to our knowledge the first </a:t>
            </a:r>
            <a:r>
              <a:rPr lang="en-US" sz="1725" b="1">
                <a:solidFill>
                  <a:srgbClr val="4A4A6A"/>
                </a:solidFill>
                <a:latin typeface="Arial" pitchFamily="34" charset="0"/>
                <a:ea typeface="Arial" pitchFamily="34" charset="-122"/>
                <a:cs typeface="Arial" pitchFamily="34" charset="-120"/>
              </a:rPr>
              <a:t>geolocated dataset of German TSO redispatch </a:t>
            </a:r>
            <a:r>
              <a:rPr lang="en-US" sz="1725">
                <a:solidFill>
                  <a:srgbClr val="4A4A6A"/>
                </a:solidFill>
                <a:latin typeface="Arial" pitchFamily="34" charset="0"/>
                <a:ea typeface="Arial" pitchFamily="34" charset="-122"/>
                <a:cs typeface="Arial" pitchFamily="34" charset="-120"/>
              </a:rPr>
              <a:t>— a resource for further research, with the caveats shown.</a:t>
            </a:r>
            <a:endParaRPr lang="en-US" sz="1725"/>
          </a:p>
        </p:txBody>
      </p:sp>
      <p:sp>
        <p:nvSpPr>
          <p:cNvPr id="11" name="Shape 9"/>
          <p:cNvSpPr/>
          <p:nvPr/>
        </p:nvSpPr>
        <p:spPr>
          <a:xfrm>
            <a:off x="6515100" y="2057400"/>
            <a:ext cx="5257800" cy="2814638"/>
          </a:xfrm>
          <a:prstGeom prst="rect">
            <a:avLst/>
          </a:prstGeom>
          <a:solidFill>
            <a:srgbClr val="F8FBFE"/>
          </a:solidFill>
          <a:ln w="28575">
            <a:solidFill>
              <a:srgbClr val="98C6EA"/>
            </a:solidFill>
            <a:prstDash val="dash"/>
          </a:ln>
        </p:spPr>
        <p:txBody>
          <a:bodyPr/>
          <a:lstStyle/>
          <a:p>
            <a:endParaRPr lang="en-GB"/>
          </a:p>
        </p:txBody>
      </p:sp>
      <p:sp>
        <p:nvSpPr>
          <p:cNvPr id="12" name="Text 10"/>
          <p:cNvSpPr/>
          <p:nvPr/>
        </p:nvSpPr>
        <p:spPr>
          <a:xfrm>
            <a:off x="8084493" y="2926556"/>
            <a:ext cx="2330916" cy="333375"/>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005293"/>
                </a:solidFill>
                <a:latin typeface="Arial" pitchFamily="34" charset="0"/>
                <a:ea typeface="Arial" pitchFamily="34" charset="-122"/>
                <a:cs typeface="Arial" pitchFamily="34" charset="-120"/>
              </a:rPr>
              <a:t>Scoring algorithm</a:t>
            </a:r>
            <a:endParaRPr lang="en-US" sz="1950"/>
          </a:p>
        </p:txBody>
      </p:sp>
      <p:sp>
        <p:nvSpPr>
          <p:cNvPr id="13" name="Text 11"/>
          <p:cNvSpPr/>
          <p:nvPr/>
        </p:nvSpPr>
        <p:spPr>
          <a:xfrm>
            <a:off x="6838474" y="3374231"/>
            <a:ext cx="4611052" cy="666750"/>
          </a:xfrm>
          <a:prstGeom prst="rect">
            <a:avLst/>
          </a:prstGeom>
          <a:noFill/>
          <a:ln/>
        </p:spPr>
        <p:txBody>
          <a:bodyPr wrap="square" lIns="25400" tIns="25400" rIns="25400" bIns="25400" rtlCol="0" anchor="t">
            <a:normAutofit fontScale="92500" lnSpcReduction="10000"/>
          </a:bodyPr>
          <a:lstStyle/>
          <a:p>
            <a:pPr marL="0" indent="0" algn="ctr">
              <a:lnSpc>
                <a:spcPct val="150000"/>
              </a:lnSpc>
              <a:buNone/>
            </a:pPr>
            <a:r>
              <a:rPr lang="en-US" sz="1650">
                <a:solidFill>
                  <a:srgbClr val="6B7280"/>
                </a:solidFill>
                <a:latin typeface="Arial" pitchFamily="34" charset="0"/>
                <a:ea typeface="Arial" pitchFamily="34" charset="-122"/>
                <a:cs typeface="Arial" pitchFamily="34" charset="-120"/>
              </a:rPr>
              <a:t>Ranking reproduces the PyPSA-Eur benchmark (ρ = 0.65) from observed redispatch alone — no nodal prices, no network optimisation. Validated at the node-region level; within-region siting awaits a finer benchmark.</a:t>
            </a:r>
            <a:endParaRPr lang="en-US" sz="1650"/>
          </a:p>
        </p:txBody>
      </p:sp>
      <p:sp>
        <p:nvSpPr>
          <p:cNvPr id="14" name="Shape 12"/>
          <p:cNvSpPr/>
          <p:nvPr/>
        </p:nvSpPr>
        <p:spPr>
          <a:xfrm>
            <a:off x="12077700" y="4852988"/>
            <a:ext cx="5257800" cy="19050"/>
          </a:xfrm>
          <a:prstGeom prst="rect">
            <a:avLst/>
          </a:prstGeom>
          <a:solidFill>
            <a:srgbClr val="E2E8F0"/>
          </a:solidFill>
          <a:ln/>
        </p:spPr>
        <p:txBody>
          <a:bodyPr/>
          <a:lstStyle/>
          <a:p>
            <a:endParaRPr lang="en-GB"/>
          </a:p>
        </p:txBody>
      </p:sp>
      <p:sp>
        <p:nvSpPr>
          <p:cNvPr id="15" name="Shape 13"/>
          <p:cNvSpPr/>
          <p:nvPr/>
        </p:nvSpPr>
        <p:spPr>
          <a:xfrm>
            <a:off x="12077700" y="2057400"/>
            <a:ext cx="5257800" cy="57150"/>
          </a:xfrm>
          <a:prstGeom prst="rect">
            <a:avLst/>
          </a:prstGeom>
          <a:solidFill>
            <a:srgbClr val="E37222"/>
          </a:solidFill>
          <a:ln/>
        </p:spPr>
        <p:txBody>
          <a:bodyPr/>
          <a:lstStyle/>
          <a:p>
            <a:endParaRPr lang="en-GB"/>
          </a:p>
        </p:txBody>
      </p:sp>
      <p:sp>
        <p:nvSpPr>
          <p:cNvPr id="16" name="Shape 14"/>
          <p:cNvSpPr/>
          <p:nvPr/>
        </p:nvSpPr>
        <p:spPr>
          <a:xfrm>
            <a:off x="12077700" y="2057400"/>
            <a:ext cx="19050" cy="2814638"/>
          </a:xfrm>
          <a:prstGeom prst="rect">
            <a:avLst/>
          </a:prstGeom>
          <a:solidFill>
            <a:srgbClr val="E2E8F0"/>
          </a:solidFill>
          <a:ln/>
        </p:spPr>
        <p:txBody>
          <a:bodyPr/>
          <a:lstStyle/>
          <a:p>
            <a:endParaRPr lang="en-GB"/>
          </a:p>
        </p:txBody>
      </p:sp>
      <p:sp>
        <p:nvSpPr>
          <p:cNvPr id="17" name="Shape 15"/>
          <p:cNvSpPr/>
          <p:nvPr/>
        </p:nvSpPr>
        <p:spPr>
          <a:xfrm>
            <a:off x="17316450" y="2057400"/>
            <a:ext cx="19050" cy="2814638"/>
          </a:xfrm>
          <a:prstGeom prst="rect">
            <a:avLst/>
          </a:prstGeom>
          <a:solidFill>
            <a:srgbClr val="E2E8F0"/>
          </a:solidFill>
          <a:ln/>
        </p:spPr>
        <p:txBody>
          <a:bodyPr/>
          <a:lstStyle/>
          <a:p>
            <a:endParaRPr lang="en-GB"/>
          </a:p>
        </p:txBody>
      </p:sp>
      <p:sp>
        <p:nvSpPr>
          <p:cNvPr id="18" name="Text 16"/>
          <p:cNvSpPr/>
          <p:nvPr/>
        </p:nvSpPr>
        <p:spPr>
          <a:xfrm>
            <a:off x="12458700" y="2438400"/>
            <a:ext cx="4945380" cy="333375"/>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1A1A2E"/>
                </a:solidFill>
                <a:latin typeface="Arial" pitchFamily="34" charset="0"/>
                <a:ea typeface="Arial" pitchFamily="34" charset="-122"/>
                <a:cs typeface="Arial" pitchFamily="34" charset="-120"/>
              </a:rPr>
              <a:t>Policy implication</a:t>
            </a:r>
            <a:endParaRPr lang="en-US" sz="1950"/>
          </a:p>
        </p:txBody>
      </p:sp>
      <p:sp>
        <p:nvSpPr>
          <p:cNvPr id="19" name="Text 17"/>
          <p:cNvSpPr/>
          <p:nvPr/>
        </p:nvSpPr>
        <p:spPr>
          <a:xfrm>
            <a:off x="12458700" y="2886075"/>
            <a:ext cx="4630674" cy="1681163"/>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a:solidFill>
                  <a:srgbClr val="4A4A6A"/>
                </a:solidFill>
                <a:latin typeface="Arial" pitchFamily="34" charset="0"/>
                <a:ea typeface="Arial" pitchFamily="34" charset="-122"/>
                <a:cs typeface="Arial" pitchFamily="34" charset="-120"/>
              </a:rPr>
              <a:t>Under cost-based redispatch, even </a:t>
            </a:r>
            <a:r>
              <a:rPr lang="en-US" sz="1725" b="1">
                <a:solidFill>
                  <a:srgbClr val="4A4A6A"/>
                </a:solidFill>
                <a:latin typeface="Arial" pitchFamily="34" charset="0"/>
                <a:ea typeface="Arial" pitchFamily="34" charset="-122"/>
                <a:cs typeface="Arial" pitchFamily="34" charset="-120"/>
              </a:rPr>
              <a:t>well-placed batteries have no incentive </a:t>
            </a:r>
            <a:r>
              <a:rPr lang="en-US" sz="1725">
                <a:solidFill>
                  <a:srgbClr val="4A4A6A"/>
                </a:solidFill>
                <a:latin typeface="Arial" pitchFamily="34" charset="0"/>
                <a:ea typeface="Arial" pitchFamily="34" charset="-122"/>
                <a:cs typeface="Arial" pitchFamily="34" charset="-120"/>
              </a:rPr>
              <a:t>to behave grid-friendly — placement analysis only matters if a locational signal (grid-fee reform, local markets) reaches them.</a:t>
            </a:r>
            <a:endParaRPr lang="en-US" sz="1725"/>
          </a:p>
        </p:txBody>
      </p:sp>
      <p:sp>
        <p:nvSpPr>
          <p:cNvPr id="20" name="Text 18"/>
          <p:cNvSpPr/>
          <p:nvPr/>
        </p:nvSpPr>
        <p:spPr>
          <a:xfrm>
            <a:off x="952500" y="9715500"/>
            <a:ext cx="7441153"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Thirza Laws &amp; Julian Wachsmuth | Advanced Seminar Electricity Markets | Prof. Dr. Schwenen</a:t>
            </a:r>
            <a:endParaRPr lang="en-US" sz="1275"/>
          </a:p>
        </p:txBody>
      </p:sp>
      <p:sp>
        <p:nvSpPr>
          <p:cNvPr id="21" name="Text 19"/>
          <p:cNvSpPr/>
          <p:nvPr/>
        </p:nvSpPr>
        <p:spPr>
          <a:xfrm>
            <a:off x="17155269" y="9715500"/>
            <a:ext cx="256431" cy="228600"/>
          </a:xfrm>
          <a:prstGeom prst="rect">
            <a:avLst/>
          </a:prstGeom>
          <a:noFill/>
          <a:ln/>
        </p:spPr>
        <p:txBody>
          <a:bodyPr wrap="square" lIns="25400" tIns="25400" rIns="25400" bIns="25400" rtlCol="0" anchor="t">
            <a:normAutofit lnSpcReduction="10000"/>
          </a:bodyPr>
          <a:lstStyle/>
          <a:p>
            <a:pPr marL="0" indent="0" algn="l">
              <a:buNone/>
            </a:pPr>
            <a:r>
              <a:rPr lang="en-US" sz="1275">
                <a:solidFill>
                  <a:srgbClr val="9CA3AF"/>
                </a:solidFill>
                <a:latin typeface="Arial" pitchFamily="34" charset="0"/>
                <a:ea typeface="Arial" pitchFamily="34" charset="-122"/>
                <a:cs typeface="Arial" pitchFamily="34" charset="-120"/>
              </a:rPr>
              <a:t>19</a:t>
            </a:r>
            <a:endParaRPr lang="en-US" sz="1275"/>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6313348" y="666750"/>
            <a:ext cx="1098352" cy="514350"/>
          </a:xfrm>
          <a:prstGeom prst="rect">
            <a:avLst/>
          </a:prstGeom>
          <a:noFill/>
          <a:ln/>
        </p:spPr>
        <p:txBody>
          <a:bodyPr wrap="square" lIns="25400" tIns="25400" rIns="25400" bIns="25400" rtlCol="0" anchor="t">
            <a:normAutofit lnSpcReduction="10000"/>
          </a:bodyPr>
          <a:lstStyle/>
          <a:p>
            <a:pPr marL="0" indent="0" algn="l">
              <a:buNone/>
            </a:pPr>
            <a:r>
              <a:rPr lang="en-US" sz="3300" b="1" kern="0" spc="300">
                <a:solidFill>
                  <a:srgbClr val="0065BD"/>
                </a:solidFill>
                <a:latin typeface="Arial" pitchFamily="34" charset="0"/>
                <a:ea typeface="Arial" pitchFamily="34" charset="-122"/>
                <a:cs typeface="Arial" pitchFamily="34" charset="-120"/>
              </a:rPr>
              <a:t>TUM</a:t>
            </a:r>
            <a:endParaRPr lang="en-US" sz="3300"/>
          </a:p>
        </p:txBody>
      </p:sp>
      <p:sp>
        <p:nvSpPr>
          <p:cNvPr id="3" name="Shape 1"/>
          <p:cNvSpPr/>
          <p:nvPr/>
        </p:nvSpPr>
        <p:spPr>
          <a:xfrm>
            <a:off x="952500" y="1371600"/>
            <a:ext cx="16383000" cy="28575"/>
          </a:xfrm>
          <a:prstGeom prst="rect">
            <a:avLst/>
          </a:prstGeom>
          <a:solidFill>
            <a:srgbClr val="0065BD"/>
          </a:solidFill>
          <a:ln/>
        </p:spPr>
        <p:txBody>
          <a:bodyPr/>
          <a:lstStyle/>
          <a:p>
            <a:endParaRPr lang="en-GB"/>
          </a:p>
        </p:txBody>
      </p:sp>
      <p:sp>
        <p:nvSpPr>
          <p:cNvPr id="4" name="Text 2"/>
          <p:cNvSpPr/>
          <p:nvPr/>
        </p:nvSpPr>
        <p:spPr>
          <a:xfrm>
            <a:off x="952500" y="4557713"/>
            <a:ext cx="18021300" cy="819150"/>
          </a:xfrm>
          <a:prstGeom prst="rect">
            <a:avLst/>
          </a:prstGeom>
          <a:noFill/>
          <a:ln/>
        </p:spPr>
        <p:txBody>
          <a:bodyPr wrap="square" lIns="25400" tIns="25400" rIns="25400" bIns="25400" rtlCol="0" anchor="t">
            <a:normAutofit lnSpcReduction="10000"/>
          </a:bodyPr>
          <a:lstStyle/>
          <a:p>
            <a:pPr marL="0" indent="0" algn="l">
              <a:buNone/>
            </a:pPr>
            <a:r>
              <a:rPr lang="en-US" sz="5400" b="1">
                <a:solidFill>
                  <a:srgbClr val="1A1A2E"/>
                </a:solidFill>
                <a:latin typeface="Arial" pitchFamily="34" charset="0"/>
                <a:ea typeface="Arial" pitchFamily="34" charset="-122"/>
                <a:cs typeface="Arial" pitchFamily="34" charset="-120"/>
              </a:rPr>
              <a:t>Thank you for your attention!</a:t>
            </a:r>
            <a:endParaRPr lang="en-US" sz="5400"/>
          </a:p>
        </p:txBody>
      </p:sp>
      <p:sp>
        <p:nvSpPr>
          <p:cNvPr id="5" name="Text 3"/>
          <p:cNvSpPr/>
          <p:nvPr/>
        </p:nvSpPr>
        <p:spPr>
          <a:xfrm>
            <a:off x="952500" y="5624513"/>
            <a:ext cx="18021300" cy="361950"/>
          </a:xfrm>
          <a:prstGeom prst="rect">
            <a:avLst/>
          </a:prstGeom>
          <a:noFill/>
          <a:ln/>
        </p:spPr>
        <p:txBody>
          <a:bodyPr wrap="square" lIns="25400" tIns="25400" rIns="25400" bIns="25400" rtlCol="0" anchor="t">
            <a:normAutofit lnSpcReduction="10000"/>
          </a:bodyPr>
          <a:lstStyle/>
          <a:p>
            <a:pPr marL="0" indent="0" algn="l">
              <a:buNone/>
            </a:pPr>
            <a:r>
              <a:rPr lang="en-US" sz="2250">
                <a:solidFill>
                  <a:srgbClr val="4A4A6A"/>
                </a:solidFill>
                <a:latin typeface="Arial" pitchFamily="34" charset="0"/>
                <a:ea typeface="Arial" pitchFamily="34" charset="-122"/>
                <a:cs typeface="Arial" pitchFamily="34" charset="-120"/>
              </a:rPr>
              <a:t>Thirza Laws &amp; Julian Wachsmuth</a:t>
            </a:r>
            <a:endParaRPr lang="en-US" sz="2250"/>
          </a:p>
        </p:txBody>
      </p:sp>
      <p:sp>
        <p:nvSpPr>
          <p:cNvPr id="6" name="Text 4"/>
          <p:cNvSpPr/>
          <p:nvPr/>
        </p:nvSpPr>
        <p:spPr>
          <a:xfrm>
            <a:off x="952500" y="6234113"/>
            <a:ext cx="18021300" cy="333375"/>
          </a:xfrm>
          <a:prstGeom prst="rect">
            <a:avLst/>
          </a:prstGeom>
          <a:noFill/>
          <a:ln/>
        </p:spPr>
        <p:txBody>
          <a:bodyPr wrap="square" lIns="25400" tIns="25400" rIns="25400" bIns="25400" rtlCol="0" anchor="t">
            <a:normAutofit lnSpcReduction="10000"/>
          </a:bodyPr>
          <a:lstStyle/>
          <a:p>
            <a:pPr marL="0" indent="0" algn="l">
              <a:buNone/>
            </a:pPr>
            <a:r>
              <a:rPr lang="en-US" sz="1950">
                <a:solidFill>
                  <a:srgbClr val="999999"/>
                </a:solidFill>
                <a:latin typeface="Arial" pitchFamily="34" charset="0"/>
                <a:ea typeface="Arial" pitchFamily="34" charset="-122"/>
                <a:cs typeface="Arial" pitchFamily="34" charset="-120"/>
              </a:rPr>
              <a:t>München, [Date of final presentation]</a:t>
            </a:r>
            <a:endParaRPr lang="en-US" sz="1950"/>
          </a:p>
        </p:txBody>
      </p:sp>
      <p:sp>
        <p:nvSpPr>
          <p:cNvPr id="7" name="Shape 5"/>
          <p:cNvSpPr/>
          <p:nvPr/>
        </p:nvSpPr>
        <p:spPr>
          <a:xfrm>
            <a:off x="952500" y="9686925"/>
            <a:ext cx="16383000" cy="28575"/>
          </a:xfrm>
          <a:prstGeom prst="rect">
            <a:avLst/>
          </a:prstGeom>
          <a:solidFill>
            <a:srgbClr val="0065BD"/>
          </a:solidFill>
          <a:ln/>
        </p:spPr>
        <p:txBody>
          <a:bodyPr/>
          <a:lstStyle/>
          <a:p>
            <a:endParaRPr lang="en-GB"/>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4283</Words>
  <Application>Microsoft Office PowerPoint</Application>
  <PresentationFormat>Custom</PresentationFormat>
  <Paragraphs>387</Paragraphs>
  <Slides>28</Slides>
  <Notes>28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4" baseType="lpstr">
      <vt:lpstr>Arial</vt:lpstr>
      <vt:lpstr>Arial Nova</vt:lpstr>
      <vt:lpstr>Calibri</vt:lpstr>
      <vt:lpstr>Georgia</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Julian Wachsmuth</cp:lastModifiedBy>
  <cp:revision>12</cp:revision>
  <dcterms:created xsi:type="dcterms:W3CDTF">2026-07-06T13:13:39Z</dcterms:created>
  <dcterms:modified xsi:type="dcterms:W3CDTF">2026-07-13T12:33:18Z</dcterms:modified>
</cp:coreProperties>
</file>